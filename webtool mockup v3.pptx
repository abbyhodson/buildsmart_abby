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11.xml"/>
  <Override ContentType="application/vnd.openxmlformats-officedocument.presentationml.comments+xml" PartName="/ppt/comments/comment2.xml"/>
  <Override ContentType="application/vnd.openxmlformats-officedocument.presentationml.comments+xml" PartName="/ppt/comments/comment10.xml"/>
  <Override ContentType="application/vnd.openxmlformats-officedocument.presentationml.comments+xml" PartName="/ppt/comments/comment8.xml"/>
  <Override ContentType="application/vnd.openxmlformats-officedocument.presentationml.comments+xml" PartName="/ppt/comments/comment5.xml"/>
  <Override ContentType="application/vnd.openxmlformats-officedocument.presentationml.comments+xml" PartName="/ppt/comments/comment6.xml"/>
  <Override ContentType="application/vnd.openxmlformats-officedocument.presentationml.comments+xml" PartName="/ppt/comments/comment7.xml"/>
  <Override ContentType="application/vnd.openxmlformats-officedocument.presentationml.comments+xml" PartName="/ppt/comments/comment4.xml"/>
  <Override ContentType="application/vnd.openxmlformats-officedocument.presentationml.comments+xml" PartName="/ppt/comments/comment9.xml"/>
  <Override ContentType="application/vnd.openxmlformats-officedocument.presentationml.comments+xml" PartName="/ppt/comments/comment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8229600" cx="13716000"/>
  <p:notesSz cx="6858000" cy="9144000"/>
  <p:embeddedFontLst>
    <p:embeddedFont>
      <p:font typeface="Merriweather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592">
          <p15:clr>
            <a:srgbClr val="747775"/>
          </p15:clr>
        </p15:guide>
        <p15:guide id="2" pos="432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25" name="Abigayle Hodson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592" orient="horz"/>
        <p:guide pos="432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font" Target="fonts/Merriweather-bold.fntdata"/><Relationship Id="rId10" Type="http://schemas.openxmlformats.org/officeDocument/2006/relationships/slide" Target="slides/slide4.xml"/><Relationship Id="rId21" Type="http://schemas.openxmlformats.org/officeDocument/2006/relationships/font" Target="fonts/Merriweather-regular.fntdata"/><Relationship Id="rId13" Type="http://schemas.openxmlformats.org/officeDocument/2006/relationships/slide" Target="slides/slide7.xml"/><Relationship Id="rId24" Type="http://schemas.openxmlformats.org/officeDocument/2006/relationships/font" Target="fonts/Merriweather-boldItalic.fntdata"/><Relationship Id="rId12" Type="http://schemas.openxmlformats.org/officeDocument/2006/relationships/slide" Target="slides/slide6.xml"/><Relationship Id="rId23" Type="http://schemas.openxmlformats.org/officeDocument/2006/relationships/font" Target="fonts/Merriweather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12-16T19:36:00.792">
    <p:pos x="0" y="-19"/>
    <p:text>Splash page w/ directions on how to use tool / any necessary terms of use</p:text>
  </p:cm>
  <p:cm authorId="0" idx="2" dt="2025-12-17T20:35:53.089">
    <p:pos x="1953" y="1188"/>
    <p:text>Tool should work for more than ventura county, we can maybe get cement/concrete/steel MFAs on a state-by-state basis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3" dt="2026-01-22T18:42:47.547">
    <p:pos x="203" y="658"/>
    <p:text>Users start by selecting a location, then entering building specs (archetypes based on Pitt's database)</p:text>
  </p:cm>
  <p:cm authorId="0" idx="4" dt="2026-02-19T18:55:56.759">
    <p:pos x="479" y="88"/>
    <p:text>Includes "material demand scenarios" (e.g., we keep building the same types of buildings at the same frequency) that tell users what building sizes/types they would need to enter to see different scenarios</p:text>
  </p:cm>
</p:cmLst>
</file>

<file path=ppt/comments/comment3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5" dt="2026-01-10T02:25:43.343">
    <p:pos x="2276" y="1482"/>
    <p:text>Plus button allows users to add another hypothetical facility</p:text>
  </p:cm>
</p:cmLst>
</file>

<file path=ppt/comments/comment4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6" dt="2026-01-22T19:17:02.158">
    <p:pos x="316" y="2606"/>
    <p:text>"Estimate material demands and cost" button causes tool to query Pitt's database with material intensity and multiply by square footage to obtain a total demand.</p:text>
  </p:cm>
  <p:cm authorId="0" idx="7" dt="2026-01-22T19:16:29.911">
    <p:pos x="2021" y="2345"/>
    <p:text>Users can enter specs for old building that will be the source of reused materials</p:text>
  </p:cm>
</p:cmLst>
</file>

<file path=ppt/comments/comment5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8" dt="2026-02-26T17:57:23.461">
    <p:pos x="4737" y="1786"/>
    <p:text>State-specific recipe for concrete</p:text>
  </p:cm>
  <p:cm authorId="0" idx="9" dt="2026-02-20T01:48:43.950">
    <p:pos x="2793" y="781"/>
    <p:text>I think these need to be generated on the fly</p:text>
  </p:cm>
  <p:cm authorId="0" idx="10" dt="2026-02-19T19:23:43.869">
    <p:pos x="2793" y="881"/>
    <p:text>Comes into color with real data after user hits "estimate material demands and cost" button</p:text>
  </p:cm>
</p:cmLst>
</file>

<file path=ppt/comments/comment6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1" dt="2026-01-22T22:21:44.587">
    <p:pos x="81" y="513"/>
    <p:text>Stretch goal is giving the users the option to see an interactive sankey diagram rather than a pie chart</p:text>
  </p:cm>
</p:cmLst>
</file>

<file path=ppt/comments/comment7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2" dt="2026-02-19T19:30:57.952">
    <p:pos x="5416" y="889"/>
    <p:text>Allows for download of .csv or .jpeg</p:text>
  </p:cm>
</p:cmLst>
</file>

<file path=ppt/comments/comment8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3" dt="2026-02-19T19:42:55.754">
    <p:pos x="5587" y="2628"/>
    <p:text>Automatically colors when user changes construction year or selects a material availability scenario; preset to most limited resource and selected construction year</p:text>
  </p:cm>
  <p:cm authorId="0" idx="14" dt="2026-02-19T19:39:08.888">
    <p:pos x="4140" y="2943"/>
    <p:text>Tool can also adjust material demand profile to account for materials that won't be available in the future, and give warnings</p:text>
  </p:cm>
  <p:cm authorId="0" idx="15" dt="2026-02-19T19:38:44.058">
    <p:pos x="3885" y="4493"/>
    <p:text>Functionality idea: users drag to change construction year, material demand (but not cost) dynamically updates.</p:text>
  </p:cm>
</p:cmLst>
</file>

<file path=ppt/comments/comment9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6" dt="2026-02-20T01:49:00.963">
    <p:pos x="436" y="211"/>
    <p:text>These can probably be pre-generated</p:text>
  </p:cm>
  <p:cm authorId="0" idx="17" dt="2026-02-19T23:55:22.089">
    <p:pos x="6374" y="4582"/>
    <p:text>We may need to limit how many combinations of year, material, and availability scenarios a user can select.</p:text>
  </p:cm>
  <p:cm authorId="0" idx="18" dt="2026-02-19T19:55:36.462">
    <p:pos x="1578" y="3035"/>
    <p:text>Automatically drops pin where user entered location</p:text>
  </p:cm>
  <p:cm authorId="0" idx="19" dt="2026-02-19T19:51:34.317">
    <p:pos x="999" y="872"/>
    <p:text>Preset to most limited resource, but users can toggle on other materials one at a time</p:text>
  </p:cm>
</p:cmLst>
</file>

<file path=ppt/comments/comment10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0" dt="2026-02-19T23:52:27.402">
    <p:pos x="5717" y="2905"/>
    <p:text>resets to most limited material under selected scenario</p:text>
  </p:cm>
  <p:cm authorId="0" idx="21" dt="2026-02-19T23:51:58.425">
    <p:pos x="213" y="2992"/>
    <p:text>Window pops up automatically w/ explanation of what materials are most limited and why</p:text>
  </p:cm>
  <p:cm authorId="0" idx="22" dt="2026-02-19T23:43:56.668">
    <p:pos x="3888" y="4491"/>
    <p:text>resets to baseline year when user selects a material availability scenario</p:text>
  </p:cm>
  <p:cm authorId="0" idx="23" dt="2026-02-04T20:41:16.777">
    <p:pos x="260" y="1804"/>
    <p:text>Allowing users to check multiple boxes at the same time is a stretch goal</p:text>
  </p:cm>
</p:cmLst>
</file>

<file path=ppt/comments/comment1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24" dt="2026-01-22T22:48:47.440">
    <p:pos x="194" y="2053"/>
    <p:text>Should this become an optimization problem where we suggest different materials based on the lowest possible cost?</p:text>
  </p:cm>
  <p:cm authorId="0" idx="25" dt="2026-01-10T02:22:01.365">
    <p:pos x="1378" y="2513"/>
    <p:text>Preset to (statewide?) average of alternative material use, but users can adjust as needed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571802" y="685800"/>
            <a:ext cx="5715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b112bb9530_0_136:notes"/>
          <p:cNvSpPr/>
          <p:nvPr>
            <p:ph idx="2" type="sldImg"/>
          </p:nvPr>
        </p:nvSpPr>
        <p:spPr>
          <a:xfrm>
            <a:off x="571802" y="685800"/>
            <a:ext cx="5715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b112bb9530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112bb9530_0_224:notes"/>
          <p:cNvSpPr/>
          <p:nvPr>
            <p:ph idx="2" type="sldImg"/>
          </p:nvPr>
        </p:nvSpPr>
        <p:spPr>
          <a:xfrm>
            <a:off x="571802" y="685800"/>
            <a:ext cx="5715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b112bb9530_0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b5feb6720c_0_14:notes"/>
          <p:cNvSpPr/>
          <p:nvPr>
            <p:ph idx="2" type="sldImg"/>
          </p:nvPr>
        </p:nvSpPr>
        <p:spPr>
          <a:xfrm>
            <a:off x="571802" y="685800"/>
            <a:ext cx="5715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b5feb6720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g3ba259e80e2_0_10:notes"/>
          <p:cNvSpPr/>
          <p:nvPr>
            <p:ph idx="2" type="sldImg"/>
          </p:nvPr>
        </p:nvSpPr>
        <p:spPr>
          <a:xfrm>
            <a:off x="571802" y="685800"/>
            <a:ext cx="5715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3" name="Google Shape;333;g3ba259e80e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g3ba259e80e2_0_59:notes"/>
          <p:cNvSpPr/>
          <p:nvPr>
            <p:ph idx="2" type="sldImg"/>
          </p:nvPr>
        </p:nvSpPr>
        <p:spPr>
          <a:xfrm>
            <a:off x="571802" y="685800"/>
            <a:ext cx="5715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4" name="Google Shape;434;g3ba259e80e2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g3ba259e80e2_0_687:notes"/>
          <p:cNvSpPr/>
          <p:nvPr>
            <p:ph idx="2" type="sldImg"/>
          </p:nvPr>
        </p:nvSpPr>
        <p:spPr>
          <a:xfrm>
            <a:off x="571802" y="685800"/>
            <a:ext cx="5715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7" name="Google Shape;547;g3ba259e80e2_0_6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7" name="Shape 6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" name="Google Shape;678;g3b112bb9530_0_311:notes"/>
          <p:cNvSpPr/>
          <p:nvPr>
            <p:ph idx="2" type="sldImg"/>
          </p:nvPr>
        </p:nvSpPr>
        <p:spPr>
          <a:xfrm>
            <a:off x="571802" y="685800"/>
            <a:ext cx="5715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9" name="Google Shape;679;g3b112bb9530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8" name="Shape 7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9" name="Google Shape;789;g3bf175f0ace_1_510:notes"/>
          <p:cNvSpPr/>
          <p:nvPr>
            <p:ph idx="2" type="sldImg"/>
          </p:nvPr>
        </p:nvSpPr>
        <p:spPr>
          <a:xfrm>
            <a:off x="571802" y="685800"/>
            <a:ext cx="5715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0" name="Google Shape;790;g3bf175f0ace_1_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0" name="Shape 9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" name="Google Shape;921;g3bf175f0ace_1_775:notes"/>
          <p:cNvSpPr/>
          <p:nvPr>
            <p:ph idx="2" type="sldImg"/>
          </p:nvPr>
        </p:nvSpPr>
        <p:spPr>
          <a:xfrm>
            <a:off x="571802" y="685800"/>
            <a:ext cx="5715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2" name="Google Shape;922;g3bf175f0ace_1_7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8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g3bf175f0ace_1_994:notes"/>
          <p:cNvSpPr/>
          <p:nvPr>
            <p:ph idx="2" type="sldImg"/>
          </p:nvPr>
        </p:nvSpPr>
        <p:spPr>
          <a:xfrm>
            <a:off x="571802" y="685800"/>
            <a:ext cx="5715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0" name="Google Shape;1100;g3bf175f0ace_1_9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g3bf175f0ace_1_1165:notes"/>
          <p:cNvSpPr/>
          <p:nvPr>
            <p:ph idx="2" type="sldImg"/>
          </p:nvPr>
        </p:nvSpPr>
        <p:spPr>
          <a:xfrm>
            <a:off x="571802" y="685800"/>
            <a:ext cx="5715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4" name="Google Shape;1274;g3bf175f0ace_1_11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3b112bb9530_0_405:notes"/>
          <p:cNvSpPr/>
          <p:nvPr>
            <p:ph idx="2" type="sldImg"/>
          </p:nvPr>
        </p:nvSpPr>
        <p:spPr>
          <a:xfrm>
            <a:off x="571802" y="685800"/>
            <a:ext cx="5715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9" name="Google Shape;1469;g3b112bb9530_0_4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5" name="Shape 1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6" name="Google Shape;1626;g3b5feb6720c_0_377:notes"/>
          <p:cNvSpPr/>
          <p:nvPr>
            <p:ph idx="2" type="sldImg"/>
          </p:nvPr>
        </p:nvSpPr>
        <p:spPr>
          <a:xfrm>
            <a:off x="571802" y="685800"/>
            <a:ext cx="5715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7" name="Google Shape;1627;g3b5feb6720c_0_3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4" name="Shape 17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5" name="Google Shape;1785;g3b112bb9530_0_504:notes"/>
          <p:cNvSpPr/>
          <p:nvPr>
            <p:ph idx="2" type="sldImg"/>
          </p:nvPr>
        </p:nvSpPr>
        <p:spPr>
          <a:xfrm>
            <a:off x="571802" y="685800"/>
            <a:ext cx="5715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6" name="Google Shape;1786;g3b112bb9530_0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467563" y="1191320"/>
            <a:ext cx="12780900" cy="3284100"/>
          </a:xfrm>
          <a:prstGeom prst="rect">
            <a:avLst/>
          </a:prstGeom>
        </p:spPr>
        <p:txBody>
          <a:bodyPr anchorCtr="0" anchor="b" bIns="140175" lIns="140175" spcFirstLastPara="1" rIns="140175" wrap="square" tIns="1401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973"/>
              <a:buNone/>
              <a:defRPr sz="7973"/>
            </a:lvl1pPr>
            <a:lvl2pPr lvl="1" algn="ctr">
              <a:spcBef>
                <a:spcPts val="0"/>
              </a:spcBef>
              <a:spcAft>
                <a:spcPts val="0"/>
              </a:spcAft>
              <a:buSzPts val="7973"/>
              <a:buNone/>
              <a:defRPr sz="7973"/>
            </a:lvl2pPr>
            <a:lvl3pPr lvl="2" algn="ctr">
              <a:spcBef>
                <a:spcPts val="0"/>
              </a:spcBef>
              <a:spcAft>
                <a:spcPts val="0"/>
              </a:spcAft>
              <a:buSzPts val="7973"/>
              <a:buNone/>
              <a:defRPr sz="7973"/>
            </a:lvl3pPr>
            <a:lvl4pPr lvl="3" algn="ctr">
              <a:spcBef>
                <a:spcPts val="0"/>
              </a:spcBef>
              <a:spcAft>
                <a:spcPts val="0"/>
              </a:spcAft>
              <a:buSzPts val="7973"/>
              <a:buNone/>
              <a:defRPr sz="7973"/>
            </a:lvl4pPr>
            <a:lvl5pPr lvl="4" algn="ctr">
              <a:spcBef>
                <a:spcPts val="0"/>
              </a:spcBef>
              <a:spcAft>
                <a:spcPts val="0"/>
              </a:spcAft>
              <a:buSzPts val="7973"/>
              <a:buNone/>
              <a:defRPr sz="7973"/>
            </a:lvl5pPr>
            <a:lvl6pPr lvl="5" algn="ctr">
              <a:spcBef>
                <a:spcPts val="0"/>
              </a:spcBef>
              <a:spcAft>
                <a:spcPts val="0"/>
              </a:spcAft>
              <a:buSzPts val="7973"/>
              <a:buNone/>
              <a:defRPr sz="7973"/>
            </a:lvl6pPr>
            <a:lvl7pPr lvl="6" algn="ctr">
              <a:spcBef>
                <a:spcPts val="0"/>
              </a:spcBef>
              <a:spcAft>
                <a:spcPts val="0"/>
              </a:spcAft>
              <a:buSzPts val="7973"/>
              <a:buNone/>
              <a:defRPr sz="7973"/>
            </a:lvl7pPr>
            <a:lvl8pPr lvl="7" algn="ctr">
              <a:spcBef>
                <a:spcPts val="0"/>
              </a:spcBef>
              <a:spcAft>
                <a:spcPts val="0"/>
              </a:spcAft>
              <a:buSzPts val="7973"/>
              <a:buNone/>
              <a:defRPr sz="7973"/>
            </a:lvl8pPr>
            <a:lvl9pPr lvl="8" algn="ctr">
              <a:spcBef>
                <a:spcPts val="0"/>
              </a:spcBef>
              <a:spcAft>
                <a:spcPts val="0"/>
              </a:spcAft>
              <a:buSzPts val="7973"/>
              <a:buNone/>
              <a:defRPr sz="7973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7550" y="4534600"/>
            <a:ext cx="12780900" cy="1268100"/>
          </a:xfrm>
          <a:prstGeom prst="rect">
            <a:avLst/>
          </a:prstGeom>
        </p:spPr>
        <p:txBody>
          <a:bodyPr anchorCtr="0" anchor="t" bIns="140175" lIns="140175" spcFirstLastPara="1" rIns="140175" wrap="square" tIns="1401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93"/>
              <a:buNone/>
              <a:defRPr sz="429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93"/>
              <a:buNone/>
              <a:defRPr sz="429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93"/>
              <a:buNone/>
              <a:defRPr sz="429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93"/>
              <a:buNone/>
              <a:defRPr sz="429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93"/>
              <a:buNone/>
              <a:defRPr sz="429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93"/>
              <a:buNone/>
              <a:defRPr sz="429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93"/>
              <a:buNone/>
              <a:defRPr sz="429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93"/>
              <a:buNone/>
              <a:defRPr sz="429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93"/>
              <a:buNone/>
              <a:defRPr sz="4293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12708687" y="7461147"/>
            <a:ext cx="822900" cy="629700"/>
          </a:xfrm>
          <a:prstGeom prst="rect">
            <a:avLst/>
          </a:prstGeom>
        </p:spPr>
        <p:txBody>
          <a:bodyPr anchorCtr="0" anchor="ctr" bIns="140175" lIns="140175" spcFirstLastPara="1" rIns="140175" wrap="square" tIns="140175">
            <a:normAutofit/>
          </a:bodyPr>
          <a:lstStyle>
            <a:lvl1pPr lvl="0">
              <a:buNone/>
              <a:defRPr sz="1533"/>
            </a:lvl1pPr>
            <a:lvl2pPr lvl="1">
              <a:buNone/>
              <a:defRPr sz="1533"/>
            </a:lvl2pPr>
            <a:lvl3pPr lvl="2">
              <a:buNone/>
              <a:defRPr sz="1533"/>
            </a:lvl3pPr>
            <a:lvl4pPr lvl="3">
              <a:buNone/>
              <a:defRPr sz="1533"/>
            </a:lvl4pPr>
            <a:lvl5pPr lvl="4">
              <a:buNone/>
              <a:defRPr sz="1533"/>
            </a:lvl5pPr>
            <a:lvl6pPr lvl="5">
              <a:buNone/>
              <a:defRPr sz="1533"/>
            </a:lvl6pPr>
            <a:lvl7pPr lvl="6">
              <a:buNone/>
              <a:defRPr sz="1533"/>
            </a:lvl7pPr>
            <a:lvl8pPr lvl="7">
              <a:buNone/>
              <a:defRPr sz="1533"/>
            </a:lvl8pPr>
            <a:lvl9pPr lvl="8">
              <a:buNone/>
              <a:defRPr sz="15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467550" y="3441360"/>
            <a:ext cx="12780900" cy="1347000"/>
          </a:xfrm>
          <a:prstGeom prst="rect">
            <a:avLst/>
          </a:prstGeom>
        </p:spPr>
        <p:txBody>
          <a:bodyPr anchorCtr="0" anchor="ctr" bIns="140175" lIns="140175" spcFirstLastPara="1" rIns="140175" wrap="square" tIns="1401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520"/>
              <a:buNone/>
              <a:defRPr sz="5520"/>
            </a:lvl1pPr>
            <a:lvl2pPr lvl="1" algn="ctr">
              <a:spcBef>
                <a:spcPts val="0"/>
              </a:spcBef>
              <a:spcAft>
                <a:spcPts val="0"/>
              </a:spcAft>
              <a:buSzPts val="5520"/>
              <a:buNone/>
              <a:defRPr sz="5520"/>
            </a:lvl2pPr>
            <a:lvl3pPr lvl="2" algn="ctr">
              <a:spcBef>
                <a:spcPts val="0"/>
              </a:spcBef>
              <a:spcAft>
                <a:spcPts val="0"/>
              </a:spcAft>
              <a:buSzPts val="5520"/>
              <a:buNone/>
              <a:defRPr sz="5520"/>
            </a:lvl3pPr>
            <a:lvl4pPr lvl="3" algn="ctr">
              <a:spcBef>
                <a:spcPts val="0"/>
              </a:spcBef>
              <a:spcAft>
                <a:spcPts val="0"/>
              </a:spcAft>
              <a:buSzPts val="5520"/>
              <a:buNone/>
              <a:defRPr sz="5520"/>
            </a:lvl4pPr>
            <a:lvl5pPr lvl="4" algn="ctr">
              <a:spcBef>
                <a:spcPts val="0"/>
              </a:spcBef>
              <a:spcAft>
                <a:spcPts val="0"/>
              </a:spcAft>
              <a:buSzPts val="5520"/>
              <a:buNone/>
              <a:defRPr sz="5520"/>
            </a:lvl5pPr>
            <a:lvl6pPr lvl="5" algn="ctr">
              <a:spcBef>
                <a:spcPts val="0"/>
              </a:spcBef>
              <a:spcAft>
                <a:spcPts val="0"/>
              </a:spcAft>
              <a:buSzPts val="5520"/>
              <a:buNone/>
              <a:defRPr sz="5520"/>
            </a:lvl6pPr>
            <a:lvl7pPr lvl="6" algn="ctr">
              <a:spcBef>
                <a:spcPts val="0"/>
              </a:spcBef>
              <a:spcAft>
                <a:spcPts val="0"/>
              </a:spcAft>
              <a:buSzPts val="5520"/>
              <a:buNone/>
              <a:defRPr sz="5520"/>
            </a:lvl7pPr>
            <a:lvl8pPr lvl="7" algn="ctr">
              <a:spcBef>
                <a:spcPts val="0"/>
              </a:spcBef>
              <a:spcAft>
                <a:spcPts val="0"/>
              </a:spcAft>
              <a:buSzPts val="5520"/>
              <a:buNone/>
              <a:defRPr sz="5520"/>
            </a:lvl8pPr>
            <a:lvl9pPr lvl="8" algn="ctr">
              <a:spcBef>
                <a:spcPts val="0"/>
              </a:spcBef>
              <a:spcAft>
                <a:spcPts val="0"/>
              </a:spcAft>
              <a:buSzPts val="5520"/>
              <a:buNone/>
              <a:defRPr sz="552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2708687" y="7461147"/>
            <a:ext cx="822900" cy="629700"/>
          </a:xfrm>
          <a:prstGeom prst="rect">
            <a:avLst/>
          </a:prstGeom>
        </p:spPr>
        <p:txBody>
          <a:bodyPr anchorCtr="0" anchor="ctr" bIns="140175" lIns="140175" spcFirstLastPara="1" rIns="140175" wrap="square" tIns="140175">
            <a:normAutofit/>
          </a:bodyPr>
          <a:lstStyle>
            <a:lvl1pPr lvl="0">
              <a:buNone/>
              <a:defRPr sz="1533"/>
            </a:lvl1pPr>
            <a:lvl2pPr lvl="1">
              <a:buNone/>
              <a:defRPr sz="1533"/>
            </a:lvl2pPr>
            <a:lvl3pPr lvl="2">
              <a:buNone/>
              <a:defRPr sz="1533"/>
            </a:lvl3pPr>
            <a:lvl4pPr lvl="3">
              <a:buNone/>
              <a:defRPr sz="1533"/>
            </a:lvl4pPr>
            <a:lvl5pPr lvl="4">
              <a:buNone/>
              <a:defRPr sz="1533"/>
            </a:lvl5pPr>
            <a:lvl6pPr lvl="5">
              <a:buNone/>
              <a:defRPr sz="1533"/>
            </a:lvl6pPr>
            <a:lvl7pPr lvl="6">
              <a:buNone/>
              <a:defRPr sz="1533"/>
            </a:lvl7pPr>
            <a:lvl8pPr lvl="7">
              <a:buNone/>
              <a:defRPr sz="1533"/>
            </a:lvl8pPr>
            <a:lvl9pPr lvl="8">
              <a:buNone/>
              <a:defRPr sz="15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467550" y="712040"/>
            <a:ext cx="12780900" cy="916200"/>
          </a:xfrm>
          <a:prstGeom prst="rect">
            <a:avLst/>
          </a:prstGeom>
        </p:spPr>
        <p:txBody>
          <a:bodyPr anchorCtr="0" anchor="t" bIns="140175" lIns="140175" spcFirstLastPara="1" rIns="140175" wrap="square" tIns="1401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93"/>
              <a:buNone/>
              <a:defRPr sz="4293"/>
            </a:lvl1pPr>
            <a:lvl2pPr lvl="1">
              <a:spcBef>
                <a:spcPts val="0"/>
              </a:spcBef>
              <a:spcAft>
                <a:spcPts val="0"/>
              </a:spcAft>
              <a:buSzPts val="4293"/>
              <a:buNone/>
              <a:defRPr sz="4293"/>
            </a:lvl2pPr>
            <a:lvl3pPr lvl="2">
              <a:spcBef>
                <a:spcPts val="0"/>
              </a:spcBef>
              <a:spcAft>
                <a:spcPts val="0"/>
              </a:spcAft>
              <a:buSzPts val="4293"/>
              <a:buNone/>
              <a:defRPr sz="4293"/>
            </a:lvl3pPr>
            <a:lvl4pPr lvl="3">
              <a:spcBef>
                <a:spcPts val="0"/>
              </a:spcBef>
              <a:spcAft>
                <a:spcPts val="0"/>
              </a:spcAft>
              <a:buSzPts val="4293"/>
              <a:buNone/>
              <a:defRPr sz="4293"/>
            </a:lvl4pPr>
            <a:lvl5pPr lvl="4">
              <a:spcBef>
                <a:spcPts val="0"/>
              </a:spcBef>
              <a:spcAft>
                <a:spcPts val="0"/>
              </a:spcAft>
              <a:buSzPts val="4293"/>
              <a:buNone/>
              <a:defRPr sz="4293"/>
            </a:lvl5pPr>
            <a:lvl6pPr lvl="5">
              <a:spcBef>
                <a:spcPts val="0"/>
              </a:spcBef>
              <a:spcAft>
                <a:spcPts val="0"/>
              </a:spcAft>
              <a:buSzPts val="4293"/>
              <a:buNone/>
              <a:defRPr sz="4293"/>
            </a:lvl6pPr>
            <a:lvl7pPr lvl="6">
              <a:spcBef>
                <a:spcPts val="0"/>
              </a:spcBef>
              <a:spcAft>
                <a:spcPts val="0"/>
              </a:spcAft>
              <a:buSzPts val="4293"/>
              <a:buNone/>
              <a:defRPr sz="4293"/>
            </a:lvl7pPr>
            <a:lvl8pPr lvl="7">
              <a:spcBef>
                <a:spcPts val="0"/>
              </a:spcBef>
              <a:spcAft>
                <a:spcPts val="0"/>
              </a:spcAft>
              <a:buSzPts val="4293"/>
              <a:buNone/>
              <a:defRPr sz="4293"/>
            </a:lvl8pPr>
            <a:lvl9pPr lvl="8">
              <a:spcBef>
                <a:spcPts val="0"/>
              </a:spcBef>
              <a:spcAft>
                <a:spcPts val="0"/>
              </a:spcAft>
              <a:buSzPts val="4293"/>
              <a:buNone/>
              <a:defRPr sz="4293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467550" y="1843960"/>
            <a:ext cx="12780900" cy="5466300"/>
          </a:xfrm>
          <a:prstGeom prst="rect">
            <a:avLst/>
          </a:prstGeom>
        </p:spPr>
        <p:txBody>
          <a:bodyPr anchorCtr="0" anchor="t" bIns="140175" lIns="140175" spcFirstLastPara="1" rIns="140175" wrap="square" tIns="140175">
            <a:normAutofit/>
          </a:bodyPr>
          <a:lstStyle>
            <a:lvl1pPr indent="-403860" lvl="0" marL="457200">
              <a:spcBef>
                <a:spcPts val="0"/>
              </a:spcBef>
              <a:spcAft>
                <a:spcPts val="0"/>
              </a:spcAft>
              <a:buSzPts val="2760"/>
              <a:buChar char="●"/>
              <a:defRPr sz="2760"/>
            </a:lvl1pPr>
            <a:lvl2pPr indent="-364913" lvl="1" marL="914400">
              <a:spcBef>
                <a:spcPts val="0"/>
              </a:spcBef>
              <a:spcAft>
                <a:spcPts val="0"/>
              </a:spcAft>
              <a:buSzPts val="2147"/>
              <a:buChar char="○"/>
              <a:defRPr sz="2146"/>
            </a:lvl2pPr>
            <a:lvl3pPr indent="-364913" lvl="2" marL="1371600">
              <a:spcBef>
                <a:spcPts val="0"/>
              </a:spcBef>
              <a:spcAft>
                <a:spcPts val="0"/>
              </a:spcAft>
              <a:buSzPts val="2147"/>
              <a:buChar char="■"/>
              <a:defRPr sz="2146"/>
            </a:lvl3pPr>
            <a:lvl4pPr indent="-364913" lvl="3" marL="1828800">
              <a:spcBef>
                <a:spcPts val="0"/>
              </a:spcBef>
              <a:spcAft>
                <a:spcPts val="0"/>
              </a:spcAft>
              <a:buSzPts val="2147"/>
              <a:buChar char="●"/>
              <a:defRPr sz="2146"/>
            </a:lvl4pPr>
            <a:lvl5pPr indent="-364913" lvl="4" marL="2286000">
              <a:spcBef>
                <a:spcPts val="0"/>
              </a:spcBef>
              <a:spcAft>
                <a:spcPts val="0"/>
              </a:spcAft>
              <a:buSzPts val="2147"/>
              <a:buChar char="○"/>
              <a:defRPr sz="2146"/>
            </a:lvl5pPr>
            <a:lvl6pPr indent="-364913" lvl="5" marL="2743200">
              <a:spcBef>
                <a:spcPts val="0"/>
              </a:spcBef>
              <a:spcAft>
                <a:spcPts val="0"/>
              </a:spcAft>
              <a:buSzPts val="2147"/>
              <a:buChar char="■"/>
              <a:defRPr sz="2146"/>
            </a:lvl6pPr>
            <a:lvl7pPr indent="-364913" lvl="6" marL="3200400">
              <a:spcBef>
                <a:spcPts val="0"/>
              </a:spcBef>
              <a:spcAft>
                <a:spcPts val="0"/>
              </a:spcAft>
              <a:buSzPts val="2147"/>
              <a:buChar char="●"/>
              <a:defRPr sz="2146"/>
            </a:lvl7pPr>
            <a:lvl8pPr indent="-364913" lvl="7" marL="3657600">
              <a:spcBef>
                <a:spcPts val="0"/>
              </a:spcBef>
              <a:spcAft>
                <a:spcPts val="0"/>
              </a:spcAft>
              <a:buSzPts val="2147"/>
              <a:buChar char="○"/>
              <a:defRPr sz="2146"/>
            </a:lvl8pPr>
            <a:lvl9pPr indent="-364913" lvl="8" marL="4114800">
              <a:spcBef>
                <a:spcPts val="0"/>
              </a:spcBef>
              <a:spcAft>
                <a:spcPts val="0"/>
              </a:spcAft>
              <a:buSzPts val="2147"/>
              <a:buChar char="■"/>
              <a:defRPr sz="2146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2708687" y="7461147"/>
            <a:ext cx="822900" cy="629700"/>
          </a:xfrm>
          <a:prstGeom prst="rect">
            <a:avLst/>
          </a:prstGeom>
        </p:spPr>
        <p:txBody>
          <a:bodyPr anchorCtr="0" anchor="ctr" bIns="140175" lIns="140175" spcFirstLastPara="1" rIns="140175" wrap="square" tIns="140175">
            <a:normAutofit/>
          </a:bodyPr>
          <a:lstStyle>
            <a:lvl1pPr lvl="0">
              <a:buNone/>
              <a:defRPr sz="1533"/>
            </a:lvl1pPr>
            <a:lvl2pPr lvl="1">
              <a:buNone/>
              <a:defRPr sz="1533"/>
            </a:lvl2pPr>
            <a:lvl3pPr lvl="2">
              <a:buNone/>
              <a:defRPr sz="1533"/>
            </a:lvl3pPr>
            <a:lvl4pPr lvl="3">
              <a:buNone/>
              <a:defRPr sz="1533"/>
            </a:lvl4pPr>
            <a:lvl5pPr lvl="4">
              <a:buNone/>
              <a:defRPr sz="1533"/>
            </a:lvl5pPr>
            <a:lvl6pPr lvl="5">
              <a:buNone/>
              <a:defRPr sz="1533"/>
            </a:lvl6pPr>
            <a:lvl7pPr lvl="6">
              <a:buNone/>
              <a:defRPr sz="1533"/>
            </a:lvl7pPr>
            <a:lvl8pPr lvl="7">
              <a:buNone/>
              <a:defRPr sz="1533"/>
            </a:lvl8pPr>
            <a:lvl9pPr lvl="8">
              <a:buNone/>
              <a:defRPr sz="15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467550" y="712040"/>
            <a:ext cx="12780900" cy="916200"/>
          </a:xfrm>
          <a:prstGeom prst="rect">
            <a:avLst/>
          </a:prstGeom>
        </p:spPr>
        <p:txBody>
          <a:bodyPr anchorCtr="0" anchor="t" bIns="140175" lIns="140175" spcFirstLastPara="1" rIns="140175" wrap="square" tIns="1401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93"/>
              <a:buNone/>
              <a:defRPr sz="4293"/>
            </a:lvl1pPr>
            <a:lvl2pPr lvl="1">
              <a:spcBef>
                <a:spcPts val="0"/>
              </a:spcBef>
              <a:spcAft>
                <a:spcPts val="0"/>
              </a:spcAft>
              <a:buSzPts val="4293"/>
              <a:buNone/>
              <a:defRPr sz="4293"/>
            </a:lvl2pPr>
            <a:lvl3pPr lvl="2">
              <a:spcBef>
                <a:spcPts val="0"/>
              </a:spcBef>
              <a:spcAft>
                <a:spcPts val="0"/>
              </a:spcAft>
              <a:buSzPts val="4293"/>
              <a:buNone/>
              <a:defRPr sz="4293"/>
            </a:lvl3pPr>
            <a:lvl4pPr lvl="3">
              <a:spcBef>
                <a:spcPts val="0"/>
              </a:spcBef>
              <a:spcAft>
                <a:spcPts val="0"/>
              </a:spcAft>
              <a:buSzPts val="4293"/>
              <a:buNone/>
              <a:defRPr sz="4293"/>
            </a:lvl4pPr>
            <a:lvl5pPr lvl="4">
              <a:spcBef>
                <a:spcPts val="0"/>
              </a:spcBef>
              <a:spcAft>
                <a:spcPts val="0"/>
              </a:spcAft>
              <a:buSzPts val="4293"/>
              <a:buNone/>
              <a:defRPr sz="4293"/>
            </a:lvl5pPr>
            <a:lvl6pPr lvl="5">
              <a:spcBef>
                <a:spcPts val="0"/>
              </a:spcBef>
              <a:spcAft>
                <a:spcPts val="0"/>
              </a:spcAft>
              <a:buSzPts val="4293"/>
              <a:buNone/>
              <a:defRPr sz="4293"/>
            </a:lvl6pPr>
            <a:lvl7pPr lvl="6">
              <a:spcBef>
                <a:spcPts val="0"/>
              </a:spcBef>
              <a:spcAft>
                <a:spcPts val="0"/>
              </a:spcAft>
              <a:buSzPts val="4293"/>
              <a:buNone/>
              <a:defRPr sz="4293"/>
            </a:lvl7pPr>
            <a:lvl8pPr lvl="7">
              <a:spcBef>
                <a:spcPts val="0"/>
              </a:spcBef>
              <a:spcAft>
                <a:spcPts val="0"/>
              </a:spcAft>
              <a:buSzPts val="4293"/>
              <a:buNone/>
              <a:defRPr sz="4293"/>
            </a:lvl8pPr>
            <a:lvl9pPr lvl="8">
              <a:spcBef>
                <a:spcPts val="0"/>
              </a:spcBef>
              <a:spcAft>
                <a:spcPts val="0"/>
              </a:spcAft>
              <a:buSzPts val="4293"/>
              <a:buNone/>
              <a:defRPr sz="4293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467550" y="1843960"/>
            <a:ext cx="5999700" cy="5466300"/>
          </a:xfrm>
          <a:prstGeom prst="rect">
            <a:avLst/>
          </a:prstGeom>
        </p:spPr>
        <p:txBody>
          <a:bodyPr anchorCtr="0" anchor="t" bIns="140175" lIns="140175" spcFirstLastPara="1" rIns="140175" wrap="square" tIns="140175">
            <a:normAutofit/>
          </a:bodyPr>
          <a:lstStyle>
            <a:lvl1pPr indent="-364913" lvl="0" marL="457200">
              <a:spcBef>
                <a:spcPts val="0"/>
              </a:spcBef>
              <a:spcAft>
                <a:spcPts val="0"/>
              </a:spcAft>
              <a:buSzPts val="2147"/>
              <a:buChar char="●"/>
              <a:defRPr sz="2146"/>
            </a:lvl1pPr>
            <a:lvl2pPr indent="-345440" lvl="1" marL="914400">
              <a:spcBef>
                <a:spcPts val="0"/>
              </a:spcBef>
              <a:spcAft>
                <a:spcPts val="0"/>
              </a:spcAft>
              <a:buSzPts val="1840"/>
              <a:buChar char="○"/>
              <a:defRPr sz="1840"/>
            </a:lvl2pPr>
            <a:lvl3pPr indent="-345439" lvl="2" marL="1371600">
              <a:spcBef>
                <a:spcPts val="0"/>
              </a:spcBef>
              <a:spcAft>
                <a:spcPts val="0"/>
              </a:spcAft>
              <a:buSzPts val="1840"/>
              <a:buChar char="■"/>
              <a:defRPr sz="1840"/>
            </a:lvl3pPr>
            <a:lvl4pPr indent="-345439" lvl="3" marL="1828800">
              <a:spcBef>
                <a:spcPts val="0"/>
              </a:spcBef>
              <a:spcAft>
                <a:spcPts val="0"/>
              </a:spcAft>
              <a:buSzPts val="1840"/>
              <a:buChar char="●"/>
              <a:defRPr sz="1840"/>
            </a:lvl4pPr>
            <a:lvl5pPr indent="-345439" lvl="4" marL="2286000">
              <a:spcBef>
                <a:spcPts val="0"/>
              </a:spcBef>
              <a:spcAft>
                <a:spcPts val="0"/>
              </a:spcAft>
              <a:buSzPts val="1840"/>
              <a:buChar char="○"/>
              <a:defRPr sz="1840"/>
            </a:lvl5pPr>
            <a:lvl6pPr indent="-345439" lvl="5" marL="2743200">
              <a:spcBef>
                <a:spcPts val="0"/>
              </a:spcBef>
              <a:spcAft>
                <a:spcPts val="0"/>
              </a:spcAft>
              <a:buSzPts val="1840"/>
              <a:buChar char="■"/>
              <a:defRPr sz="1840"/>
            </a:lvl6pPr>
            <a:lvl7pPr indent="-345439" lvl="6" marL="3200400">
              <a:spcBef>
                <a:spcPts val="0"/>
              </a:spcBef>
              <a:spcAft>
                <a:spcPts val="0"/>
              </a:spcAft>
              <a:buSzPts val="1840"/>
              <a:buChar char="●"/>
              <a:defRPr sz="1840"/>
            </a:lvl7pPr>
            <a:lvl8pPr indent="-345440" lvl="7" marL="3657600">
              <a:spcBef>
                <a:spcPts val="0"/>
              </a:spcBef>
              <a:spcAft>
                <a:spcPts val="0"/>
              </a:spcAft>
              <a:buSzPts val="1840"/>
              <a:buChar char="○"/>
              <a:defRPr sz="1840"/>
            </a:lvl8pPr>
            <a:lvl9pPr indent="-345440" lvl="8" marL="4114800">
              <a:spcBef>
                <a:spcPts val="0"/>
              </a:spcBef>
              <a:spcAft>
                <a:spcPts val="0"/>
              </a:spcAft>
              <a:buSzPts val="1840"/>
              <a:buChar char="■"/>
              <a:defRPr sz="184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7248600" y="1843960"/>
            <a:ext cx="5999700" cy="5466300"/>
          </a:xfrm>
          <a:prstGeom prst="rect">
            <a:avLst/>
          </a:prstGeom>
        </p:spPr>
        <p:txBody>
          <a:bodyPr anchorCtr="0" anchor="t" bIns="140175" lIns="140175" spcFirstLastPara="1" rIns="140175" wrap="square" tIns="140175">
            <a:normAutofit/>
          </a:bodyPr>
          <a:lstStyle>
            <a:lvl1pPr indent="-364913" lvl="0" marL="457200">
              <a:spcBef>
                <a:spcPts val="0"/>
              </a:spcBef>
              <a:spcAft>
                <a:spcPts val="0"/>
              </a:spcAft>
              <a:buSzPts val="2147"/>
              <a:buChar char="●"/>
              <a:defRPr sz="2146"/>
            </a:lvl1pPr>
            <a:lvl2pPr indent="-345440" lvl="1" marL="914400">
              <a:spcBef>
                <a:spcPts val="0"/>
              </a:spcBef>
              <a:spcAft>
                <a:spcPts val="0"/>
              </a:spcAft>
              <a:buSzPts val="1840"/>
              <a:buChar char="○"/>
              <a:defRPr sz="1840"/>
            </a:lvl2pPr>
            <a:lvl3pPr indent="-345439" lvl="2" marL="1371600">
              <a:spcBef>
                <a:spcPts val="0"/>
              </a:spcBef>
              <a:spcAft>
                <a:spcPts val="0"/>
              </a:spcAft>
              <a:buSzPts val="1840"/>
              <a:buChar char="■"/>
              <a:defRPr sz="1840"/>
            </a:lvl3pPr>
            <a:lvl4pPr indent="-345439" lvl="3" marL="1828800">
              <a:spcBef>
                <a:spcPts val="0"/>
              </a:spcBef>
              <a:spcAft>
                <a:spcPts val="0"/>
              </a:spcAft>
              <a:buSzPts val="1840"/>
              <a:buChar char="●"/>
              <a:defRPr sz="1840"/>
            </a:lvl4pPr>
            <a:lvl5pPr indent="-345439" lvl="4" marL="2286000">
              <a:spcBef>
                <a:spcPts val="0"/>
              </a:spcBef>
              <a:spcAft>
                <a:spcPts val="0"/>
              </a:spcAft>
              <a:buSzPts val="1840"/>
              <a:buChar char="○"/>
              <a:defRPr sz="1840"/>
            </a:lvl5pPr>
            <a:lvl6pPr indent="-345439" lvl="5" marL="2743200">
              <a:spcBef>
                <a:spcPts val="0"/>
              </a:spcBef>
              <a:spcAft>
                <a:spcPts val="0"/>
              </a:spcAft>
              <a:buSzPts val="1840"/>
              <a:buChar char="■"/>
              <a:defRPr sz="1840"/>
            </a:lvl6pPr>
            <a:lvl7pPr indent="-345439" lvl="6" marL="3200400">
              <a:spcBef>
                <a:spcPts val="0"/>
              </a:spcBef>
              <a:spcAft>
                <a:spcPts val="0"/>
              </a:spcAft>
              <a:buSzPts val="1840"/>
              <a:buChar char="●"/>
              <a:defRPr sz="1840"/>
            </a:lvl7pPr>
            <a:lvl8pPr indent="-345440" lvl="7" marL="3657600">
              <a:spcBef>
                <a:spcPts val="0"/>
              </a:spcBef>
              <a:spcAft>
                <a:spcPts val="0"/>
              </a:spcAft>
              <a:buSzPts val="1840"/>
              <a:buChar char="○"/>
              <a:defRPr sz="1840"/>
            </a:lvl8pPr>
            <a:lvl9pPr indent="-345440" lvl="8" marL="4114800">
              <a:spcBef>
                <a:spcPts val="0"/>
              </a:spcBef>
              <a:spcAft>
                <a:spcPts val="0"/>
              </a:spcAft>
              <a:buSzPts val="1840"/>
              <a:buChar char="■"/>
              <a:defRPr sz="184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12708687" y="7461147"/>
            <a:ext cx="822900" cy="629700"/>
          </a:xfrm>
          <a:prstGeom prst="rect">
            <a:avLst/>
          </a:prstGeom>
        </p:spPr>
        <p:txBody>
          <a:bodyPr anchorCtr="0" anchor="ctr" bIns="140175" lIns="140175" spcFirstLastPara="1" rIns="140175" wrap="square" tIns="140175">
            <a:normAutofit/>
          </a:bodyPr>
          <a:lstStyle>
            <a:lvl1pPr lvl="0">
              <a:buNone/>
              <a:defRPr sz="1533"/>
            </a:lvl1pPr>
            <a:lvl2pPr lvl="1">
              <a:buNone/>
              <a:defRPr sz="1533"/>
            </a:lvl2pPr>
            <a:lvl3pPr lvl="2">
              <a:buNone/>
              <a:defRPr sz="1533"/>
            </a:lvl3pPr>
            <a:lvl4pPr lvl="3">
              <a:buNone/>
              <a:defRPr sz="1533"/>
            </a:lvl4pPr>
            <a:lvl5pPr lvl="4">
              <a:buNone/>
              <a:defRPr sz="1533"/>
            </a:lvl5pPr>
            <a:lvl6pPr lvl="5">
              <a:buNone/>
              <a:defRPr sz="1533"/>
            </a:lvl6pPr>
            <a:lvl7pPr lvl="6">
              <a:buNone/>
              <a:defRPr sz="1533"/>
            </a:lvl7pPr>
            <a:lvl8pPr lvl="7">
              <a:buNone/>
              <a:defRPr sz="1533"/>
            </a:lvl8pPr>
            <a:lvl9pPr lvl="8">
              <a:buNone/>
              <a:defRPr sz="15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467550" y="712040"/>
            <a:ext cx="12780900" cy="916200"/>
          </a:xfrm>
          <a:prstGeom prst="rect">
            <a:avLst/>
          </a:prstGeom>
        </p:spPr>
        <p:txBody>
          <a:bodyPr anchorCtr="0" anchor="t" bIns="140175" lIns="140175" spcFirstLastPara="1" rIns="140175" wrap="square" tIns="1401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93"/>
              <a:buNone/>
              <a:defRPr sz="4293"/>
            </a:lvl1pPr>
            <a:lvl2pPr lvl="1">
              <a:spcBef>
                <a:spcPts val="0"/>
              </a:spcBef>
              <a:spcAft>
                <a:spcPts val="0"/>
              </a:spcAft>
              <a:buSzPts val="4293"/>
              <a:buNone/>
              <a:defRPr sz="4293"/>
            </a:lvl2pPr>
            <a:lvl3pPr lvl="2">
              <a:spcBef>
                <a:spcPts val="0"/>
              </a:spcBef>
              <a:spcAft>
                <a:spcPts val="0"/>
              </a:spcAft>
              <a:buSzPts val="4293"/>
              <a:buNone/>
              <a:defRPr sz="4293"/>
            </a:lvl3pPr>
            <a:lvl4pPr lvl="3">
              <a:spcBef>
                <a:spcPts val="0"/>
              </a:spcBef>
              <a:spcAft>
                <a:spcPts val="0"/>
              </a:spcAft>
              <a:buSzPts val="4293"/>
              <a:buNone/>
              <a:defRPr sz="4293"/>
            </a:lvl4pPr>
            <a:lvl5pPr lvl="4">
              <a:spcBef>
                <a:spcPts val="0"/>
              </a:spcBef>
              <a:spcAft>
                <a:spcPts val="0"/>
              </a:spcAft>
              <a:buSzPts val="4293"/>
              <a:buNone/>
              <a:defRPr sz="4293"/>
            </a:lvl5pPr>
            <a:lvl6pPr lvl="5">
              <a:spcBef>
                <a:spcPts val="0"/>
              </a:spcBef>
              <a:spcAft>
                <a:spcPts val="0"/>
              </a:spcAft>
              <a:buSzPts val="4293"/>
              <a:buNone/>
              <a:defRPr sz="4293"/>
            </a:lvl6pPr>
            <a:lvl7pPr lvl="6">
              <a:spcBef>
                <a:spcPts val="0"/>
              </a:spcBef>
              <a:spcAft>
                <a:spcPts val="0"/>
              </a:spcAft>
              <a:buSzPts val="4293"/>
              <a:buNone/>
              <a:defRPr sz="4293"/>
            </a:lvl7pPr>
            <a:lvl8pPr lvl="7">
              <a:spcBef>
                <a:spcPts val="0"/>
              </a:spcBef>
              <a:spcAft>
                <a:spcPts val="0"/>
              </a:spcAft>
              <a:buSzPts val="4293"/>
              <a:buNone/>
              <a:defRPr sz="4293"/>
            </a:lvl8pPr>
            <a:lvl9pPr lvl="8">
              <a:spcBef>
                <a:spcPts val="0"/>
              </a:spcBef>
              <a:spcAft>
                <a:spcPts val="0"/>
              </a:spcAft>
              <a:buSzPts val="4293"/>
              <a:buNone/>
              <a:defRPr sz="4293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12708687" y="7461147"/>
            <a:ext cx="822900" cy="629700"/>
          </a:xfrm>
          <a:prstGeom prst="rect">
            <a:avLst/>
          </a:prstGeom>
        </p:spPr>
        <p:txBody>
          <a:bodyPr anchorCtr="0" anchor="ctr" bIns="140175" lIns="140175" spcFirstLastPara="1" rIns="140175" wrap="square" tIns="140175">
            <a:normAutofit/>
          </a:bodyPr>
          <a:lstStyle>
            <a:lvl1pPr lvl="0">
              <a:buNone/>
              <a:defRPr sz="1533"/>
            </a:lvl1pPr>
            <a:lvl2pPr lvl="1">
              <a:buNone/>
              <a:defRPr sz="1533"/>
            </a:lvl2pPr>
            <a:lvl3pPr lvl="2">
              <a:buNone/>
              <a:defRPr sz="1533"/>
            </a:lvl3pPr>
            <a:lvl4pPr lvl="3">
              <a:buNone/>
              <a:defRPr sz="1533"/>
            </a:lvl4pPr>
            <a:lvl5pPr lvl="4">
              <a:buNone/>
              <a:defRPr sz="1533"/>
            </a:lvl5pPr>
            <a:lvl6pPr lvl="5">
              <a:buNone/>
              <a:defRPr sz="1533"/>
            </a:lvl6pPr>
            <a:lvl7pPr lvl="6">
              <a:buNone/>
              <a:defRPr sz="1533"/>
            </a:lvl7pPr>
            <a:lvl8pPr lvl="7">
              <a:buNone/>
              <a:defRPr sz="1533"/>
            </a:lvl8pPr>
            <a:lvl9pPr lvl="8">
              <a:buNone/>
              <a:defRPr sz="15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467550" y="888960"/>
            <a:ext cx="4212000" cy="1209000"/>
          </a:xfrm>
          <a:prstGeom prst="rect">
            <a:avLst/>
          </a:prstGeom>
        </p:spPr>
        <p:txBody>
          <a:bodyPr anchorCtr="0" anchor="b" bIns="140175" lIns="140175" spcFirstLastPara="1" rIns="140175" wrap="square" tIns="1401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80"/>
              <a:buNone/>
              <a:defRPr sz="3680"/>
            </a:lvl1pPr>
            <a:lvl2pPr lvl="1">
              <a:spcBef>
                <a:spcPts val="0"/>
              </a:spcBef>
              <a:spcAft>
                <a:spcPts val="0"/>
              </a:spcAft>
              <a:buSzPts val="3680"/>
              <a:buNone/>
              <a:defRPr sz="3680"/>
            </a:lvl2pPr>
            <a:lvl3pPr lvl="2">
              <a:spcBef>
                <a:spcPts val="0"/>
              </a:spcBef>
              <a:spcAft>
                <a:spcPts val="0"/>
              </a:spcAft>
              <a:buSzPts val="3680"/>
              <a:buNone/>
              <a:defRPr sz="3680"/>
            </a:lvl3pPr>
            <a:lvl4pPr lvl="3">
              <a:spcBef>
                <a:spcPts val="0"/>
              </a:spcBef>
              <a:spcAft>
                <a:spcPts val="0"/>
              </a:spcAft>
              <a:buSzPts val="3680"/>
              <a:buNone/>
              <a:defRPr sz="3680"/>
            </a:lvl4pPr>
            <a:lvl5pPr lvl="4">
              <a:spcBef>
                <a:spcPts val="0"/>
              </a:spcBef>
              <a:spcAft>
                <a:spcPts val="0"/>
              </a:spcAft>
              <a:buSzPts val="3680"/>
              <a:buNone/>
              <a:defRPr sz="3680"/>
            </a:lvl5pPr>
            <a:lvl6pPr lvl="5">
              <a:spcBef>
                <a:spcPts val="0"/>
              </a:spcBef>
              <a:spcAft>
                <a:spcPts val="0"/>
              </a:spcAft>
              <a:buSzPts val="3680"/>
              <a:buNone/>
              <a:defRPr sz="3680"/>
            </a:lvl6pPr>
            <a:lvl7pPr lvl="6">
              <a:spcBef>
                <a:spcPts val="0"/>
              </a:spcBef>
              <a:spcAft>
                <a:spcPts val="0"/>
              </a:spcAft>
              <a:buSzPts val="3680"/>
              <a:buNone/>
              <a:defRPr sz="3680"/>
            </a:lvl7pPr>
            <a:lvl8pPr lvl="7">
              <a:spcBef>
                <a:spcPts val="0"/>
              </a:spcBef>
              <a:spcAft>
                <a:spcPts val="0"/>
              </a:spcAft>
              <a:buSzPts val="3680"/>
              <a:buNone/>
              <a:defRPr sz="3680"/>
            </a:lvl8pPr>
            <a:lvl9pPr lvl="8">
              <a:spcBef>
                <a:spcPts val="0"/>
              </a:spcBef>
              <a:spcAft>
                <a:spcPts val="0"/>
              </a:spcAft>
              <a:buSzPts val="3680"/>
              <a:buNone/>
              <a:defRPr sz="368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467550" y="2223360"/>
            <a:ext cx="4212000" cy="5087100"/>
          </a:xfrm>
          <a:prstGeom prst="rect">
            <a:avLst/>
          </a:prstGeom>
        </p:spPr>
        <p:txBody>
          <a:bodyPr anchorCtr="0" anchor="t" bIns="140175" lIns="140175" spcFirstLastPara="1" rIns="140175" wrap="square" tIns="140175">
            <a:normAutofit/>
          </a:bodyPr>
          <a:lstStyle>
            <a:lvl1pPr indent="-345440" lvl="0" marL="457200">
              <a:spcBef>
                <a:spcPts val="0"/>
              </a:spcBef>
              <a:spcAft>
                <a:spcPts val="0"/>
              </a:spcAft>
              <a:buSzPts val="1840"/>
              <a:buChar char="●"/>
              <a:defRPr sz="1840"/>
            </a:lvl1pPr>
            <a:lvl2pPr indent="-345440" lvl="1" marL="914400">
              <a:spcBef>
                <a:spcPts val="0"/>
              </a:spcBef>
              <a:spcAft>
                <a:spcPts val="0"/>
              </a:spcAft>
              <a:buSzPts val="1840"/>
              <a:buChar char="○"/>
              <a:defRPr sz="1840"/>
            </a:lvl2pPr>
            <a:lvl3pPr indent="-345439" lvl="2" marL="1371600">
              <a:spcBef>
                <a:spcPts val="0"/>
              </a:spcBef>
              <a:spcAft>
                <a:spcPts val="0"/>
              </a:spcAft>
              <a:buSzPts val="1840"/>
              <a:buChar char="■"/>
              <a:defRPr sz="1840"/>
            </a:lvl3pPr>
            <a:lvl4pPr indent="-345439" lvl="3" marL="1828800">
              <a:spcBef>
                <a:spcPts val="0"/>
              </a:spcBef>
              <a:spcAft>
                <a:spcPts val="0"/>
              </a:spcAft>
              <a:buSzPts val="1840"/>
              <a:buChar char="●"/>
              <a:defRPr sz="1840"/>
            </a:lvl4pPr>
            <a:lvl5pPr indent="-345439" lvl="4" marL="2286000">
              <a:spcBef>
                <a:spcPts val="0"/>
              </a:spcBef>
              <a:spcAft>
                <a:spcPts val="0"/>
              </a:spcAft>
              <a:buSzPts val="1840"/>
              <a:buChar char="○"/>
              <a:defRPr sz="1840"/>
            </a:lvl5pPr>
            <a:lvl6pPr indent="-345439" lvl="5" marL="2743200">
              <a:spcBef>
                <a:spcPts val="0"/>
              </a:spcBef>
              <a:spcAft>
                <a:spcPts val="0"/>
              </a:spcAft>
              <a:buSzPts val="1840"/>
              <a:buChar char="■"/>
              <a:defRPr sz="1840"/>
            </a:lvl6pPr>
            <a:lvl7pPr indent="-345439" lvl="6" marL="3200400">
              <a:spcBef>
                <a:spcPts val="0"/>
              </a:spcBef>
              <a:spcAft>
                <a:spcPts val="0"/>
              </a:spcAft>
              <a:buSzPts val="1840"/>
              <a:buChar char="●"/>
              <a:defRPr sz="1840"/>
            </a:lvl7pPr>
            <a:lvl8pPr indent="-345440" lvl="7" marL="3657600">
              <a:spcBef>
                <a:spcPts val="0"/>
              </a:spcBef>
              <a:spcAft>
                <a:spcPts val="0"/>
              </a:spcAft>
              <a:buSzPts val="1840"/>
              <a:buChar char="○"/>
              <a:defRPr sz="1840"/>
            </a:lvl8pPr>
            <a:lvl9pPr indent="-345440" lvl="8" marL="4114800">
              <a:spcBef>
                <a:spcPts val="0"/>
              </a:spcBef>
              <a:spcAft>
                <a:spcPts val="0"/>
              </a:spcAft>
              <a:buSzPts val="1840"/>
              <a:buChar char="■"/>
              <a:defRPr sz="184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12708687" y="7461147"/>
            <a:ext cx="822900" cy="629700"/>
          </a:xfrm>
          <a:prstGeom prst="rect">
            <a:avLst/>
          </a:prstGeom>
        </p:spPr>
        <p:txBody>
          <a:bodyPr anchorCtr="0" anchor="ctr" bIns="140175" lIns="140175" spcFirstLastPara="1" rIns="140175" wrap="square" tIns="140175">
            <a:normAutofit/>
          </a:bodyPr>
          <a:lstStyle>
            <a:lvl1pPr lvl="0">
              <a:buNone/>
              <a:defRPr sz="1533"/>
            </a:lvl1pPr>
            <a:lvl2pPr lvl="1">
              <a:buNone/>
              <a:defRPr sz="1533"/>
            </a:lvl2pPr>
            <a:lvl3pPr lvl="2">
              <a:buNone/>
              <a:defRPr sz="1533"/>
            </a:lvl3pPr>
            <a:lvl4pPr lvl="3">
              <a:buNone/>
              <a:defRPr sz="1533"/>
            </a:lvl4pPr>
            <a:lvl5pPr lvl="4">
              <a:buNone/>
              <a:defRPr sz="1533"/>
            </a:lvl5pPr>
            <a:lvl6pPr lvl="5">
              <a:buNone/>
              <a:defRPr sz="1533"/>
            </a:lvl6pPr>
            <a:lvl7pPr lvl="6">
              <a:buNone/>
              <a:defRPr sz="1533"/>
            </a:lvl7pPr>
            <a:lvl8pPr lvl="7">
              <a:buNone/>
              <a:defRPr sz="1533"/>
            </a:lvl8pPr>
            <a:lvl9pPr lvl="8">
              <a:buNone/>
              <a:defRPr sz="15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735375" y="720240"/>
            <a:ext cx="9551700" cy="6545400"/>
          </a:xfrm>
          <a:prstGeom prst="rect">
            <a:avLst/>
          </a:prstGeom>
        </p:spPr>
        <p:txBody>
          <a:bodyPr anchorCtr="0" anchor="ctr" bIns="140175" lIns="140175" spcFirstLastPara="1" rIns="140175" wrap="square" tIns="1401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360"/>
              <a:buNone/>
              <a:defRPr sz="7360"/>
            </a:lvl1pPr>
            <a:lvl2pPr lvl="1">
              <a:spcBef>
                <a:spcPts val="0"/>
              </a:spcBef>
              <a:spcAft>
                <a:spcPts val="0"/>
              </a:spcAft>
              <a:buSzPts val="7360"/>
              <a:buNone/>
              <a:defRPr sz="7360"/>
            </a:lvl2pPr>
            <a:lvl3pPr lvl="2">
              <a:spcBef>
                <a:spcPts val="0"/>
              </a:spcBef>
              <a:spcAft>
                <a:spcPts val="0"/>
              </a:spcAft>
              <a:buSzPts val="7360"/>
              <a:buNone/>
              <a:defRPr sz="7360"/>
            </a:lvl3pPr>
            <a:lvl4pPr lvl="3">
              <a:spcBef>
                <a:spcPts val="0"/>
              </a:spcBef>
              <a:spcAft>
                <a:spcPts val="0"/>
              </a:spcAft>
              <a:buSzPts val="7360"/>
              <a:buNone/>
              <a:defRPr sz="7360"/>
            </a:lvl4pPr>
            <a:lvl5pPr lvl="4">
              <a:spcBef>
                <a:spcPts val="0"/>
              </a:spcBef>
              <a:spcAft>
                <a:spcPts val="0"/>
              </a:spcAft>
              <a:buSzPts val="7360"/>
              <a:buNone/>
              <a:defRPr sz="7360"/>
            </a:lvl5pPr>
            <a:lvl6pPr lvl="5">
              <a:spcBef>
                <a:spcPts val="0"/>
              </a:spcBef>
              <a:spcAft>
                <a:spcPts val="0"/>
              </a:spcAft>
              <a:buSzPts val="7360"/>
              <a:buNone/>
              <a:defRPr sz="7360"/>
            </a:lvl6pPr>
            <a:lvl7pPr lvl="6">
              <a:spcBef>
                <a:spcPts val="0"/>
              </a:spcBef>
              <a:spcAft>
                <a:spcPts val="0"/>
              </a:spcAft>
              <a:buSzPts val="7360"/>
              <a:buNone/>
              <a:defRPr sz="7360"/>
            </a:lvl7pPr>
            <a:lvl8pPr lvl="7">
              <a:spcBef>
                <a:spcPts val="0"/>
              </a:spcBef>
              <a:spcAft>
                <a:spcPts val="0"/>
              </a:spcAft>
              <a:buSzPts val="7360"/>
              <a:buNone/>
              <a:defRPr sz="7360"/>
            </a:lvl8pPr>
            <a:lvl9pPr lvl="8">
              <a:spcBef>
                <a:spcPts val="0"/>
              </a:spcBef>
              <a:spcAft>
                <a:spcPts val="0"/>
              </a:spcAft>
              <a:buSzPts val="7360"/>
              <a:buNone/>
              <a:defRPr sz="736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12708687" y="7461147"/>
            <a:ext cx="822900" cy="629700"/>
          </a:xfrm>
          <a:prstGeom prst="rect">
            <a:avLst/>
          </a:prstGeom>
        </p:spPr>
        <p:txBody>
          <a:bodyPr anchorCtr="0" anchor="ctr" bIns="140175" lIns="140175" spcFirstLastPara="1" rIns="140175" wrap="square" tIns="140175">
            <a:normAutofit/>
          </a:bodyPr>
          <a:lstStyle>
            <a:lvl1pPr lvl="0">
              <a:buNone/>
              <a:defRPr sz="1533"/>
            </a:lvl1pPr>
            <a:lvl2pPr lvl="1">
              <a:buNone/>
              <a:defRPr sz="1533"/>
            </a:lvl2pPr>
            <a:lvl3pPr lvl="2">
              <a:buNone/>
              <a:defRPr sz="1533"/>
            </a:lvl3pPr>
            <a:lvl4pPr lvl="3">
              <a:buNone/>
              <a:defRPr sz="1533"/>
            </a:lvl4pPr>
            <a:lvl5pPr lvl="4">
              <a:buNone/>
              <a:defRPr sz="1533"/>
            </a:lvl5pPr>
            <a:lvl6pPr lvl="5">
              <a:buNone/>
              <a:defRPr sz="1533"/>
            </a:lvl6pPr>
            <a:lvl7pPr lvl="6">
              <a:buNone/>
              <a:defRPr sz="1533"/>
            </a:lvl7pPr>
            <a:lvl8pPr lvl="7">
              <a:buNone/>
              <a:defRPr sz="1533"/>
            </a:lvl8pPr>
            <a:lvl9pPr lvl="8">
              <a:buNone/>
              <a:defRPr sz="15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6858000" y="-200"/>
            <a:ext cx="6858000" cy="8229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40175" lIns="140175" spcFirstLastPara="1" rIns="140175" wrap="square" tIns="140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398250" y="1973080"/>
            <a:ext cx="6067800" cy="2371800"/>
          </a:xfrm>
          <a:prstGeom prst="rect">
            <a:avLst/>
          </a:prstGeom>
        </p:spPr>
        <p:txBody>
          <a:bodyPr anchorCtr="0" anchor="b" bIns="140175" lIns="140175" spcFirstLastPara="1" rIns="140175" wrap="square" tIns="1401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440"/>
              <a:buNone/>
              <a:defRPr sz="6440"/>
            </a:lvl1pPr>
            <a:lvl2pPr lvl="1" algn="ctr">
              <a:spcBef>
                <a:spcPts val="0"/>
              </a:spcBef>
              <a:spcAft>
                <a:spcPts val="0"/>
              </a:spcAft>
              <a:buSzPts val="6440"/>
              <a:buNone/>
              <a:defRPr sz="6440"/>
            </a:lvl2pPr>
            <a:lvl3pPr lvl="2" algn="ctr">
              <a:spcBef>
                <a:spcPts val="0"/>
              </a:spcBef>
              <a:spcAft>
                <a:spcPts val="0"/>
              </a:spcAft>
              <a:buSzPts val="6440"/>
              <a:buNone/>
              <a:defRPr sz="6440"/>
            </a:lvl3pPr>
            <a:lvl4pPr lvl="3" algn="ctr">
              <a:spcBef>
                <a:spcPts val="0"/>
              </a:spcBef>
              <a:spcAft>
                <a:spcPts val="0"/>
              </a:spcAft>
              <a:buSzPts val="6440"/>
              <a:buNone/>
              <a:defRPr sz="6440"/>
            </a:lvl4pPr>
            <a:lvl5pPr lvl="4" algn="ctr">
              <a:spcBef>
                <a:spcPts val="0"/>
              </a:spcBef>
              <a:spcAft>
                <a:spcPts val="0"/>
              </a:spcAft>
              <a:buSzPts val="6440"/>
              <a:buNone/>
              <a:defRPr sz="6440"/>
            </a:lvl5pPr>
            <a:lvl6pPr lvl="5" algn="ctr">
              <a:spcBef>
                <a:spcPts val="0"/>
              </a:spcBef>
              <a:spcAft>
                <a:spcPts val="0"/>
              </a:spcAft>
              <a:buSzPts val="6440"/>
              <a:buNone/>
              <a:defRPr sz="6440"/>
            </a:lvl6pPr>
            <a:lvl7pPr lvl="6" algn="ctr">
              <a:spcBef>
                <a:spcPts val="0"/>
              </a:spcBef>
              <a:spcAft>
                <a:spcPts val="0"/>
              </a:spcAft>
              <a:buSzPts val="6440"/>
              <a:buNone/>
              <a:defRPr sz="6440"/>
            </a:lvl7pPr>
            <a:lvl8pPr lvl="7" algn="ctr">
              <a:spcBef>
                <a:spcPts val="0"/>
              </a:spcBef>
              <a:spcAft>
                <a:spcPts val="0"/>
              </a:spcAft>
              <a:buSzPts val="6440"/>
              <a:buNone/>
              <a:defRPr sz="6440"/>
            </a:lvl8pPr>
            <a:lvl9pPr lvl="8" algn="ctr">
              <a:spcBef>
                <a:spcPts val="0"/>
              </a:spcBef>
              <a:spcAft>
                <a:spcPts val="0"/>
              </a:spcAft>
              <a:buSzPts val="6440"/>
              <a:buNone/>
              <a:defRPr sz="644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398250" y="4484920"/>
            <a:ext cx="6067800" cy="1976100"/>
          </a:xfrm>
          <a:prstGeom prst="rect">
            <a:avLst/>
          </a:prstGeom>
        </p:spPr>
        <p:txBody>
          <a:bodyPr anchorCtr="0" anchor="t" bIns="140175" lIns="140175" spcFirstLastPara="1" rIns="140175" wrap="square" tIns="14017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20"/>
              <a:buNone/>
              <a:defRPr sz="322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20"/>
              <a:buNone/>
              <a:defRPr sz="322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20"/>
              <a:buNone/>
              <a:defRPr sz="322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20"/>
              <a:buNone/>
              <a:defRPr sz="322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20"/>
              <a:buNone/>
              <a:defRPr sz="322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20"/>
              <a:buNone/>
              <a:defRPr sz="322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20"/>
              <a:buNone/>
              <a:defRPr sz="322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20"/>
              <a:buNone/>
              <a:defRPr sz="322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220"/>
              <a:buNone/>
              <a:defRPr sz="322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7409250" y="1158520"/>
            <a:ext cx="5755500" cy="5912100"/>
          </a:xfrm>
          <a:prstGeom prst="rect">
            <a:avLst/>
          </a:prstGeom>
        </p:spPr>
        <p:txBody>
          <a:bodyPr anchorCtr="0" anchor="ctr" bIns="140175" lIns="140175" spcFirstLastPara="1" rIns="140175" wrap="square" tIns="140175">
            <a:normAutofit/>
          </a:bodyPr>
          <a:lstStyle>
            <a:lvl1pPr indent="-403860" lvl="0" marL="457200">
              <a:spcBef>
                <a:spcPts val="0"/>
              </a:spcBef>
              <a:spcAft>
                <a:spcPts val="0"/>
              </a:spcAft>
              <a:buSzPts val="2760"/>
              <a:buChar char="●"/>
              <a:defRPr sz="2760"/>
            </a:lvl1pPr>
            <a:lvl2pPr indent="-364913" lvl="1" marL="914400">
              <a:spcBef>
                <a:spcPts val="0"/>
              </a:spcBef>
              <a:spcAft>
                <a:spcPts val="0"/>
              </a:spcAft>
              <a:buSzPts val="2147"/>
              <a:buChar char="○"/>
              <a:defRPr sz="2146"/>
            </a:lvl2pPr>
            <a:lvl3pPr indent="-364913" lvl="2" marL="1371600">
              <a:spcBef>
                <a:spcPts val="0"/>
              </a:spcBef>
              <a:spcAft>
                <a:spcPts val="0"/>
              </a:spcAft>
              <a:buSzPts val="2147"/>
              <a:buChar char="■"/>
              <a:defRPr sz="2146"/>
            </a:lvl3pPr>
            <a:lvl4pPr indent="-364913" lvl="3" marL="1828800">
              <a:spcBef>
                <a:spcPts val="0"/>
              </a:spcBef>
              <a:spcAft>
                <a:spcPts val="0"/>
              </a:spcAft>
              <a:buSzPts val="2147"/>
              <a:buChar char="●"/>
              <a:defRPr sz="2146"/>
            </a:lvl4pPr>
            <a:lvl5pPr indent="-364913" lvl="4" marL="2286000">
              <a:spcBef>
                <a:spcPts val="0"/>
              </a:spcBef>
              <a:spcAft>
                <a:spcPts val="0"/>
              </a:spcAft>
              <a:buSzPts val="2147"/>
              <a:buChar char="○"/>
              <a:defRPr sz="2146"/>
            </a:lvl5pPr>
            <a:lvl6pPr indent="-364913" lvl="5" marL="2743200">
              <a:spcBef>
                <a:spcPts val="0"/>
              </a:spcBef>
              <a:spcAft>
                <a:spcPts val="0"/>
              </a:spcAft>
              <a:buSzPts val="2147"/>
              <a:buChar char="■"/>
              <a:defRPr sz="2146"/>
            </a:lvl6pPr>
            <a:lvl7pPr indent="-364913" lvl="6" marL="3200400">
              <a:spcBef>
                <a:spcPts val="0"/>
              </a:spcBef>
              <a:spcAft>
                <a:spcPts val="0"/>
              </a:spcAft>
              <a:buSzPts val="2147"/>
              <a:buChar char="●"/>
              <a:defRPr sz="2146"/>
            </a:lvl7pPr>
            <a:lvl8pPr indent="-364913" lvl="7" marL="3657600">
              <a:spcBef>
                <a:spcPts val="0"/>
              </a:spcBef>
              <a:spcAft>
                <a:spcPts val="0"/>
              </a:spcAft>
              <a:buSzPts val="2147"/>
              <a:buChar char="○"/>
              <a:defRPr sz="2146"/>
            </a:lvl8pPr>
            <a:lvl9pPr indent="-364913" lvl="8" marL="4114800">
              <a:spcBef>
                <a:spcPts val="0"/>
              </a:spcBef>
              <a:spcAft>
                <a:spcPts val="0"/>
              </a:spcAft>
              <a:buSzPts val="2147"/>
              <a:buChar char="■"/>
              <a:defRPr sz="2146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12708687" y="7461147"/>
            <a:ext cx="822900" cy="629700"/>
          </a:xfrm>
          <a:prstGeom prst="rect">
            <a:avLst/>
          </a:prstGeom>
        </p:spPr>
        <p:txBody>
          <a:bodyPr anchorCtr="0" anchor="ctr" bIns="140175" lIns="140175" spcFirstLastPara="1" rIns="140175" wrap="square" tIns="140175">
            <a:normAutofit/>
          </a:bodyPr>
          <a:lstStyle>
            <a:lvl1pPr lvl="0">
              <a:buNone/>
              <a:defRPr sz="1533"/>
            </a:lvl1pPr>
            <a:lvl2pPr lvl="1">
              <a:buNone/>
              <a:defRPr sz="1533"/>
            </a:lvl2pPr>
            <a:lvl3pPr lvl="2">
              <a:buNone/>
              <a:defRPr sz="1533"/>
            </a:lvl3pPr>
            <a:lvl4pPr lvl="3">
              <a:buNone/>
              <a:defRPr sz="1533"/>
            </a:lvl4pPr>
            <a:lvl5pPr lvl="4">
              <a:buNone/>
              <a:defRPr sz="1533"/>
            </a:lvl5pPr>
            <a:lvl6pPr lvl="5">
              <a:buNone/>
              <a:defRPr sz="1533"/>
            </a:lvl6pPr>
            <a:lvl7pPr lvl="6">
              <a:buNone/>
              <a:defRPr sz="1533"/>
            </a:lvl7pPr>
            <a:lvl8pPr lvl="7">
              <a:buNone/>
              <a:defRPr sz="1533"/>
            </a:lvl8pPr>
            <a:lvl9pPr lvl="8">
              <a:buNone/>
              <a:defRPr sz="15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467550" y="6768920"/>
            <a:ext cx="8998200" cy="968100"/>
          </a:xfrm>
          <a:prstGeom prst="rect">
            <a:avLst/>
          </a:prstGeom>
        </p:spPr>
        <p:txBody>
          <a:bodyPr anchorCtr="0" anchor="ctr" bIns="140175" lIns="140175" spcFirstLastPara="1" rIns="140175" wrap="square" tIns="14017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760"/>
              <a:buNone/>
              <a:defRPr sz="2760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12708687" y="7461147"/>
            <a:ext cx="822900" cy="629700"/>
          </a:xfrm>
          <a:prstGeom prst="rect">
            <a:avLst/>
          </a:prstGeom>
        </p:spPr>
        <p:txBody>
          <a:bodyPr anchorCtr="0" anchor="ctr" bIns="140175" lIns="140175" spcFirstLastPara="1" rIns="140175" wrap="square" tIns="140175">
            <a:normAutofit/>
          </a:bodyPr>
          <a:lstStyle>
            <a:lvl1pPr lvl="0">
              <a:buNone/>
              <a:defRPr sz="1533"/>
            </a:lvl1pPr>
            <a:lvl2pPr lvl="1">
              <a:buNone/>
              <a:defRPr sz="1533"/>
            </a:lvl2pPr>
            <a:lvl3pPr lvl="2">
              <a:buNone/>
              <a:defRPr sz="1533"/>
            </a:lvl3pPr>
            <a:lvl4pPr lvl="3">
              <a:buNone/>
              <a:defRPr sz="1533"/>
            </a:lvl4pPr>
            <a:lvl5pPr lvl="4">
              <a:buNone/>
              <a:defRPr sz="1533"/>
            </a:lvl5pPr>
            <a:lvl6pPr lvl="5">
              <a:buNone/>
              <a:defRPr sz="1533"/>
            </a:lvl6pPr>
            <a:lvl7pPr lvl="6">
              <a:buNone/>
              <a:defRPr sz="1533"/>
            </a:lvl7pPr>
            <a:lvl8pPr lvl="7">
              <a:buNone/>
              <a:defRPr sz="1533"/>
            </a:lvl8pPr>
            <a:lvl9pPr lvl="8">
              <a:buNone/>
              <a:defRPr sz="15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467550" y="1769800"/>
            <a:ext cx="12780900" cy="3141600"/>
          </a:xfrm>
          <a:prstGeom prst="rect">
            <a:avLst/>
          </a:prstGeom>
        </p:spPr>
        <p:txBody>
          <a:bodyPr anchorCtr="0" anchor="b" bIns="140175" lIns="140175" spcFirstLastPara="1" rIns="140175" wrap="square" tIns="1401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400"/>
              <a:buNone/>
              <a:defRPr sz="18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8400"/>
              <a:buNone/>
              <a:defRPr sz="18400"/>
            </a:lvl2pPr>
            <a:lvl3pPr lvl="2" algn="ctr">
              <a:spcBef>
                <a:spcPts val="0"/>
              </a:spcBef>
              <a:spcAft>
                <a:spcPts val="0"/>
              </a:spcAft>
              <a:buSzPts val="18400"/>
              <a:buNone/>
              <a:defRPr sz="18400"/>
            </a:lvl3pPr>
            <a:lvl4pPr lvl="3" algn="ctr">
              <a:spcBef>
                <a:spcPts val="0"/>
              </a:spcBef>
              <a:spcAft>
                <a:spcPts val="0"/>
              </a:spcAft>
              <a:buSzPts val="18400"/>
              <a:buNone/>
              <a:defRPr sz="18400"/>
            </a:lvl4pPr>
            <a:lvl5pPr lvl="4" algn="ctr">
              <a:spcBef>
                <a:spcPts val="0"/>
              </a:spcBef>
              <a:spcAft>
                <a:spcPts val="0"/>
              </a:spcAft>
              <a:buSzPts val="18400"/>
              <a:buNone/>
              <a:defRPr sz="18400"/>
            </a:lvl5pPr>
            <a:lvl6pPr lvl="5" algn="ctr">
              <a:spcBef>
                <a:spcPts val="0"/>
              </a:spcBef>
              <a:spcAft>
                <a:spcPts val="0"/>
              </a:spcAft>
              <a:buSzPts val="18400"/>
              <a:buNone/>
              <a:defRPr sz="18400"/>
            </a:lvl6pPr>
            <a:lvl7pPr lvl="6" algn="ctr">
              <a:spcBef>
                <a:spcPts val="0"/>
              </a:spcBef>
              <a:spcAft>
                <a:spcPts val="0"/>
              </a:spcAft>
              <a:buSzPts val="18400"/>
              <a:buNone/>
              <a:defRPr sz="18400"/>
            </a:lvl7pPr>
            <a:lvl8pPr lvl="7" algn="ctr">
              <a:spcBef>
                <a:spcPts val="0"/>
              </a:spcBef>
              <a:spcAft>
                <a:spcPts val="0"/>
              </a:spcAft>
              <a:buSzPts val="18400"/>
              <a:buNone/>
              <a:defRPr sz="18400"/>
            </a:lvl8pPr>
            <a:lvl9pPr lvl="8" algn="ctr">
              <a:spcBef>
                <a:spcPts val="0"/>
              </a:spcBef>
              <a:spcAft>
                <a:spcPts val="0"/>
              </a:spcAft>
              <a:buSzPts val="18400"/>
              <a:buNone/>
              <a:defRPr sz="184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467550" y="5043560"/>
            <a:ext cx="12780900" cy="2081400"/>
          </a:xfrm>
          <a:prstGeom prst="rect">
            <a:avLst/>
          </a:prstGeom>
        </p:spPr>
        <p:txBody>
          <a:bodyPr anchorCtr="0" anchor="t" bIns="140175" lIns="140175" spcFirstLastPara="1" rIns="140175" wrap="square" tIns="140175">
            <a:normAutofit/>
          </a:bodyPr>
          <a:lstStyle>
            <a:lvl1pPr indent="-403860" lvl="0" marL="457200" algn="ctr">
              <a:spcBef>
                <a:spcPts val="0"/>
              </a:spcBef>
              <a:spcAft>
                <a:spcPts val="0"/>
              </a:spcAft>
              <a:buSzPts val="2760"/>
              <a:buChar char="●"/>
              <a:defRPr sz="2760"/>
            </a:lvl1pPr>
            <a:lvl2pPr indent="-364913" lvl="1" marL="914400" algn="ctr">
              <a:spcBef>
                <a:spcPts val="0"/>
              </a:spcBef>
              <a:spcAft>
                <a:spcPts val="0"/>
              </a:spcAft>
              <a:buSzPts val="2147"/>
              <a:buChar char="○"/>
              <a:defRPr sz="2146"/>
            </a:lvl2pPr>
            <a:lvl3pPr indent="-364913" lvl="2" marL="1371600" algn="ctr">
              <a:spcBef>
                <a:spcPts val="0"/>
              </a:spcBef>
              <a:spcAft>
                <a:spcPts val="0"/>
              </a:spcAft>
              <a:buSzPts val="2147"/>
              <a:buChar char="■"/>
              <a:defRPr sz="2146"/>
            </a:lvl3pPr>
            <a:lvl4pPr indent="-364913" lvl="3" marL="1828800" algn="ctr">
              <a:spcBef>
                <a:spcPts val="0"/>
              </a:spcBef>
              <a:spcAft>
                <a:spcPts val="0"/>
              </a:spcAft>
              <a:buSzPts val="2147"/>
              <a:buChar char="●"/>
              <a:defRPr sz="2146"/>
            </a:lvl4pPr>
            <a:lvl5pPr indent="-364913" lvl="4" marL="2286000" algn="ctr">
              <a:spcBef>
                <a:spcPts val="0"/>
              </a:spcBef>
              <a:spcAft>
                <a:spcPts val="0"/>
              </a:spcAft>
              <a:buSzPts val="2147"/>
              <a:buChar char="○"/>
              <a:defRPr sz="2146"/>
            </a:lvl5pPr>
            <a:lvl6pPr indent="-364913" lvl="5" marL="2743200" algn="ctr">
              <a:spcBef>
                <a:spcPts val="0"/>
              </a:spcBef>
              <a:spcAft>
                <a:spcPts val="0"/>
              </a:spcAft>
              <a:buSzPts val="2147"/>
              <a:buChar char="■"/>
              <a:defRPr sz="2146"/>
            </a:lvl6pPr>
            <a:lvl7pPr indent="-364913" lvl="6" marL="3200400" algn="ctr">
              <a:spcBef>
                <a:spcPts val="0"/>
              </a:spcBef>
              <a:spcAft>
                <a:spcPts val="0"/>
              </a:spcAft>
              <a:buSzPts val="2147"/>
              <a:buChar char="●"/>
              <a:defRPr sz="2146"/>
            </a:lvl7pPr>
            <a:lvl8pPr indent="-364913" lvl="7" marL="3657600" algn="ctr">
              <a:spcBef>
                <a:spcPts val="0"/>
              </a:spcBef>
              <a:spcAft>
                <a:spcPts val="0"/>
              </a:spcAft>
              <a:buSzPts val="2147"/>
              <a:buChar char="○"/>
              <a:defRPr sz="2146"/>
            </a:lvl8pPr>
            <a:lvl9pPr indent="-364913" lvl="8" marL="4114800" algn="ctr">
              <a:spcBef>
                <a:spcPts val="0"/>
              </a:spcBef>
              <a:spcAft>
                <a:spcPts val="0"/>
              </a:spcAft>
              <a:buSzPts val="2147"/>
              <a:buChar char="■"/>
              <a:defRPr sz="2146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12708687" y="7461147"/>
            <a:ext cx="822900" cy="629700"/>
          </a:xfrm>
          <a:prstGeom prst="rect">
            <a:avLst/>
          </a:prstGeom>
        </p:spPr>
        <p:txBody>
          <a:bodyPr anchorCtr="0" anchor="ctr" bIns="140175" lIns="140175" spcFirstLastPara="1" rIns="140175" wrap="square" tIns="140175">
            <a:normAutofit/>
          </a:bodyPr>
          <a:lstStyle>
            <a:lvl1pPr lvl="0">
              <a:buNone/>
              <a:defRPr sz="1533"/>
            </a:lvl1pPr>
            <a:lvl2pPr lvl="1">
              <a:buNone/>
              <a:defRPr sz="1533"/>
            </a:lvl2pPr>
            <a:lvl3pPr lvl="2">
              <a:buNone/>
              <a:defRPr sz="1533"/>
            </a:lvl3pPr>
            <a:lvl4pPr lvl="3">
              <a:buNone/>
              <a:defRPr sz="1533"/>
            </a:lvl4pPr>
            <a:lvl5pPr lvl="4">
              <a:buNone/>
              <a:defRPr sz="1533"/>
            </a:lvl5pPr>
            <a:lvl6pPr lvl="5">
              <a:buNone/>
              <a:defRPr sz="1533"/>
            </a:lvl6pPr>
            <a:lvl7pPr lvl="6">
              <a:buNone/>
              <a:defRPr sz="1533"/>
            </a:lvl7pPr>
            <a:lvl8pPr lvl="7">
              <a:buNone/>
              <a:defRPr sz="1533"/>
            </a:lvl8pPr>
            <a:lvl9pPr lvl="8">
              <a:buNone/>
              <a:defRPr sz="15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12708687" y="7461147"/>
            <a:ext cx="822900" cy="629700"/>
          </a:xfrm>
          <a:prstGeom prst="rect">
            <a:avLst/>
          </a:prstGeom>
        </p:spPr>
        <p:txBody>
          <a:bodyPr anchorCtr="0" anchor="ctr" bIns="140175" lIns="140175" spcFirstLastPara="1" rIns="140175" wrap="square" tIns="140175">
            <a:normAutofit/>
          </a:bodyPr>
          <a:lstStyle>
            <a:lvl1pPr lvl="0">
              <a:buNone/>
              <a:defRPr sz="1533"/>
            </a:lvl1pPr>
            <a:lvl2pPr lvl="1">
              <a:buNone/>
              <a:defRPr sz="1533"/>
            </a:lvl2pPr>
            <a:lvl3pPr lvl="2">
              <a:buNone/>
              <a:defRPr sz="1533"/>
            </a:lvl3pPr>
            <a:lvl4pPr lvl="3">
              <a:buNone/>
              <a:defRPr sz="1533"/>
            </a:lvl4pPr>
            <a:lvl5pPr lvl="4">
              <a:buNone/>
              <a:defRPr sz="1533"/>
            </a:lvl5pPr>
            <a:lvl6pPr lvl="5">
              <a:buNone/>
              <a:defRPr sz="1533"/>
            </a:lvl6pPr>
            <a:lvl7pPr lvl="6">
              <a:buNone/>
              <a:defRPr sz="1533"/>
            </a:lvl7pPr>
            <a:lvl8pPr lvl="7">
              <a:buNone/>
              <a:defRPr sz="1533"/>
            </a:lvl8pPr>
            <a:lvl9pPr lvl="8">
              <a:buNone/>
              <a:defRPr sz="1533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67550" y="712040"/>
            <a:ext cx="12780900" cy="9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140175" lIns="140175" spcFirstLastPara="1" rIns="140175" wrap="square" tIns="1401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93"/>
              <a:buNone/>
              <a:defRPr sz="4293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93"/>
              <a:buNone/>
              <a:defRPr sz="4293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93"/>
              <a:buNone/>
              <a:defRPr sz="4293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93"/>
              <a:buNone/>
              <a:defRPr sz="4293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93"/>
              <a:buNone/>
              <a:defRPr sz="4293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93"/>
              <a:buNone/>
              <a:defRPr sz="4293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93"/>
              <a:buNone/>
              <a:defRPr sz="4293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93"/>
              <a:buNone/>
              <a:defRPr sz="4293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93"/>
              <a:buNone/>
              <a:defRPr sz="4293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67550" y="1843960"/>
            <a:ext cx="12780900" cy="54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140175" lIns="140175" spcFirstLastPara="1" rIns="140175" wrap="square" tIns="140175">
            <a:normAutofit/>
          </a:bodyPr>
          <a:lstStyle>
            <a:lvl1pPr indent="-40386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60"/>
              <a:buChar char="●"/>
              <a:defRPr sz="2760">
                <a:solidFill>
                  <a:schemeClr val="dk2"/>
                </a:solidFill>
              </a:defRPr>
            </a:lvl1pPr>
            <a:lvl2pPr indent="-364913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47"/>
              <a:buChar char="○"/>
              <a:defRPr sz="2146">
                <a:solidFill>
                  <a:schemeClr val="dk2"/>
                </a:solidFill>
              </a:defRPr>
            </a:lvl2pPr>
            <a:lvl3pPr indent="-364913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47"/>
              <a:buChar char="■"/>
              <a:defRPr sz="2146">
                <a:solidFill>
                  <a:schemeClr val="dk2"/>
                </a:solidFill>
              </a:defRPr>
            </a:lvl3pPr>
            <a:lvl4pPr indent="-364913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47"/>
              <a:buChar char="●"/>
              <a:defRPr sz="2146">
                <a:solidFill>
                  <a:schemeClr val="dk2"/>
                </a:solidFill>
              </a:defRPr>
            </a:lvl4pPr>
            <a:lvl5pPr indent="-364913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47"/>
              <a:buChar char="○"/>
              <a:defRPr sz="2146">
                <a:solidFill>
                  <a:schemeClr val="dk2"/>
                </a:solidFill>
              </a:defRPr>
            </a:lvl5pPr>
            <a:lvl6pPr indent="-364913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47"/>
              <a:buChar char="■"/>
              <a:defRPr sz="2146">
                <a:solidFill>
                  <a:schemeClr val="dk2"/>
                </a:solidFill>
              </a:defRPr>
            </a:lvl6pPr>
            <a:lvl7pPr indent="-364913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47"/>
              <a:buChar char="●"/>
              <a:defRPr sz="2146">
                <a:solidFill>
                  <a:schemeClr val="dk2"/>
                </a:solidFill>
              </a:defRPr>
            </a:lvl7pPr>
            <a:lvl8pPr indent="-364913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47"/>
              <a:buChar char="○"/>
              <a:defRPr sz="2146">
                <a:solidFill>
                  <a:schemeClr val="dk2"/>
                </a:solidFill>
              </a:defRPr>
            </a:lvl8pPr>
            <a:lvl9pPr indent="-364913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47"/>
              <a:buChar char="■"/>
              <a:defRPr sz="2146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12708687" y="7461147"/>
            <a:ext cx="822900" cy="62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40175" lIns="140175" spcFirstLastPara="1" rIns="140175" wrap="square" tIns="140175">
            <a:normAutofit/>
          </a:bodyPr>
          <a:lstStyle>
            <a:lvl1pPr lvl="0" algn="r">
              <a:buNone/>
              <a:defRPr sz="1533">
                <a:solidFill>
                  <a:schemeClr val="dk2"/>
                </a:solidFill>
              </a:defRPr>
            </a:lvl1pPr>
            <a:lvl2pPr lvl="1" algn="r">
              <a:buNone/>
              <a:defRPr sz="1533">
                <a:solidFill>
                  <a:schemeClr val="dk2"/>
                </a:solidFill>
              </a:defRPr>
            </a:lvl2pPr>
            <a:lvl3pPr lvl="2" algn="r">
              <a:buNone/>
              <a:defRPr sz="1533">
                <a:solidFill>
                  <a:schemeClr val="dk2"/>
                </a:solidFill>
              </a:defRPr>
            </a:lvl3pPr>
            <a:lvl4pPr lvl="3" algn="r">
              <a:buNone/>
              <a:defRPr sz="1533">
                <a:solidFill>
                  <a:schemeClr val="dk2"/>
                </a:solidFill>
              </a:defRPr>
            </a:lvl4pPr>
            <a:lvl5pPr lvl="4" algn="r">
              <a:buNone/>
              <a:defRPr sz="1533">
                <a:solidFill>
                  <a:schemeClr val="dk2"/>
                </a:solidFill>
              </a:defRPr>
            </a:lvl5pPr>
            <a:lvl6pPr lvl="5" algn="r">
              <a:buNone/>
              <a:defRPr sz="1533">
                <a:solidFill>
                  <a:schemeClr val="dk2"/>
                </a:solidFill>
              </a:defRPr>
            </a:lvl6pPr>
            <a:lvl7pPr lvl="6" algn="r">
              <a:buNone/>
              <a:defRPr sz="1533">
                <a:solidFill>
                  <a:schemeClr val="dk2"/>
                </a:solidFill>
              </a:defRPr>
            </a:lvl7pPr>
            <a:lvl8pPr lvl="7" algn="r">
              <a:buNone/>
              <a:defRPr sz="1533">
                <a:solidFill>
                  <a:schemeClr val="dk2"/>
                </a:solidFill>
              </a:defRPr>
            </a:lvl8pPr>
            <a:lvl9pPr lvl="8" algn="r">
              <a:buNone/>
              <a:defRPr sz="1533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6.jpg"/><Relationship Id="rId10" Type="http://schemas.openxmlformats.org/officeDocument/2006/relationships/image" Target="../media/image5.png"/><Relationship Id="rId13" Type="http://schemas.openxmlformats.org/officeDocument/2006/relationships/image" Target="../media/image2.png"/><Relationship Id="rId1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omments" Target="../comments/comment1.xml"/><Relationship Id="rId4" Type="http://schemas.openxmlformats.org/officeDocument/2006/relationships/image" Target="../media/image13.png"/><Relationship Id="rId9" Type="http://schemas.openxmlformats.org/officeDocument/2006/relationships/image" Target="../media/image4.png"/><Relationship Id="rId5" Type="http://schemas.openxmlformats.org/officeDocument/2006/relationships/image" Target="../media/image3.jpg"/><Relationship Id="rId6" Type="http://schemas.openxmlformats.org/officeDocument/2006/relationships/image" Target="../media/image8.png"/><Relationship Id="rId7" Type="http://schemas.openxmlformats.org/officeDocument/2006/relationships/image" Target="../media/image1.png"/><Relationship Id="rId8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1" Type="http://schemas.openxmlformats.org/officeDocument/2006/relationships/image" Target="../media/image9.png"/><Relationship Id="rId10" Type="http://schemas.openxmlformats.org/officeDocument/2006/relationships/image" Target="../media/image1.png"/><Relationship Id="rId1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comments" Target="../comments/comment2.xml"/><Relationship Id="rId4" Type="http://schemas.openxmlformats.org/officeDocument/2006/relationships/image" Target="../media/image6.jpg"/><Relationship Id="rId9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13.png"/><Relationship Id="rId8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9.png"/><Relationship Id="rId10" Type="http://schemas.openxmlformats.org/officeDocument/2006/relationships/image" Target="../media/image1.png"/><Relationship Id="rId1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comments" Target="../comments/comment3.xml"/><Relationship Id="rId4" Type="http://schemas.openxmlformats.org/officeDocument/2006/relationships/image" Target="../media/image2.png"/><Relationship Id="rId9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6.jpg"/><Relationship Id="rId7" Type="http://schemas.openxmlformats.org/officeDocument/2006/relationships/image" Target="../media/image13.png"/><Relationship Id="rId8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4.png"/><Relationship Id="rId10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2.png"/><Relationship Id="rId9" Type="http://schemas.openxmlformats.org/officeDocument/2006/relationships/image" Target="../media/image1.png"/><Relationship Id="rId5" Type="http://schemas.openxmlformats.org/officeDocument/2006/relationships/image" Target="../media/image6.jpg"/><Relationship Id="rId6" Type="http://schemas.openxmlformats.org/officeDocument/2006/relationships/image" Target="../media/image13.png"/><Relationship Id="rId7" Type="http://schemas.openxmlformats.org/officeDocument/2006/relationships/image" Target="../media/image3.jpg"/><Relationship Id="rId8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1" Type="http://schemas.openxmlformats.org/officeDocument/2006/relationships/image" Target="../media/image9.png"/><Relationship Id="rId10" Type="http://schemas.openxmlformats.org/officeDocument/2006/relationships/image" Target="../media/image1.png"/><Relationship Id="rId1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omments" Target="../comments/comment4.xml"/><Relationship Id="rId4" Type="http://schemas.openxmlformats.org/officeDocument/2006/relationships/image" Target="../media/image5.png"/><Relationship Id="rId9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6.jpg"/><Relationship Id="rId7" Type="http://schemas.openxmlformats.org/officeDocument/2006/relationships/image" Target="../media/image13.png"/><Relationship Id="rId8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1" Type="http://schemas.openxmlformats.org/officeDocument/2006/relationships/image" Target="../media/image8.png"/><Relationship Id="rId10" Type="http://schemas.openxmlformats.org/officeDocument/2006/relationships/image" Target="../media/image1.png"/><Relationship Id="rId13" Type="http://schemas.openxmlformats.org/officeDocument/2006/relationships/image" Target="../media/image2.png"/><Relationship Id="rId1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omments" Target="../comments/comment5.xml"/><Relationship Id="rId4" Type="http://schemas.openxmlformats.org/officeDocument/2006/relationships/image" Target="../media/image11.png"/><Relationship Id="rId9" Type="http://schemas.openxmlformats.org/officeDocument/2006/relationships/image" Target="../media/image3.jpg"/><Relationship Id="rId15" Type="http://schemas.openxmlformats.org/officeDocument/2006/relationships/image" Target="../media/image12.png"/><Relationship Id="rId14" Type="http://schemas.openxmlformats.org/officeDocument/2006/relationships/image" Target="../media/image14.png"/><Relationship Id="rId5" Type="http://schemas.openxmlformats.org/officeDocument/2006/relationships/image" Target="../media/image5.png"/><Relationship Id="rId6" Type="http://schemas.openxmlformats.org/officeDocument/2006/relationships/image" Target="../media/image6.jpg"/><Relationship Id="rId7" Type="http://schemas.openxmlformats.org/officeDocument/2006/relationships/image" Target="../media/image10.png"/><Relationship Id="rId8" Type="http://schemas.openxmlformats.org/officeDocument/2006/relationships/image" Target="../media/image13.png"/></Relationships>
</file>

<file path=ppt/slides/_rels/slide7.xml.rels><?xml version="1.0" encoding="UTF-8" standalone="yes"?><Relationships xmlns="http://schemas.openxmlformats.org/package/2006/relationships"><Relationship Id="rId11" Type="http://schemas.openxmlformats.org/officeDocument/2006/relationships/image" Target="../media/image7.png"/><Relationship Id="rId10" Type="http://schemas.openxmlformats.org/officeDocument/2006/relationships/image" Target="../media/image2.png"/><Relationship Id="rId13" Type="http://schemas.openxmlformats.org/officeDocument/2006/relationships/image" Target="../media/image1.png"/><Relationship Id="rId1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comments" Target="../comments/comment6.xml"/><Relationship Id="rId4" Type="http://schemas.openxmlformats.org/officeDocument/2006/relationships/image" Target="../media/image6.jpg"/><Relationship Id="rId9" Type="http://schemas.openxmlformats.org/officeDocument/2006/relationships/image" Target="../media/image10.png"/><Relationship Id="rId5" Type="http://schemas.openxmlformats.org/officeDocument/2006/relationships/image" Target="../media/image15.png"/><Relationship Id="rId6" Type="http://schemas.openxmlformats.org/officeDocument/2006/relationships/image" Target="../media/image18.png"/><Relationship Id="rId7" Type="http://schemas.openxmlformats.org/officeDocument/2006/relationships/image" Target="../media/image5.png"/><Relationship Id="rId8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8.png"/><Relationship Id="rId10" Type="http://schemas.openxmlformats.org/officeDocument/2006/relationships/image" Target="../media/image1.png"/><Relationship Id="rId13" Type="http://schemas.openxmlformats.org/officeDocument/2006/relationships/image" Target="../media/image2.png"/><Relationship Id="rId1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7.xml"/><Relationship Id="rId4" Type="http://schemas.openxmlformats.org/officeDocument/2006/relationships/image" Target="../media/image11.png"/><Relationship Id="rId9" Type="http://schemas.openxmlformats.org/officeDocument/2006/relationships/image" Target="../media/image3.jpg"/><Relationship Id="rId15" Type="http://schemas.openxmlformats.org/officeDocument/2006/relationships/image" Target="../media/image12.png"/><Relationship Id="rId14" Type="http://schemas.openxmlformats.org/officeDocument/2006/relationships/image" Target="../media/image14.png"/><Relationship Id="rId5" Type="http://schemas.openxmlformats.org/officeDocument/2006/relationships/image" Target="../media/image5.png"/><Relationship Id="rId6" Type="http://schemas.openxmlformats.org/officeDocument/2006/relationships/image" Target="../media/image6.jpg"/><Relationship Id="rId7" Type="http://schemas.openxmlformats.org/officeDocument/2006/relationships/image" Target="../media/image10.png"/><Relationship Id="rId8" Type="http://schemas.openxmlformats.org/officeDocument/2006/relationships/image" Target="../media/image13.png"/></Relationships>
</file>

<file path=ppt/slides/_rels/slide9.xml.rels><?xml version="1.0" encoding="UTF-8" standalone="yes"?><Relationships xmlns="http://schemas.openxmlformats.org/package/2006/relationships"><Relationship Id="rId11" Type="http://schemas.openxmlformats.org/officeDocument/2006/relationships/image" Target="../media/image3.jpg"/><Relationship Id="rId10" Type="http://schemas.openxmlformats.org/officeDocument/2006/relationships/image" Target="../media/image17.png"/><Relationship Id="rId13" Type="http://schemas.openxmlformats.org/officeDocument/2006/relationships/image" Target="../media/image12.png"/><Relationship Id="rId1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comments" Target="../comments/comment8.xml"/><Relationship Id="rId4" Type="http://schemas.openxmlformats.org/officeDocument/2006/relationships/image" Target="../media/image11.png"/><Relationship Id="rId9" Type="http://schemas.openxmlformats.org/officeDocument/2006/relationships/image" Target="../media/image2.png"/><Relationship Id="rId5" Type="http://schemas.openxmlformats.org/officeDocument/2006/relationships/image" Target="../media/image5.png"/><Relationship Id="rId6" Type="http://schemas.openxmlformats.org/officeDocument/2006/relationships/image" Target="../media/image6.jpg"/><Relationship Id="rId7" Type="http://schemas.openxmlformats.org/officeDocument/2006/relationships/image" Target="../media/image1.png"/><Relationship Id="rId8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1" Type="http://schemas.openxmlformats.org/officeDocument/2006/relationships/image" Target="../media/image2.png"/><Relationship Id="rId10" Type="http://schemas.openxmlformats.org/officeDocument/2006/relationships/image" Target="../media/image18.png"/><Relationship Id="rId1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.png"/><Relationship Id="rId5" Type="http://schemas.openxmlformats.org/officeDocument/2006/relationships/image" Target="../media/image6.jpg"/><Relationship Id="rId6" Type="http://schemas.openxmlformats.org/officeDocument/2006/relationships/image" Target="../media/image10.png"/><Relationship Id="rId7" Type="http://schemas.openxmlformats.org/officeDocument/2006/relationships/image" Target="../media/image17.png"/><Relationship Id="rId8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8.png"/><Relationship Id="rId10" Type="http://schemas.openxmlformats.org/officeDocument/2006/relationships/image" Target="../media/image1.png"/><Relationship Id="rId13" Type="http://schemas.openxmlformats.org/officeDocument/2006/relationships/image" Target="../media/image20.png"/><Relationship Id="rId1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comments" Target="../comments/comment9.xml"/><Relationship Id="rId4" Type="http://schemas.openxmlformats.org/officeDocument/2006/relationships/image" Target="../media/image11.png"/><Relationship Id="rId9" Type="http://schemas.openxmlformats.org/officeDocument/2006/relationships/image" Target="../media/image3.jpg"/><Relationship Id="rId15" Type="http://schemas.openxmlformats.org/officeDocument/2006/relationships/image" Target="../media/image2.png"/><Relationship Id="rId14" Type="http://schemas.openxmlformats.org/officeDocument/2006/relationships/image" Target="../media/image16.png"/><Relationship Id="rId5" Type="http://schemas.openxmlformats.org/officeDocument/2006/relationships/image" Target="../media/image5.png"/><Relationship Id="rId6" Type="http://schemas.openxmlformats.org/officeDocument/2006/relationships/image" Target="../media/image6.jpg"/><Relationship Id="rId7" Type="http://schemas.openxmlformats.org/officeDocument/2006/relationships/image" Target="../media/image10.png"/><Relationship Id="rId8" Type="http://schemas.openxmlformats.org/officeDocument/2006/relationships/image" Target="../media/image17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jpg"/><Relationship Id="rId4" Type="http://schemas.openxmlformats.org/officeDocument/2006/relationships/image" Target="../media/image5.png"/><Relationship Id="rId9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17.png"/><Relationship Id="rId7" Type="http://schemas.openxmlformats.org/officeDocument/2006/relationships/image" Target="../media/image3.jpg"/><Relationship Id="rId8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.png"/><Relationship Id="rId10" Type="http://schemas.openxmlformats.org/officeDocument/2006/relationships/image" Target="../media/image1.png"/><Relationship Id="rId1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comments" Target="../comments/comment10.xml"/><Relationship Id="rId4" Type="http://schemas.openxmlformats.org/officeDocument/2006/relationships/image" Target="../media/image6.jpg"/><Relationship Id="rId9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5.png"/><Relationship Id="rId7" Type="http://schemas.openxmlformats.org/officeDocument/2006/relationships/image" Target="../media/image17.png"/><Relationship Id="rId8" Type="http://schemas.openxmlformats.org/officeDocument/2006/relationships/image" Target="../media/image3.jp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11.png"/><Relationship Id="rId10" Type="http://schemas.openxmlformats.org/officeDocument/2006/relationships/image" Target="../media/image1.png"/><Relationship Id="rId1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comments" Target="../comments/comment11.xml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5" Type="http://schemas.openxmlformats.org/officeDocument/2006/relationships/image" Target="../media/image2.png"/><Relationship Id="rId6" Type="http://schemas.openxmlformats.org/officeDocument/2006/relationships/image" Target="../media/image6.jpg"/><Relationship Id="rId7" Type="http://schemas.openxmlformats.org/officeDocument/2006/relationships/image" Target="../media/image17.png"/><Relationship Id="rId8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3"/>
          <p:cNvGrpSpPr/>
          <p:nvPr/>
        </p:nvGrpSpPr>
        <p:grpSpPr>
          <a:xfrm>
            <a:off x="4340597" y="932880"/>
            <a:ext cx="9062816" cy="6768625"/>
            <a:chOff x="4340597" y="932880"/>
            <a:chExt cx="9062816" cy="6768625"/>
          </a:xfrm>
        </p:grpSpPr>
        <p:grpSp>
          <p:nvGrpSpPr>
            <p:cNvPr id="55" name="Google Shape;55;p13"/>
            <p:cNvGrpSpPr/>
            <p:nvPr/>
          </p:nvGrpSpPr>
          <p:grpSpPr>
            <a:xfrm>
              <a:off x="4340597" y="7083175"/>
              <a:ext cx="4557232" cy="618331"/>
              <a:chOff x="4268193" y="552116"/>
              <a:chExt cx="6213843" cy="697025"/>
            </a:xfrm>
          </p:grpSpPr>
          <p:sp>
            <p:nvSpPr>
              <p:cNvPr id="56" name="Google Shape;56;p13"/>
              <p:cNvSpPr/>
              <p:nvPr/>
            </p:nvSpPr>
            <p:spPr>
              <a:xfrm>
                <a:off x="6760562" y="609015"/>
                <a:ext cx="3546300" cy="255600"/>
              </a:xfrm>
              <a:prstGeom prst="roundRect">
                <a:avLst>
                  <a:gd fmla="val 16667" name="adj"/>
                </a:avLst>
              </a:prstGeom>
              <a:solidFill>
                <a:schemeClr val="lt2"/>
              </a:solidFill>
              <a:ln cap="flat" cmpd="sng" w="84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1100" lIns="81100" spcFirstLastPara="1" rIns="81100" wrap="square" tIns="811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41"/>
              </a:p>
            </p:txBody>
          </p:sp>
          <p:sp>
            <p:nvSpPr>
              <p:cNvPr id="57" name="Google Shape;57;p13"/>
              <p:cNvSpPr txBox="1"/>
              <p:nvPr/>
            </p:nvSpPr>
            <p:spPr>
              <a:xfrm>
                <a:off x="4268193" y="552116"/>
                <a:ext cx="2855100" cy="28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1100" lIns="81100" spcFirstLastPara="1" rIns="81100" wrap="square" tIns="811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86">
                    <a:solidFill>
                      <a:srgbClr val="B7B7B7"/>
                    </a:solidFill>
                  </a:rPr>
                  <a:t>CONSTRUCTION YEAR</a:t>
                </a:r>
                <a:endParaRPr b="1" sz="1186">
                  <a:solidFill>
                    <a:srgbClr val="B7B7B7"/>
                  </a:solidFill>
                </a:endParaRPr>
              </a:p>
            </p:txBody>
          </p:sp>
          <p:sp>
            <p:nvSpPr>
              <p:cNvPr id="58" name="Google Shape;58;p13"/>
              <p:cNvSpPr txBox="1"/>
              <p:nvPr/>
            </p:nvSpPr>
            <p:spPr>
              <a:xfrm>
                <a:off x="6732035" y="810841"/>
                <a:ext cx="37500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1100" lIns="81100" spcFirstLastPara="1" rIns="81100" wrap="square" tIns="811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20">
                    <a:solidFill>
                      <a:schemeClr val="dk2"/>
                    </a:solidFill>
                  </a:rPr>
                  <a:t>2020	2030	2040	2050	2060	2070</a:t>
                </a:r>
                <a:endParaRPr sz="620">
                  <a:solidFill>
                    <a:schemeClr val="dk2"/>
                  </a:solidFill>
                </a:endParaRPr>
              </a:p>
            </p:txBody>
          </p:sp>
          <p:sp>
            <p:nvSpPr>
              <p:cNvPr id="59" name="Google Shape;59;p13"/>
              <p:cNvSpPr/>
              <p:nvPr/>
            </p:nvSpPr>
            <p:spPr>
              <a:xfrm>
                <a:off x="6766092" y="605847"/>
                <a:ext cx="202200" cy="25560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 cap="flat" cmpd="sng" w="84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1100" lIns="81100" spcFirstLastPara="1" rIns="81100" wrap="square" tIns="811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41"/>
              </a:p>
            </p:txBody>
          </p:sp>
        </p:grpSp>
        <p:grpSp>
          <p:nvGrpSpPr>
            <p:cNvPr id="60" name="Google Shape;60;p13"/>
            <p:cNvGrpSpPr/>
            <p:nvPr/>
          </p:nvGrpSpPr>
          <p:grpSpPr>
            <a:xfrm>
              <a:off x="8869612" y="4172248"/>
              <a:ext cx="4405034" cy="2794775"/>
              <a:chOff x="9037729" y="4704523"/>
              <a:chExt cx="4405034" cy="2794775"/>
            </a:xfrm>
          </p:grpSpPr>
          <p:grpSp>
            <p:nvGrpSpPr>
              <p:cNvPr id="61" name="Google Shape;61;p13"/>
              <p:cNvGrpSpPr/>
              <p:nvPr/>
            </p:nvGrpSpPr>
            <p:grpSpPr>
              <a:xfrm>
                <a:off x="9037729" y="4704523"/>
                <a:ext cx="4405034" cy="2794775"/>
                <a:chOff x="9079752" y="3946051"/>
                <a:chExt cx="4405034" cy="2794775"/>
              </a:xfrm>
            </p:grpSpPr>
            <p:sp>
              <p:nvSpPr>
                <p:cNvPr id="62" name="Google Shape;62;p13"/>
                <p:cNvSpPr txBox="1"/>
                <p:nvPr/>
              </p:nvSpPr>
              <p:spPr>
                <a:xfrm>
                  <a:off x="9079752" y="3946051"/>
                  <a:ext cx="4073400" cy="37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73200" lIns="73200" spcFirstLastPara="1" rIns="73200" wrap="square" tIns="73200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481">
                      <a:solidFill>
                        <a:srgbClr val="666666"/>
                      </a:solidFill>
                    </a:rPr>
                    <a:t>PROJECTED MATERIAL AVAILABILITY</a:t>
                  </a:r>
                  <a:endParaRPr b="1" sz="360">
                    <a:solidFill>
                      <a:srgbClr val="666666"/>
                    </a:solidFill>
                  </a:endParaRPr>
                </a:p>
              </p:txBody>
            </p:sp>
            <p:sp>
              <p:nvSpPr>
                <p:cNvPr id="63" name="Google Shape;63;p13"/>
                <p:cNvSpPr/>
                <p:nvPr/>
              </p:nvSpPr>
              <p:spPr>
                <a:xfrm>
                  <a:off x="9148885" y="4259825"/>
                  <a:ext cx="4335900" cy="2481000"/>
                </a:xfrm>
                <a:prstGeom prst="rect">
                  <a:avLst/>
                </a:prstGeom>
                <a:noFill/>
                <a:ln cap="flat" cmpd="sng" w="76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73200" lIns="73200" spcFirstLastPara="1" rIns="73200" wrap="square" tIns="732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120"/>
                </a:p>
              </p:txBody>
            </p:sp>
            <p:pic>
              <p:nvPicPr>
                <p:cNvPr id="64" name="Google Shape;64;p13" title="Screenshot 2026-02-19 at 10.15.05 AM.png"/>
                <p:cNvPicPr preferRelativeResize="0"/>
                <p:nvPr/>
              </p:nvPicPr>
              <p:blipFill rotWithShape="1">
                <a:blip r:embed="rId4">
                  <a:alphaModFix/>
                </a:blip>
                <a:srcRect b="0" l="0" r="-281" t="0"/>
                <a:stretch/>
              </p:blipFill>
              <p:spPr>
                <a:xfrm>
                  <a:off x="9286250" y="4386900"/>
                  <a:ext cx="4073401" cy="2226850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99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pic>
          </p:grpSp>
          <p:pic>
            <p:nvPicPr>
              <p:cNvPr id="65" name="Google Shape;65;p13" title="expand-icon-symbol-design-illustration-vector.jpg"/>
              <p:cNvPicPr preferRelativeResize="0"/>
              <p:nvPr/>
            </p:nvPicPr>
            <p:blipFill rotWithShape="1">
              <a:blip r:embed="rId5">
                <a:alphaModFix/>
              </a:blip>
              <a:srcRect b="11143" l="12219" r="0" t="0"/>
              <a:stretch/>
            </p:blipFill>
            <p:spPr>
              <a:xfrm>
                <a:off x="13211244" y="5054337"/>
                <a:ext cx="224376" cy="2271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66" name="Google Shape;66;p13"/>
            <p:cNvCxnSpPr/>
            <p:nvPr/>
          </p:nvCxnSpPr>
          <p:spPr>
            <a:xfrm>
              <a:off x="4426782" y="4027001"/>
              <a:ext cx="8858100" cy="600"/>
            </a:xfrm>
            <a:prstGeom prst="straightConnector1">
              <a:avLst/>
            </a:prstGeom>
            <a:noFill/>
            <a:ln cap="flat" cmpd="sng" w="9525">
              <a:solidFill>
                <a:srgbClr val="99999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67" name="Google Shape;67;p13"/>
            <p:cNvGrpSpPr/>
            <p:nvPr/>
          </p:nvGrpSpPr>
          <p:grpSpPr>
            <a:xfrm>
              <a:off x="8846180" y="7077437"/>
              <a:ext cx="4557232" cy="618331"/>
              <a:chOff x="4268193" y="552116"/>
              <a:chExt cx="6213843" cy="697025"/>
            </a:xfrm>
          </p:grpSpPr>
          <p:sp>
            <p:nvSpPr>
              <p:cNvPr id="68" name="Google Shape;68;p13"/>
              <p:cNvSpPr/>
              <p:nvPr/>
            </p:nvSpPr>
            <p:spPr>
              <a:xfrm>
                <a:off x="6760562" y="609015"/>
                <a:ext cx="3546300" cy="255600"/>
              </a:xfrm>
              <a:prstGeom prst="roundRect">
                <a:avLst>
                  <a:gd fmla="val 16667" name="adj"/>
                </a:avLst>
              </a:prstGeom>
              <a:solidFill>
                <a:schemeClr val="lt2"/>
              </a:solidFill>
              <a:ln cap="flat" cmpd="sng" w="84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1100" lIns="81100" spcFirstLastPara="1" rIns="81100" wrap="square" tIns="811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41"/>
              </a:p>
            </p:txBody>
          </p:sp>
          <p:sp>
            <p:nvSpPr>
              <p:cNvPr id="69" name="Google Shape;69;p13"/>
              <p:cNvSpPr txBox="1"/>
              <p:nvPr/>
            </p:nvSpPr>
            <p:spPr>
              <a:xfrm>
                <a:off x="4268193" y="552116"/>
                <a:ext cx="2855100" cy="28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1100" lIns="81100" spcFirstLastPara="1" rIns="81100" wrap="square" tIns="811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86">
                    <a:solidFill>
                      <a:srgbClr val="B7B7B7"/>
                    </a:solidFill>
                  </a:rPr>
                  <a:t>CONSTRUCTION YEAR</a:t>
                </a:r>
                <a:endParaRPr b="1" sz="1186">
                  <a:solidFill>
                    <a:srgbClr val="B7B7B7"/>
                  </a:solidFill>
                </a:endParaRPr>
              </a:p>
            </p:txBody>
          </p:sp>
          <p:sp>
            <p:nvSpPr>
              <p:cNvPr id="70" name="Google Shape;70;p13"/>
              <p:cNvSpPr txBox="1"/>
              <p:nvPr/>
            </p:nvSpPr>
            <p:spPr>
              <a:xfrm>
                <a:off x="6732035" y="810841"/>
                <a:ext cx="37500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1100" lIns="81100" spcFirstLastPara="1" rIns="81100" wrap="square" tIns="811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20">
                    <a:solidFill>
                      <a:schemeClr val="dk2"/>
                    </a:solidFill>
                  </a:rPr>
                  <a:t>2020	2030	2040	2050	2060	2070</a:t>
                </a:r>
                <a:endParaRPr sz="620">
                  <a:solidFill>
                    <a:schemeClr val="dk2"/>
                  </a:solidFill>
                </a:endParaRPr>
              </a:p>
            </p:txBody>
          </p:sp>
          <p:sp>
            <p:nvSpPr>
              <p:cNvPr id="71" name="Google Shape;71;p13"/>
              <p:cNvSpPr/>
              <p:nvPr/>
            </p:nvSpPr>
            <p:spPr>
              <a:xfrm>
                <a:off x="6766092" y="605847"/>
                <a:ext cx="202200" cy="25560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 cap="flat" cmpd="sng" w="84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1100" lIns="81100" spcFirstLastPara="1" rIns="81100" wrap="square" tIns="811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41"/>
              </a:p>
            </p:txBody>
          </p:sp>
        </p:grpSp>
        <p:grpSp>
          <p:nvGrpSpPr>
            <p:cNvPr id="72" name="Google Shape;72;p13"/>
            <p:cNvGrpSpPr/>
            <p:nvPr/>
          </p:nvGrpSpPr>
          <p:grpSpPr>
            <a:xfrm>
              <a:off x="4349911" y="934411"/>
              <a:ext cx="4421103" cy="2819555"/>
              <a:chOff x="4349911" y="934411"/>
              <a:chExt cx="4421103" cy="2819555"/>
            </a:xfrm>
          </p:grpSpPr>
          <p:grpSp>
            <p:nvGrpSpPr>
              <p:cNvPr id="73" name="Google Shape;73;p13"/>
              <p:cNvGrpSpPr/>
              <p:nvPr/>
            </p:nvGrpSpPr>
            <p:grpSpPr>
              <a:xfrm>
                <a:off x="4349911" y="934411"/>
                <a:ext cx="4421103" cy="2819555"/>
                <a:chOff x="4043712" y="1229950"/>
                <a:chExt cx="5522238" cy="3521803"/>
              </a:xfrm>
            </p:grpSpPr>
            <p:sp>
              <p:nvSpPr>
                <p:cNvPr id="74" name="Google Shape;74;p13"/>
                <p:cNvSpPr/>
                <p:nvPr/>
              </p:nvSpPr>
              <p:spPr>
                <a:xfrm>
                  <a:off x="4150050" y="1612488"/>
                  <a:ext cx="5415900" cy="3099000"/>
                </a:xfrm>
                <a:prstGeom prst="rect">
                  <a:avLst/>
                </a:prstGeom>
                <a:noFill/>
                <a:ln cap="flat" cmpd="sng" w="76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73200" lIns="73200" spcFirstLastPara="1" rIns="73200" wrap="square" tIns="732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120"/>
                </a:p>
              </p:txBody>
            </p:sp>
            <p:grpSp>
              <p:nvGrpSpPr>
                <p:cNvPr id="75" name="Google Shape;75;p13"/>
                <p:cNvGrpSpPr/>
                <p:nvPr/>
              </p:nvGrpSpPr>
              <p:grpSpPr>
                <a:xfrm>
                  <a:off x="4043712" y="1229950"/>
                  <a:ext cx="5157113" cy="3421454"/>
                  <a:chOff x="4205837" y="1005375"/>
                  <a:chExt cx="5157113" cy="3421454"/>
                </a:xfrm>
              </p:grpSpPr>
              <p:pic>
                <p:nvPicPr>
                  <p:cNvPr id="76" name="Google Shape;76;p13" title="Chart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11143"/>
                  <a:stretch/>
                </p:blipFill>
                <p:spPr>
                  <a:xfrm>
                    <a:off x="4479975" y="1744863"/>
                    <a:ext cx="4882975" cy="26819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77" name="Google Shape;77;p13"/>
                  <p:cNvSpPr txBox="1"/>
                  <p:nvPr/>
                </p:nvSpPr>
                <p:spPr>
                  <a:xfrm>
                    <a:off x="4205837" y="1005375"/>
                    <a:ext cx="4417800" cy="469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73200" lIns="73200" spcFirstLastPara="1" rIns="73200" wrap="square" tIns="73200">
                    <a:sp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lang="en" sz="1481">
                        <a:solidFill>
                          <a:srgbClr val="666666"/>
                        </a:solidFill>
                      </a:rPr>
                      <a:t>BASELINE MATERIAL DEMAND</a:t>
                    </a:r>
                    <a:endParaRPr b="1" sz="360">
                      <a:solidFill>
                        <a:srgbClr val="666666"/>
                      </a:solidFill>
                    </a:endParaRPr>
                  </a:p>
                </p:txBody>
              </p:sp>
            </p:grpSp>
            <p:grpSp>
              <p:nvGrpSpPr>
                <p:cNvPr id="78" name="Google Shape;78;p13"/>
                <p:cNvGrpSpPr/>
                <p:nvPr/>
              </p:nvGrpSpPr>
              <p:grpSpPr>
                <a:xfrm>
                  <a:off x="4056895" y="4208337"/>
                  <a:ext cx="1928164" cy="543415"/>
                  <a:chOff x="4257757" y="4208337"/>
                  <a:chExt cx="1928164" cy="543415"/>
                </a:xfrm>
              </p:grpSpPr>
              <p:sp>
                <p:nvSpPr>
                  <p:cNvPr id="79" name="Google Shape;79;p13"/>
                  <p:cNvSpPr txBox="1"/>
                  <p:nvPr/>
                </p:nvSpPr>
                <p:spPr>
                  <a:xfrm>
                    <a:off x="4257757" y="4241453"/>
                    <a:ext cx="1269300" cy="510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156000" lIns="156000" spcFirstLastPara="1" rIns="156000" wrap="square" tIns="1560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761">
                        <a:solidFill>
                          <a:srgbClr val="999999"/>
                        </a:solidFill>
                      </a:rPr>
                      <a:t>Sankey diagram</a:t>
                    </a:r>
                    <a:endParaRPr sz="761">
                      <a:solidFill>
                        <a:srgbClr val="999999"/>
                      </a:solidFill>
                    </a:endParaRPr>
                  </a:p>
                </p:txBody>
              </p:sp>
              <p:grpSp>
                <p:nvGrpSpPr>
                  <p:cNvPr id="80" name="Google Shape;80;p13"/>
                  <p:cNvGrpSpPr/>
                  <p:nvPr/>
                </p:nvGrpSpPr>
                <p:grpSpPr>
                  <a:xfrm>
                    <a:off x="5383729" y="4208337"/>
                    <a:ext cx="802192" cy="433200"/>
                    <a:chOff x="5383729" y="4208337"/>
                    <a:chExt cx="802192" cy="433200"/>
                  </a:xfrm>
                </p:grpSpPr>
                <p:grpSp>
                  <p:nvGrpSpPr>
                    <p:cNvPr id="81" name="Google Shape;81;p13"/>
                    <p:cNvGrpSpPr/>
                    <p:nvPr/>
                  </p:nvGrpSpPr>
                  <p:grpSpPr>
                    <a:xfrm>
                      <a:off x="5383729" y="4365780"/>
                      <a:ext cx="764855" cy="261650"/>
                      <a:chOff x="5505854" y="4365730"/>
                      <a:chExt cx="764855" cy="261650"/>
                    </a:xfrm>
                  </p:grpSpPr>
                  <p:sp>
                    <p:nvSpPr>
                      <p:cNvPr id="82" name="Google Shape;82;p13"/>
                      <p:cNvSpPr/>
                      <p:nvPr/>
                    </p:nvSpPr>
                    <p:spPr>
                      <a:xfrm rot="-10800000">
                        <a:off x="5513034" y="4365730"/>
                        <a:ext cx="757675" cy="261650"/>
                      </a:xfrm>
                      <a:prstGeom prst="flowChartMagneticDrum">
                        <a:avLst/>
                      </a:prstGeom>
                      <a:solidFill>
                        <a:srgbClr val="CCCCCC"/>
                      </a:solidFill>
                      <a:ln cap="flat" cmpd="sng" w="10600">
                        <a:solidFill>
                          <a:schemeClr val="dk2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156000" lIns="156000" spcFirstLastPara="1" rIns="156000" wrap="square" tIns="156000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2336"/>
                      </a:p>
                    </p:txBody>
                  </p:sp>
                  <p:sp>
                    <p:nvSpPr>
                      <p:cNvPr id="83" name="Google Shape;83;p13"/>
                      <p:cNvSpPr/>
                      <p:nvPr/>
                    </p:nvSpPr>
                    <p:spPr>
                      <a:xfrm>
                        <a:off x="5505854" y="4370260"/>
                        <a:ext cx="259500" cy="252600"/>
                      </a:xfrm>
                      <a:prstGeom prst="ellipse">
                        <a:avLst/>
                      </a:prstGeom>
                      <a:solidFill>
                        <a:schemeClr val="lt1"/>
                      </a:solidFill>
                      <a:ln cap="flat" cmpd="sng" w="10600">
                        <a:solidFill>
                          <a:schemeClr val="dk2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156000" lIns="156000" spcFirstLastPara="1" rIns="156000" wrap="square" tIns="156000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2336"/>
                      </a:p>
                    </p:txBody>
                  </p:sp>
                </p:grpSp>
                <p:sp>
                  <p:nvSpPr>
                    <p:cNvPr id="84" name="Google Shape;84;p13"/>
                    <p:cNvSpPr txBox="1"/>
                    <p:nvPr/>
                  </p:nvSpPr>
                  <p:spPr>
                    <a:xfrm>
                      <a:off x="5513621" y="4208337"/>
                      <a:ext cx="672300" cy="4332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156000" lIns="156000" spcFirstLastPara="1" rIns="156000" wrap="square" tIns="1560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1">
                          <a:solidFill>
                            <a:schemeClr val="lt1"/>
                          </a:solidFill>
                        </a:rPr>
                        <a:t>Off</a:t>
                      </a:r>
                      <a:endParaRPr sz="1001">
                        <a:solidFill>
                          <a:schemeClr val="lt1"/>
                        </a:solidFill>
                      </a:endParaRPr>
                    </a:p>
                  </p:txBody>
                </p:sp>
              </p:grpSp>
            </p:grpSp>
          </p:grpSp>
          <p:pic>
            <p:nvPicPr>
              <p:cNvPr id="85" name="Google Shape;85;p13" title="download.png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8474425" y="1284577"/>
                <a:ext cx="259800" cy="259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86" name="Google Shape;86;p13"/>
            <p:cNvGrpSpPr/>
            <p:nvPr/>
          </p:nvGrpSpPr>
          <p:grpSpPr>
            <a:xfrm>
              <a:off x="4349911" y="4181419"/>
              <a:ext cx="4421103" cy="2819555"/>
              <a:chOff x="4349911" y="4181419"/>
              <a:chExt cx="4421103" cy="2819555"/>
            </a:xfrm>
          </p:grpSpPr>
          <p:grpSp>
            <p:nvGrpSpPr>
              <p:cNvPr id="87" name="Google Shape;87;p13"/>
              <p:cNvGrpSpPr/>
              <p:nvPr/>
            </p:nvGrpSpPr>
            <p:grpSpPr>
              <a:xfrm>
                <a:off x="4349911" y="4181419"/>
                <a:ext cx="4421103" cy="2819555"/>
                <a:chOff x="4043712" y="1229950"/>
                <a:chExt cx="5522238" cy="3521803"/>
              </a:xfrm>
            </p:grpSpPr>
            <p:sp>
              <p:nvSpPr>
                <p:cNvPr id="88" name="Google Shape;88;p13"/>
                <p:cNvSpPr/>
                <p:nvPr/>
              </p:nvSpPr>
              <p:spPr>
                <a:xfrm>
                  <a:off x="4150050" y="1612488"/>
                  <a:ext cx="5415900" cy="3099000"/>
                </a:xfrm>
                <a:prstGeom prst="rect">
                  <a:avLst/>
                </a:prstGeom>
                <a:noFill/>
                <a:ln cap="flat" cmpd="sng" w="76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73200" lIns="73200" spcFirstLastPara="1" rIns="73200" wrap="square" tIns="732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120"/>
                </a:p>
              </p:txBody>
            </p:sp>
            <p:grpSp>
              <p:nvGrpSpPr>
                <p:cNvPr id="89" name="Google Shape;89;p13"/>
                <p:cNvGrpSpPr/>
                <p:nvPr/>
              </p:nvGrpSpPr>
              <p:grpSpPr>
                <a:xfrm>
                  <a:off x="4043712" y="1229950"/>
                  <a:ext cx="5157113" cy="3421454"/>
                  <a:chOff x="4205837" y="1005375"/>
                  <a:chExt cx="5157113" cy="3421454"/>
                </a:xfrm>
              </p:grpSpPr>
              <p:pic>
                <p:nvPicPr>
                  <p:cNvPr id="90" name="Google Shape;90;p13" title="Chart"/>
                  <p:cNvPicPr preferRelativeResize="0"/>
                  <p:nvPr/>
                </p:nvPicPr>
                <p:blipFill rotWithShape="1">
                  <a:blip r:embed="rId6">
                    <a:alphaModFix/>
                  </a:blip>
                  <a:srcRect b="0" l="0" r="0" t="11143"/>
                  <a:stretch/>
                </p:blipFill>
                <p:spPr>
                  <a:xfrm>
                    <a:off x="4479975" y="1744863"/>
                    <a:ext cx="4882975" cy="26819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91" name="Google Shape;91;p13"/>
                  <p:cNvSpPr txBox="1"/>
                  <p:nvPr/>
                </p:nvSpPr>
                <p:spPr>
                  <a:xfrm>
                    <a:off x="4205837" y="1005375"/>
                    <a:ext cx="4417800" cy="469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73200" lIns="73200" spcFirstLastPara="1" rIns="73200" wrap="square" tIns="73200">
                    <a:sp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lang="en" sz="1481">
                        <a:solidFill>
                          <a:srgbClr val="666666"/>
                        </a:solidFill>
                      </a:rPr>
                      <a:t>PROJECTED MATERIAL DEMAND</a:t>
                    </a:r>
                    <a:endParaRPr b="1" sz="360">
                      <a:solidFill>
                        <a:srgbClr val="666666"/>
                      </a:solidFill>
                    </a:endParaRPr>
                  </a:p>
                </p:txBody>
              </p:sp>
            </p:grpSp>
            <p:grpSp>
              <p:nvGrpSpPr>
                <p:cNvPr id="92" name="Google Shape;92;p13"/>
                <p:cNvGrpSpPr/>
                <p:nvPr/>
              </p:nvGrpSpPr>
              <p:grpSpPr>
                <a:xfrm>
                  <a:off x="4056895" y="4208337"/>
                  <a:ext cx="1928164" cy="543415"/>
                  <a:chOff x="4257757" y="4208337"/>
                  <a:chExt cx="1928164" cy="543415"/>
                </a:xfrm>
              </p:grpSpPr>
              <p:sp>
                <p:nvSpPr>
                  <p:cNvPr id="93" name="Google Shape;93;p13"/>
                  <p:cNvSpPr txBox="1"/>
                  <p:nvPr/>
                </p:nvSpPr>
                <p:spPr>
                  <a:xfrm>
                    <a:off x="4257757" y="4241453"/>
                    <a:ext cx="1269300" cy="510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156000" lIns="156000" spcFirstLastPara="1" rIns="156000" wrap="square" tIns="1560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761">
                        <a:solidFill>
                          <a:srgbClr val="999999"/>
                        </a:solidFill>
                      </a:rPr>
                      <a:t>Sankey diagram</a:t>
                    </a:r>
                    <a:endParaRPr sz="761">
                      <a:solidFill>
                        <a:srgbClr val="999999"/>
                      </a:solidFill>
                    </a:endParaRPr>
                  </a:p>
                </p:txBody>
              </p:sp>
              <p:grpSp>
                <p:nvGrpSpPr>
                  <p:cNvPr id="94" name="Google Shape;94;p13"/>
                  <p:cNvGrpSpPr/>
                  <p:nvPr/>
                </p:nvGrpSpPr>
                <p:grpSpPr>
                  <a:xfrm>
                    <a:off x="5383729" y="4208337"/>
                    <a:ext cx="802192" cy="433200"/>
                    <a:chOff x="5383729" y="4208337"/>
                    <a:chExt cx="802192" cy="433200"/>
                  </a:xfrm>
                </p:grpSpPr>
                <p:grpSp>
                  <p:nvGrpSpPr>
                    <p:cNvPr id="95" name="Google Shape;95;p13"/>
                    <p:cNvGrpSpPr/>
                    <p:nvPr/>
                  </p:nvGrpSpPr>
                  <p:grpSpPr>
                    <a:xfrm>
                      <a:off x="5383729" y="4365780"/>
                      <a:ext cx="764855" cy="261650"/>
                      <a:chOff x="5505854" y="4365730"/>
                      <a:chExt cx="764855" cy="261650"/>
                    </a:xfrm>
                  </p:grpSpPr>
                  <p:sp>
                    <p:nvSpPr>
                      <p:cNvPr id="96" name="Google Shape;96;p13"/>
                      <p:cNvSpPr/>
                      <p:nvPr/>
                    </p:nvSpPr>
                    <p:spPr>
                      <a:xfrm rot="-10800000">
                        <a:off x="5513034" y="4365730"/>
                        <a:ext cx="757675" cy="261650"/>
                      </a:xfrm>
                      <a:prstGeom prst="flowChartMagneticDrum">
                        <a:avLst/>
                      </a:prstGeom>
                      <a:solidFill>
                        <a:srgbClr val="CCCCCC"/>
                      </a:solidFill>
                      <a:ln cap="flat" cmpd="sng" w="10600">
                        <a:solidFill>
                          <a:schemeClr val="dk2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156000" lIns="156000" spcFirstLastPara="1" rIns="156000" wrap="square" tIns="156000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2336"/>
                      </a:p>
                    </p:txBody>
                  </p:sp>
                  <p:sp>
                    <p:nvSpPr>
                      <p:cNvPr id="97" name="Google Shape;97;p13"/>
                      <p:cNvSpPr/>
                      <p:nvPr/>
                    </p:nvSpPr>
                    <p:spPr>
                      <a:xfrm>
                        <a:off x="5505854" y="4370260"/>
                        <a:ext cx="259500" cy="252600"/>
                      </a:xfrm>
                      <a:prstGeom prst="ellipse">
                        <a:avLst/>
                      </a:prstGeom>
                      <a:solidFill>
                        <a:schemeClr val="lt1"/>
                      </a:solidFill>
                      <a:ln cap="flat" cmpd="sng" w="10600">
                        <a:solidFill>
                          <a:schemeClr val="dk2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156000" lIns="156000" spcFirstLastPara="1" rIns="156000" wrap="square" tIns="156000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2336"/>
                      </a:p>
                    </p:txBody>
                  </p:sp>
                </p:grpSp>
                <p:sp>
                  <p:nvSpPr>
                    <p:cNvPr id="98" name="Google Shape;98;p13"/>
                    <p:cNvSpPr txBox="1"/>
                    <p:nvPr/>
                  </p:nvSpPr>
                  <p:spPr>
                    <a:xfrm>
                      <a:off x="5513621" y="4208337"/>
                      <a:ext cx="672300" cy="4332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156000" lIns="156000" spcFirstLastPara="1" rIns="156000" wrap="square" tIns="1560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1">
                          <a:solidFill>
                            <a:schemeClr val="lt1"/>
                          </a:solidFill>
                        </a:rPr>
                        <a:t>Off</a:t>
                      </a:r>
                      <a:endParaRPr sz="1001">
                        <a:solidFill>
                          <a:schemeClr val="lt1"/>
                        </a:solidFill>
                      </a:endParaRPr>
                    </a:p>
                  </p:txBody>
                </p:sp>
              </p:grpSp>
            </p:grpSp>
          </p:grpSp>
          <p:pic>
            <p:nvPicPr>
              <p:cNvPr id="99" name="Google Shape;99;p13" title="download.png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8474425" y="4518577"/>
                <a:ext cx="259800" cy="259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00" name="Google Shape;100;p13"/>
            <p:cNvGrpSpPr/>
            <p:nvPr/>
          </p:nvGrpSpPr>
          <p:grpSpPr>
            <a:xfrm>
              <a:off x="8869623" y="932880"/>
              <a:ext cx="4405039" cy="2799577"/>
              <a:chOff x="8869623" y="932880"/>
              <a:chExt cx="4405039" cy="2799577"/>
            </a:xfrm>
          </p:grpSpPr>
          <p:grpSp>
            <p:nvGrpSpPr>
              <p:cNvPr id="101" name="Google Shape;101;p13"/>
              <p:cNvGrpSpPr/>
              <p:nvPr/>
            </p:nvGrpSpPr>
            <p:grpSpPr>
              <a:xfrm>
                <a:off x="8869623" y="932880"/>
                <a:ext cx="4405039" cy="2799577"/>
                <a:chOff x="4192894" y="4200054"/>
                <a:chExt cx="4405039" cy="2799577"/>
              </a:xfrm>
            </p:grpSpPr>
            <p:sp>
              <p:nvSpPr>
                <p:cNvPr id="102" name="Google Shape;102;p13"/>
                <p:cNvSpPr/>
                <p:nvPr/>
              </p:nvSpPr>
              <p:spPr>
                <a:xfrm>
                  <a:off x="4262033" y="4507108"/>
                  <a:ext cx="4335900" cy="2481000"/>
                </a:xfrm>
                <a:prstGeom prst="rect">
                  <a:avLst/>
                </a:prstGeom>
                <a:noFill/>
                <a:ln cap="flat" cmpd="sng" w="76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73200" lIns="73200" spcFirstLastPara="1" rIns="73200" wrap="square" tIns="732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120"/>
                </a:p>
              </p:txBody>
            </p:sp>
            <p:grpSp>
              <p:nvGrpSpPr>
                <p:cNvPr id="103" name="Google Shape;103;p13"/>
                <p:cNvGrpSpPr/>
                <p:nvPr/>
              </p:nvGrpSpPr>
              <p:grpSpPr>
                <a:xfrm>
                  <a:off x="4471489" y="4702363"/>
                  <a:ext cx="3847825" cy="2297269"/>
                  <a:chOff x="24110150" y="5483258"/>
                  <a:chExt cx="4709124" cy="2811490"/>
                </a:xfrm>
              </p:grpSpPr>
              <p:pic>
                <p:nvPicPr>
                  <p:cNvPr id="104" name="Google Shape;104;p13" title="Chart"/>
                  <p:cNvPicPr preferRelativeResize="0"/>
                  <p:nvPr/>
                </p:nvPicPr>
                <p:blipFill rotWithShape="1">
                  <a:blip r:embed="rId8">
                    <a:alphaModFix/>
                  </a:blip>
                  <a:srcRect b="0" l="0" r="0" t="11174"/>
                  <a:stretch/>
                </p:blipFill>
                <p:spPr>
                  <a:xfrm>
                    <a:off x="24110150" y="5483258"/>
                    <a:ext cx="4709124" cy="258647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105" name="Google Shape;105;p13"/>
                  <p:cNvSpPr txBox="1"/>
                  <p:nvPr/>
                </p:nvSpPr>
                <p:spPr>
                  <a:xfrm>
                    <a:off x="25186106" y="7977648"/>
                    <a:ext cx="3000000" cy="317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74700" lIns="74700" spcFirstLastPara="1" rIns="74700" wrap="square" tIns="74700">
                    <a:sp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702">
                        <a:solidFill>
                          <a:schemeClr val="dk1"/>
                        </a:solidFill>
                      </a:rPr>
                      <a:t>Material Cost (USD)</a:t>
                    </a:r>
                    <a:endParaRPr sz="702">
                      <a:solidFill>
                        <a:schemeClr val="dk1"/>
                      </a:solidFill>
                    </a:endParaRPr>
                  </a:p>
                </p:txBody>
              </p:sp>
            </p:grpSp>
            <p:sp>
              <p:nvSpPr>
                <p:cNvPr id="106" name="Google Shape;106;p13"/>
                <p:cNvSpPr txBox="1"/>
                <p:nvPr/>
              </p:nvSpPr>
              <p:spPr>
                <a:xfrm>
                  <a:off x="4192894" y="4200054"/>
                  <a:ext cx="3537000" cy="37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73200" lIns="73200" spcFirstLastPara="1" rIns="73200" wrap="square" tIns="73200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481">
                      <a:solidFill>
                        <a:srgbClr val="666666"/>
                      </a:solidFill>
                    </a:rPr>
                    <a:t>BASELINE MATERIAL COST</a:t>
                  </a:r>
                  <a:endParaRPr b="1" sz="360">
                    <a:solidFill>
                      <a:srgbClr val="666666"/>
                    </a:solidFill>
                  </a:endParaRPr>
                </a:p>
              </p:txBody>
            </p:sp>
          </p:grpSp>
          <p:pic>
            <p:nvPicPr>
              <p:cNvPr id="107" name="Google Shape;107;p13" title="download.png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12975775" y="1284577"/>
                <a:ext cx="259800" cy="259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108" name="Google Shape;108;p13"/>
          <p:cNvSpPr/>
          <p:nvPr/>
        </p:nvSpPr>
        <p:spPr>
          <a:xfrm>
            <a:off x="322440" y="1045650"/>
            <a:ext cx="3505800" cy="4746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0175" lIns="140175" spcFirstLastPara="1" rIns="140175" wrap="square" tIns="140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999999"/>
                </a:solidFill>
              </a:rPr>
              <a:t>        Location Search</a:t>
            </a:r>
            <a:endParaRPr sz="1500">
              <a:solidFill>
                <a:srgbClr val="999999"/>
              </a:solidFill>
            </a:endParaRPr>
          </a:p>
        </p:txBody>
      </p:sp>
      <p:pic>
        <p:nvPicPr>
          <p:cNvPr id="109" name="Google Shape;109;p1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01925" y="1076480"/>
            <a:ext cx="274350" cy="25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3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70625" y="1067100"/>
            <a:ext cx="433200" cy="433200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11" name="Google Shape;111;p13"/>
          <p:cNvSpPr txBox="1"/>
          <p:nvPr>
            <p:ph type="ctrTitle"/>
          </p:nvPr>
        </p:nvSpPr>
        <p:spPr>
          <a:xfrm rot="-5400000">
            <a:off x="-3764850" y="3687625"/>
            <a:ext cx="6613500" cy="916200"/>
          </a:xfrm>
          <a:prstGeom prst="rect">
            <a:avLst/>
          </a:prstGeom>
        </p:spPr>
        <p:txBody>
          <a:bodyPr anchorCtr="0" anchor="b" bIns="140175" lIns="140175" spcFirstLastPara="1" rIns="140175" wrap="square" tIns="14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6000"/>
              <a:t>LANDING PAGE</a:t>
            </a:r>
            <a:endParaRPr sz="6000"/>
          </a:p>
        </p:txBody>
      </p:sp>
      <p:grpSp>
        <p:nvGrpSpPr>
          <p:cNvPr id="112" name="Google Shape;112;p13"/>
          <p:cNvGrpSpPr/>
          <p:nvPr/>
        </p:nvGrpSpPr>
        <p:grpSpPr>
          <a:xfrm>
            <a:off x="313750" y="1737473"/>
            <a:ext cx="3505800" cy="474600"/>
            <a:chOff x="313750" y="1747448"/>
            <a:chExt cx="3505800" cy="474600"/>
          </a:xfrm>
        </p:grpSpPr>
        <p:sp>
          <p:nvSpPr>
            <p:cNvPr id="113" name="Google Shape;113;p13"/>
            <p:cNvSpPr/>
            <p:nvPr/>
          </p:nvSpPr>
          <p:spPr>
            <a:xfrm>
              <a:off x="313750" y="1747448"/>
              <a:ext cx="3505800" cy="474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40175" lIns="140175" spcFirstLastPara="1" rIns="140175" wrap="square" tIns="1401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Building Specifications</a:t>
              </a:r>
              <a:endParaRPr b="1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rgbClr val="666666"/>
                </a:solidFill>
              </a:endParaRPr>
            </a:p>
            <a:p>
              <a:pPr indent="0" lvl="0" marL="6985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/>
            </a:p>
          </p:txBody>
        </p:sp>
        <p:sp>
          <p:nvSpPr>
            <p:cNvPr id="114" name="Google Shape;114;p13"/>
            <p:cNvSpPr/>
            <p:nvPr/>
          </p:nvSpPr>
          <p:spPr>
            <a:xfrm rot="10800000">
              <a:off x="2469500" y="1961425"/>
              <a:ext cx="167100" cy="101400"/>
            </a:xfrm>
            <a:prstGeom prst="triangle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40175" lIns="140175" spcFirstLastPara="1" rIns="140175" wrap="square" tIns="1401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/>
            </a:p>
          </p:txBody>
        </p:sp>
      </p:grpSp>
      <p:grpSp>
        <p:nvGrpSpPr>
          <p:cNvPr id="115" name="Google Shape;115;p13"/>
          <p:cNvGrpSpPr/>
          <p:nvPr/>
        </p:nvGrpSpPr>
        <p:grpSpPr>
          <a:xfrm>
            <a:off x="322450" y="2429301"/>
            <a:ext cx="4161881" cy="524136"/>
            <a:chOff x="313750" y="2364051"/>
            <a:chExt cx="4161881" cy="524136"/>
          </a:xfrm>
        </p:grpSpPr>
        <p:grpSp>
          <p:nvGrpSpPr>
            <p:cNvPr id="116" name="Google Shape;116;p13"/>
            <p:cNvGrpSpPr/>
            <p:nvPr/>
          </p:nvGrpSpPr>
          <p:grpSpPr>
            <a:xfrm>
              <a:off x="313775" y="2364051"/>
              <a:ext cx="4161856" cy="524136"/>
              <a:chOff x="314627" y="1496385"/>
              <a:chExt cx="2462200" cy="377104"/>
            </a:xfrm>
          </p:grpSpPr>
          <p:sp>
            <p:nvSpPr>
              <p:cNvPr id="117" name="Google Shape;117;p13"/>
              <p:cNvSpPr/>
              <p:nvPr/>
            </p:nvSpPr>
            <p:spPr>
              <a:xfrm>
                <a:off x="314627" y="1532088"/>
                <a:ext cx="2074200" cy="3414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194825" lIns="194825" spcFirstLastPara="1" rIns="194825" wrap="square" tIns="1948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50">
                  <a:solidFill>
                    <a:schemeClr val="dk1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50">
                  <a:solidFill>
                    <a:schemeClr val="dk1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50">
                  <a:solidFill>
                    <a:schemeClr val="dk1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50">
                  <a:solidFill>
                    <a:schemeClr val="dk1"/>
                  </a:solidFill>
                </a:endParaRPr>
              </a:p>
            </p:txBody>
          </p:sp>
          <p:grpSp>
            <p:nvGrpSpPr>
              <p:cNvPr id="118" name="Google Shape;118;p13"/>
              <p:cNvGrpSpPr/>
              <p:nvPr/>
            </p:nvGrpSpPr>
            <p:grpSpPr>
              <a:xfrm>
                <a:off x="1905750" y="1496385"/>
                <a:ext cx="871077" cy="317400"/>
                <a:chOff x="1905813" y="1496535"/>
                <a:chExt cx="871077" cy="317400"/>
              </a:xfrm>
            </p:grpSpPr>
            <p:sp>
              <p:nvSpPr>
                <p:cNvPr id="119" name="Google Shape;119;p13"/>
                <p:cNvSpPr/>
                <p:nvPr/>
              </p:nvSpPr>
              <p:spPr>
                <a:xfrm rot="-10800000">
                  <a:off x="1905813" y="1608215"/>
                  <a:ext cx="421893" cy="181722"/>
                </a:xfrm>
                <a:prstGeom prst="flowChartMagneticDrum">
                  <a:avLst/>
                </a:prstGeom>
                <a:solidFill>
                  <a:srgbClr val="CCCCCC"/>
                </a:solidFill>
                <a:ln cap="flat" cmpd="sng" w="132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194825" lIns="194825" spcFirstLastPara="1" rIns="194825" wrap="square" tIns="1948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918"/>
                </a:p>
              </p:txBody>
            </p:sp>
            <p:sp>
              <p:nvSpPr>
                <p:cNvPr id="120" name="Google Shape;120;p13"/>
                <p:cNvSpPr/>
                <p:nvPr/>
              </p:nvSpPr>
              <p:spPr>
                <a:xfrm>
                  <a:off x="1905813" y="1605800"/>
                  <a:ext cx="153600" cy="181800"/>
                </a:xfrm>
                <a:prstGeom prst="ellipse">
                  <a:avLst/>
                </a:prstGeom>
                <a:solidFill>
                  <a:schemeClr val="lt1"/>
                </a:solidFill>
                <a:ln cap="flat" cmpd="sng" w="132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194825" lIns="194825" spcFirstLastPara="1" rIns="194825" wrap="square" tIns="1948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918"/>
                </a:p>
              </p:txBody>
            </p:sp>
            <p:sp>
              <p:nvSpPr>
                <p:cNvPr id="121" name="Google Shape;121;p13"/>
                <p:cNvSpPr txBox="1"/>
                <p:nvPr/>
              </p:nvSpPr>
              <p:spPr>
                <a:xfrm>
                  <a:off x="1960890" y="1496535"/>
                  <a:ext cx="816000" cy="317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94825" lIns="194825" spcFirstLastPara="1" rIns="194825" wrap="square" tIns="1948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250">
                      <a:solidFill>
                        <a:schemeClr val="lt1"/>
                      </a:solidFill>
                    </a:rPr>
                    <a:t>Off</a:t>
                  </a:r>
                  <a:endParaRPr sz="1250">
                    <a:solidFill>
                      <a:schemeClr val="lt1"/>
                    </a:solidFill>
                  </a:endParaRPr>
                </a:p>
              </p:txBody>
            </p:sp>
          </p:grpSp>
        </p:grpSp>
        <p:sp>
          <p:nvSpPr>
            <p:cNvPr id="122" name="Google Shape;122;p13"/>
            <p:cNvSpPr txBox="1"/>
            <p:nvPr/>
          </p:nvSpPr>
          <p:spPr>
            <a:xfrm>
              <a:off x="313750" y="2449250"/>
              <a:ext cx="30000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chemeClr val="dk1"/>
                  </a:solidFill>
                </a:rPr>
                <a:t>Material Availability Scenarios</a:t>
              </a:r>
              <a:endParaRPr b="1">
                <a:solidFill>
                  <a:schemeClr val="dk1"/>
                </a:solidFill>
              </a:endParaRPr>
            </a:p>
          </p:txBody>
        </p:sp>
      </p:grpSp>
      <p:grpSp>
        <p:nvGrpSpPr>
          <p:cNvPr id="123" name="Google Shape;123;p13"/>
          <p:cNvGrpSpPr/>
          <p:nvPr/>
        </p:nvGrpSpPr>
        <p:grpSpPr>
          <a:xfrm>
            <a:off x="322450" y="3170660"/>
            <a:ext cx="4161881" cy="524136"/>
            <a:chOff x="313750" y="2364051"/>
            <a:chExt cx="4161881" cy="524136"/>
          </a:xfrm>
        </p:grpSpPr>
        <p:grpSp>
          <p:nvGrpSpPr>
            <p:cNvPr id="124" name="Google Shape;124;p13"/>
            <p:cNvGrpSpPr/>
            <p:nvPr/>
          </p:nvGrpSpPr>
          <p:grpSpPr>
            <a:xfrm>
              <a:off x="313775" y="2364051"/>
              <a:ext cx="4161856" cy="524136"/>
              <a:chOff x="314627" y="1496385"/>
              <a:chExt cx="2462200" cy="377104"/>
            </a:xfrm>
          </p:grpSpPr>
          <p:sp>
            <p:nvSpPr>
              <p:cNvPr id="125" name="Google Shape;125;p13"/>
              <p:cNvSpPr/>
              <p:nvPr/>
            </p:nvSpPr>
            <p:spPr>
              <a:xfrm>
                <a:off x="314627" y="1532088"/>
                <a:ext cx="2074200" cy="3414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194825" lIns="194825" spcFirstLastPara="1" rIns="194825" wrap="square" tIns="1948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50">
                  <a:solidFill>
                    <a:schemeClr val="dk1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50">
                  <a:solidFill>
                    <a:schemeClr val="dk1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50">
                  <a:solidFill>
                    <a:schemeClr val="dk1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50">
                  <a:solidFill>
                    <a:schemeClr val="dk1"/>
                  </a:solidFill>
                </a:endParaRPr>
              </a:p>
            </p:txBody>
          </p:sp>
          <p:grpSp>
            <p:nvGrpSpPr>
              <p:cNvPr id="126" name="Google Shape;126;p13"/>
              <p:cNvGrpSpPr/>
              <p:nvPr/>
            </p:nvGrpSpPr>
            <p:grpSpPr>
              <a:xfrm>
                <a:off x="1905750" y="1496385"/>
                <a:ext cx="871077" cy="317400"/>
                <a:chOff x="1905813" y="1496535"/>
                <a:chExt cx="871077" cy="317400"/>
              </a:xfrm>
            </p:grpSpPr>
            <p:sp>
              <p:nvSpPr>
                <p:cNvPr id="127" name="Google Shape;127;p13"/>
                <p:cNvSpPr/>
                <p:nvPr/>
              </p:nvSpPr>
              <p:spPr>
                <a:xfrm rot="-10800000">
                  <a:off x="1905813" y="1608215"/>
                  <a:ext cx="421893" cy="181722"/>
                </a:xfrm>
                <a:prstGeom prst="flowChartMagneticDrum">
                  <a:avLst/>
                </a:prstGeom>
                <a:solidFill>
                  <a:srgbClr val="CCCCCC"/>
                </a:solidFill>
                <a:ln cap="flat" cmpd="sng" w="132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194825" lIns="194825" spcFirstLastPara="1" rIns="194825" wrap="square" tIns="1948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918"/>
                </a:p>
              </p:txBody>
            </p:sp>
            <p:sp>
              <p:nvSpPr>
                <p:cNvPr id="128" name="Google Shape;128;p13"/>
                <p:cNvSpPr/>
                <p:nvPr/>
              </p:nvSpPr>
              <p:spPr>
                <a:xfrm>
                  <a:off x="1905813" y="1605800"/>
                  <a:ext cx="153600" cy="181800"/>
                </a:xfrm>
                <a:prstGeom prst="ellipse">
                  <a:avLst/>
                </a:prstGeom>
                <a:solidFill>
                  <a:schemeClr val="lt1"/>
                </a:solidFill>
                <a:ln cap="flat" cmpd="sng" w="132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194825" lIns="194825" spcFirstLastPara="1" rIns="194825" wrap="square" tIns="1948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918"/>
                </a:p>
              </p:txBody>
            </p:sp>
            <p:sp>
              <p:nvSpPr>
                <p:cNvPr id="129" name="Google Shape;129;p13"/>
                <p:cNvSpPr txBox="1"/>
                <p:nvPr/>
              </p:nvSpPr>
              <p:spPr>
                <a:xfrm>
                  <a:off x="1960890" y="1496535"/>
                  <a:ext cx="816000" cy="317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94825" lIns="194825" spcFirstLastPara="1" rIns="194825" wrap="square" tIns="1948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250">
                      <a:solidFill>
                        <a:schemeClr val="lt1"/>
                      </a:solidFill>
                    </a:rPr>
                    <a:t>Off</a:t>
                  </a:r>
                  <a:endParaRPr sz="1250">
                    <a:solidFill>
                      <a:schemeClr val="lt1"/>
                    </a:solidFill>
                  </a:endParaRPr>
                </a:p>
              </p:txBody>
            </p:sp>
          </p:grpSp>
        </p:grpSp>
        <p:sp>
          <p:nvSpPr>
            <p:cNvPr id="130" name="Google Shape;130;p13"/>
            <p:cNvSpPr txBox="1"/>
            <p:nvPr/>
          </p:nvSpPr>
          <p:spPr>
            <a:xfrm>
              <a:off x="313750" y="2449250"/>
              <a:ext cx="3000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</a:rPr>
                <a:t>Alternative Materials</a:t>
              </a:r>
              <a:endParaRPr b="1">
                <a:solidFill>
                  <a:schemeClr val="dk1"/>
                </a:solidFill>
              </a:endParaRPr>
            </a:p>
          </p:txBody>
        </p:sp>
      </p:grpSp>
      <p:sp>
        <p:nvSpPr>
          <p:cNvPr id="131" name="Google Shape;131;p13"/>
          <p:cNvSpPr/>
          <p:nvPr/>
        </p:nvSpPr>
        <p:spPr>
          <a:xfrm>
            <a:off x="-3678" y="-1570"/>
            <a:ext cx="13725900" cy="811200"/>
          </a:xfrm>
          <a:prstGeom prst="rect">
            <a:avLst/>
          </a:prstGeom>
          <a:solidFill>
            <a:srgbClr val="EDF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1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31400" y="140109"/>
            <a:ext cx="672433" cy="51024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3"/>
          <p:cNvSpPr txBox="1"/>
          <p:nvPr>
            <p:ph idx="1" type="subTitle"/>
          </p:nvPr>
        </p:nvSpPr>
        <p:spPr>
          <a:xfrm>
            <a:off x="761825" y="140088"/>
            <a:ext cx="12825300" cy="510300"/>
          </a:xfrm>
          <a:prstGeom prst="rect">
            <a:avLst/>
          </a:prstGeom>
          <a:ln>
            <a:noFill/>
          </a:ln>
        </p:spPr>
        <p:txBody>
          <a:bodyPr anchorCtr="0" anchor="t" bIns="140175" lIns="140175" spcFirstLastPara="1" rIns="140175" wrap="square" tIns="140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Merriweather"/>
                <a:ea typeface="Merriweather"/>
                <a:cs typeface="Merriweather"/>
                <a:sym typeface="Merriweather"/>
              </a:rPr>
              <a:t>Building Supply chain Material Analysis and Risk Trade-off Tool (BuildSMART v1)</a:t>
            </a:r>
            <a:r>
              <a:rPr b="1" lang="en" sz="1700"/>
              <a:t>           </a:t>
            </a:r>
            <a:r>
              <a:rPr b="1" lang="en" sz="1700">
                <a:solidFill>
                  <a:srgbClr val="999999"/>
                </a:solidFill>
              </a:rPr>
              <a:t>Main Page         </a:t>
            </a:r>
            <a:r>
              <a:rPr b="1" lang="en" sz="1700">
                <a:solidFill>
                  <a:srgbClr val="999999"/>
                </a:solidFill>
              </a:rPr>
              <a:t>About</a:t>
            </a:r>
            <a:r>
              <a:rPr b="1" lang="en" sz="1700">
                <a:solidFill>
                  <a:srgbClr val="999999"/>
                </a:solidFill>
              </a:rPr>
              <a:t>          Contact</a:t>
            </a:r>
            <a:endParaRPr b="1" sz="1700">
              <a:solidFill>
                <a:srgbClr val="999999"/>
              </a:solidFill>
            </a:endParaRPr>
          </a:p>
        </p:txBody>
      </p:sp>
      <p:pic>
        <p:nvPicPr>
          <p:cNvPr id="134" name="Google Shape;134;p13"/>
          <p:cNvPicPr preferRelativeResize="0"/>
          <p:nvPr/>
        </p:nvPicPr>
        <p:blipFill>
          <a:blip r:embed="rId12">
            <a:alphaModFix amt="65000"/>
          </a:blip>
          <a:stretch>
            <a:fillRect/>
          </a:stretch>
        </p:blipFill>
        <p:spPr>
          <a:xfrm>
            <a:off x="1275" y="-30937"/>
            <a:ext cx="13715999" cy="82914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5" name="Google Shape;135;p13"/>
          <p:cNvGrpSpPr/>
          <p:nvPr/>
        </p:nvGrpSpPr>
        <p:grpSpPr>
          <a:xfrm>
            <a:off x="3101075" y="1886113"/>
            <a:ext cx="8146800" cy="4519200"/>
            <a:chOff x="11603075" y="-1415950"/>
            <a:chExt cx="8146800" cy="4519200"/>
          </a:xfrm>
        </p:grpSpPr>
        <p:sp>
          <p:nvSpPr>
            <p:cNvPr id="136" name="Google Shape;136;p13"/>
            <p:cNvSpPr/>
            <p:nvPr/>
          </p:nvSpPr>
          <p:spPr>
            <a:xfrm>
              <a:off x="11603075" y="-1415950"/>
              <a:ext cx="8146800" cy="4519200"/>
            </a:xfrm>
            <a:prstGeom prst="roundRect">
              <a:avLst>
                <a:gd fmla="val 16667" name="adj"/>
              </a:avLst>
            </a:prstGeom>
            <a:solidFill>
              <a:srgbClr val="EDF7FF"/>
            </a:solidFill>
            <a:ln cap="flat" cmpd="sng" w="9525">
              <a:solidFill>
                <a:srgbClr val="9999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rgbClr val="999999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rgbClr val="666666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00">
                  <a:solidFill>
                    <a:srgbClr val="666666"/>
                  </a:solidFill>
                </a:rPr>
                <a:t>To estimate the baseline material demand and cost for military building(s), </a:t>
              </a:r>
              <a:r>
                <a:rPr lang="en" sz="1900">
                  <a:solidFill>
                    <a:srgbClr val="666666"/>
                  </a:solidFill>
                </a:rPr>
                <a:t>select a location</a:t>
              </a:r>
              <a:r>
                <a:rPr lang="en" sz="1900">
                  <a:solidFill>
                    <a:srgbClr val="666666"/>
                  </a:solidFill>
                </a:rPr>
                <a:t>, expand the ‘Building Specifications’ tab,</a:t>
              </a:r>
              <a:r>
                <a:rPr lang="en" sz="1900">
                  <a:solidFill>
                    <a:srgbClr val="666666"/>
                  </a:solidFill>
                </a:rPr>
                <a:t> and enter the requested parameters.</a:t>
              </a:r>
              <a:endParaRPr sz="1900">
                <a:solidFill>
                  <a:srgbClr val="666666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rgbClr val="666666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00">
                  <a:solidFill>
                    <a:srgbClr val="666666"/>
                  </a:solidFill>
                </a:rPr>
                <a:t>To evaluate impacts of different stressors on material availability, expand the ‘Material Availability Scenarios’ tab and toggle on relevant scenarios. </a:t>
              </a:r>
              <a:endParaRPr sz="1900">
                <a:solidFill>
                  <a:srgbClr val="666666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00">
                <a:solidFill>
                  <a:srgbClr val="666666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900">
                  <a:solidFill>
                    <a:srgbClr val="666666"/>
                  </a:solidFill>
                </a:rPr>
                <a:t>To explore the impacts of material </a:t>
              </a:r>
              <a:r>
                <a:rPr lang="en" sz="1900">
                  <a:solidFill>
                    <a:srgbClr val="666666"/>
                  </a:solidFill>
                </a:rPr>
                <a:t>substitutions</a:t>
              </a:r>
              <a:r>
                <a:rPr lang="en" sz="1900">
                  <a:solidFill>
                    <a:srgbClr val="666666"/>
                  </a:solidFill>
                </a:rPr>
                <a:t>, expand the ‘Alternative Materials’ tab and adjust the utilization rate of </a:t>
              </a:r>
              <a:r>
                <a:rPr lang="en" sz="1900">
                  <a:solidFill>
                    <a:srgbClr val="666666"/>
                  </a:solidFill>
                </a:rPr>
                <a:t>relevant</a:t>
              </a:r>
              <a:r>
                <a:rPr lang="en" sz="1900">
                  <a:solidFill>
                    <a:srgbClr val="666666"/>
                  </a:solidFill>
                </a:rPr>
                <a:t> materials.</a:t>
              </a:r>
              <a:endParaRPr/>
            </a:p>
          </p:txBody>
        </p:sp>
        <p:sp>
          <p:nvSpPr>
            <p:cNvPr id="137" name="Google Shape;137;p13"/>
            <p:cNvSpPr/>
            <p:nvPr/>
          </p:nvSpPr>
          <p:spPr>
            <a:xfrm>
              <a:off x="18954325" y="-1149850"/>
              <a:ext cx="259800" cy="244500"/>
            </a:xfrm>
            <a:prstGeom prst="flowChartSummingJunction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38" name="Google Shape;138;p13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19136425" y="-957395"/>
              <a:ext cx="259800" cy="38889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9" name="Google Shape;139;p13"/>
          <p:cNvSpPr txBox="1"/>
          <p:nvPr/>
        </p:nvSpPr>
        <p:spPr>
          <a:xfrm>
            <a:off x="4114761" y="2009950"/>
            <a:ext cx="61194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Welcome to the Building Supply chain Material Analysis and Risk Trade-off (BuildSMART) Tool</a:t>
            </a:r>
            <a:endParaRPr b="1" sz="190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4"/>
          <p:cNvSpPr/>
          <p:nvPr/>
        </p:nvSpPr>
        <p:spPr>
          <a:xfrm>
            <a:off x="-3678" y="-1570"/>
            <a:ext cx="13725900" cy="811200"/>
          </a:xfrm>
          <a:prstGeom prst="rect">
            <a:avLst/>
          </a:prstGeom>
          <a:solidFill>
            <a:srgbClr val="EDF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4"/>
          <p:cNvSpPr/>
          <p:nvPr/>
        </p:nvSpPr>
        <p:spPr>
          <a:xfrm>
            <a:off x="463800" y="2745012"/>
            <a:ext cx="1510200" cy="193200"/>
          </a:xfrm>
          <a:prstGeom prst="rect">
            <a:avLst/>
          </a:prstGeom>
          <a:solidFill>
            <a:srgbClr val="EDF7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400" y="140109"/>
            <a:ext cx="672433" cy="510249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4"/>
          <p:cNvSpPr txBox="1"/>
          <p:nvPr>
            <p:ph type="ctrTitle"/>
          </p:nvPr>
        </p:nvSpPr>
        <p:spPr>
          <a:xfrm rot="-5400000">
            <a:off x="-4403264" y="3734200"/>
            <a:ext cx="7825800" cy="916200"/>
          </a:xfrm>
          <a:prstGeom prst="rect">
            <a:avLst/>
          </a:prstGeom>
        </p:spPr>
        <p:txBody>
          <a:bodyPr anchorCtr="0" anchor="b" bIns="140175" lIns="140175" spcFirstLastPara="1" rIns="140175" wrap="square" tIns="14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100"/>
              <a:t>BUILDING SELECTION</a:t>
            </a:r>
            <a:endParaRPr sz="4100"/>
          </a:p>
        </p:txBody>
      </p:sp>
      <p:sp>
        <p:nvSpPr>
          <p:cNvPr id="148" name="Google Shape;148;p14"/>
          <p:cNvSpPr/>
          <p:nvPr/>
        </p:nvSpPr>
        <p:spPr>
          <a:xfrm>
            <a:off x="309450" y="1688550"/>
            <a:ext cx="3608700" cy="1903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40175" lIns="140175" spcFirstLastPara="1" rIns="140175" wrap="square" tIns="140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Building Specifications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66666"/>
                </a:solidFill>
              </a:rPr>
              <a:t>         </a:t>
            </a:r>
            <a:endParaRPr sz="13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6666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300">
              <a:solidFill>
                <a:srgbClr val="66666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300">
              <a:solidFill>
                <a:srgbClr val="66666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3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66666"/>
              </a:solidFill>
            </a:endParaRPr>
          </a:p>
        </p:txBody>
      </p:sp>
      <p:grpSp>
        <p:nvGrpSpPr>
          <p:cNvPr id="149" name="Google Shape;149;p14"/>
          <p:cNvGrpSpPr/>
          <p:nvPr/>
        </p:nvGrpSpPr>
        <p:grpSpPr>
          <a:xfrm>
            <a:off x="313763" y="3802075"/>
            <a:ext cx="4161881" cy="524131"/>
            <a:chOff x="313750" y="2364051"/>
            <a:chExt cx="4161881" cy="524131"/>
          </a:xfrm>
        </p:grpSpPr>
        <p:grpSp>
          <p:nvGrpSpPr>
            <p:cNvPr id="150" name="Google Shape;150;p14"/>
            <p:cNvGrpSpPr/>
            <p:nvPr/>
          </p:nvGrpSpPr>
          <p:grpSpPr>
            <a:xfrm>
              <a:off x="313788" y="2364051"/>
              <a:ext cx="4161843" cy="524131"/>
              <a:chOff x="314635" y="1496385"/>
              <a:chExt cx="2462192" cy="377100"/>
            </a:xfrm>
          </p:grpSpPr>
          <p:sp>
            <p:nvSpPr>
              <p:cNvPr id="151" name="Google Shape;151;p14"/>
              <p:cNvSpPr/>
              <p:nvPr/>
            </p:nvSpPr>
            <p:spPr>
              <a:xfrm>
                <a:off x="314635" y="1532085"/>
                <a:ext cx="2135100" cy="3414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194825" lIns="194825" spcFirstLastPara="1" rIns="194825" wrap="square" tIns="1948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50">
                  <a:solidFill>
                    <a:schemeClr val="dk1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50">
                  <a:solidFill>
                    <a:schemeClr val="dk1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50">
                  <a:solidFill>
                    <a:schemeClr val="dk1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50">
                  <a:solidFill>
                    <a:schemeClr val="dk1"/>
                  </a:solidFill>
                </a:endParaRPr>
              </a:p>
            </p:txBody>
          </p:sp>
          <p:grpSp>
            <p:nvGrpSpPr>
              <p:cNvPr id="152" name="Google Shape;152;p14"/>
              <p:cNvGrpSpPr/>
              <p:nvPr/>
            </p:nvGrpSpPr>
            <p:grpSpPr>
              <a:xfrm>
                <a:off x="1905750" y="1496385"/>
                <a:ext cx="871077" cy="317400"/>
                <a:chOff x="1905813" y="1496535"/>
                <a:chExt cx="871077" cy="317400"/>
              </a:xfrm>
            </p:grpSpPr>
            <p:sp>
              <p:nvSpPr>
                <p:cNvPr id="153" name="Google Shape;153;p14"/>
                <p:cNvSpPr/>
                <p:nvPr/>
              </p:nvSpPr>
              <p:spPr>
                <a:xfrm rot="-10800000">
                  <a:off x="1905813" y="1608215"/>
                  <a:ext cx="421893" cy="181722"/>
                </a:xfrm>
                <a:prstGeom prst="flowChartMagneticDrum">
                  <a:avLst/>
                </a:prstGeom>
                <a:solidFill>
                  <a:srgbClr val="CCCCCC"/>
                </a:solidFill>
                <a:ln cap="flat" cmpd="sng" w="132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194825" lIns="194825" spcFirstLastPara="1" rIns="194825" wrap="square" tIns="1948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918"/>
                </a:p>
              </p:txBody>
            </p:sp>
            <p:sp>
              <p:nvSpPr>
                <p:cNvPr id="154" name="Google Shape;154;p14"/>
                <p:cNvSpPr/>
                <p:nvPr/>
              </p:nvSpPr>
              <p:spPr>
                <a:xfrm>
                  <a:off x="1905813" y="1605800"/>
                  <a:ext cx="153600" cy="181800"/>
                </a:xfrm>
                <a:prstGeom prst="ellipse">
                  <a:avLst/>
                </a:prstGeom>
                <a:solidFill>
                  <a:schemeClr val="lt1"/>
                </a:solidFill>
                <a:ln cap="flat" cmpd="sng" w="132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194825" lIns="194825" spcFirstLastPara="1" rIns="194825" wrap="square" tIns="1948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918"/>
                </a:p>
              </p:txBody>
            </p:sp>
            <p:sp>
              <p:nvSpPr>
                <p:cNvPr id="155" name="Google Shape;155;p14"/>
                <p:cNvSpPr txBox="1"/>
                <p:nvPr/>
              </p:nvSpPr>
              <p:spPr>
                <a:xfrm>
                  <a:off x="1960890" y="1496535"/>
                  <a:ext cx="816000" cy="317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94825" lIns="194825" spcFirstLastPara="1" rIns="194825" wrap="square" tIns="1948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250">
                      <a:solidFill>
                        <a:schemeClr val="lt1"/>
                      </a:solidFill>
                    </a:rPr>
                    <a:t>Off</a:t>
                  </a:r>
                  <a:endParaRPr sz="1250">
                    <a:solidFill>
                      <a:schemeClr val="lt1"/>
                    </a:solidFill>
                  </a:endParaRPr>
                </a:p>
              </p:txBody>
            </p:sp>
          </p:grpSp>
        </p:grpSp>
        <p:sp>
          <p:nvSpPr>
            <p:cNvPr id="156" name="Google Shape;156;p14"/>
            <p:cNvSpPr txBox="1"/>
            <p:nvPr/>
          </p:nvSpPr>
          <p:spPr>
            <a:xfrm>
              <a:off x="313750" y="2449250"/>
              <a:ext cx="30000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chemeClr val="dk1"/>
                  </a:solidFill>
                </a:rPr>
                <a:t>Material Availability Scenarios</a:t>
              </a:r>
              <a:endParaRPr b="1">
                <a:solidFill>
                  <a:schemeClr val="dk1"/>
                </a:solidFill>
              </a:endParaRPr>
            </a:p>
          </p:txBody>
        </p:sp>
      </p:grpSp>
      <p:grpSp>
        <p:nvGrpSpPr>
          <p:cNvPr id="157" name="Google Shape;157;p14"/>
          <p:cNvGrpSpPr/>
          <p:nvPr/>
        </p:nvGrpSpPr>
        <p:grpSpPr>
          <a:xfrm>
            <a:off x="309438" y="4518583"/>
            <a:ext cx="4170545" cy="534623"/>
            <a:chOff x="313750" y="2353562"/>
            <a:chExt cx="4170545" cy="534623"/>
          </a:xfrm>
        </p:grpSpPr>
        <p:grpSp>
          <p:nvGrpSpPr>
            <p:cNvPr id="158" name="Google Shape;158;p14"/>
            <p:cNvGrpSpPr/>
            <p:nvPr/>
          </p:nvGrpSpPr>
          <p:grpSpPr>
            <a:xfrm>
              <a:off x="313775" y="2353562"/>
              <a:ext cx="4170520" cy="534623"/>
              <a:chOff x="314627" y="1488838"/>
              <a:chExt cx="2467325" cy="384649"/>
            </a:xfrm>
          </p:grpSpPr>
          <p:sp>
            <p:nvSpPr>
              <p:cNvPr id="159" name="Google Shape;159;p14"/>
              <p:cNvSpPr/>
              <p:nvPr/>
            </p:nvSpPr>
            <p:spPr>
              <a:xfrm>
                <a:off x="314627" y="1532087"/>
                <a:ext cx="2135100" cy="3414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194825" lIns="194825" spcFirstLastPara="1" rIns="194825" wrap="square" tIns="1948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50">
                  <a:solidFill>
                    <a:schemeClr val="dk1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50">
                  <a:solidFill>
                    <a:schemeClr val="dk1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50">
                  <a:solidFill>
                    <a:schemeClr val="dk1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50">
                  <a:solidFill>
                    <a:schemeClr val="dk1"/>
                  </a:solidFill>
                </a:endParaRPr>
              </a:p>
            </p:txBody>
          </p:sp>
          <p:grpSp>
            <p:nvGrpSpPr>
              <p:cNvPr id="160" name="Google Shape;160;p14"/>
              <p:cNvGrpSpPr/>
              <p:nvPr/>
            </p:nvGrpSpPr>
            <p:grpSpPr>
              <a:xfrm>
                <a:off x="1905750" y="1488838"/>
                <a:ext cx="876202" cy="317400"/>
                <a:chOff x="1905813" y="1488988"/>
                <a:chExt cx="876202" cy="317400"/>
              </a:xfrm>
            </p:grpSpPr>
            <p:sp>
              <p:nvSpPr>
                <p:cNvPr id="161" name="Google Shape;161;p14"/>
                <p:cNvSpPr/>
                <p:nvPr/>
              </p:nvSpPr>
              <p:spPr>
                <a:xfrm rot="-10800000">
                  <a:off x="1905813" y="1608215"/>
                  <a:ext cx="421893" cy="181722"/>
                </a:xfrm>
                <a:prstGeom prst="flowChartMagneticDrum">
                  <a:avLst/>
                </a:prstGeom>
                <a:solidFill>
                  <a:srgbClr val="CCCCCC"/>
                </a:solidFill>
                <a:ln cap="flat" cmpd="sng" w="132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194825" lIns="194825" spcFirstLastPara="1" rIns="194825" wrap="square" tIns="1948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918"/>
                </a:p>
              </p:txBody>
            </p:sp>
            <p:sp>
              <p:nvSpPr>
                <p:cNvPr id="162" name="Google Shape;162;p14"/>
                <p:cNvSpPr/>
                <p:nvPr/>
              </p:nvSpPr>
              <p:spPr>
                <a:xfrm>
                  <a:off x="1905813" y="1605800"/>
                  <a:ext cx="153600" cy="181800"/>
                </a:xfrm>
                <a:prstGeom prst="ellipse">
                  <a:avLst/>
                </a:prstGeom>
                <a:solidFill>
                  <a:schemeClr val="lt1"/>
                </a:solidFill>
                <a:ln cap="flat" cmpd="sng" w="132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194825" lIns="194825" spcFirstLastPara="1" rIns="194825" wrap="square" tIns="1948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918"/>
                </a:p>
              </p:txBody>
            </p:sp>
            <p:sp>
              <p:nvSpPr>
                <p:cNvPr id="163" name="Google Shape;163;p14"/>
                <p:cNvSpPr txBox="1"/>
                <p:nvPr/>
              </p:nvSpPr>
              <p:spPr>
                <a:xfrm>
                  <a:off x="1966015" y="1488988"/>
                  <a:ext cx="816000" cy="317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94825" lIns="194825" spcFirstLastPara="1" rIns="194825" wrap="square" tIns="1948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250">
                      <a:solidFill>
                        <a:schemeClr val="lt1"/>
                      </a:solidFill>
                    </a:rPr>
                    <a:t>Off</a:t>
                  </a:r>
                  <a:endParaRPr sz="1250">
                    <a:solidFill>
                      <a:schemeClr val="lt1"/>
                    </a:solidFill>
                  </a:endParaRPr>
                </a:p>
              </p:txBody>
            </p:sp>
          </p:grpSp>
        </p:grpSp>
        <p:sp>
          <p:nvSpPr>
            <p:cNvPr id="164" name="Google Shape;164;p14"/>
            <p:cNvSpPr txBox="1"/>
            <p:nvPr/>
          </p:nvSpPr>
          <p:spPr>
            <a:xfrm>
              <a:off x="313750" y="2449250"/>
              <a:ext cx="3000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</a:rPr>
                <a:t>Alternative Materials</a:t>
              </a:r>
              <a:endParaRPr b="1">
                <a:solidFill>
                  <a:schemeClr val="dk1"/>
                </a:solidFill>
              </a:endParaRPr>
            </a:p>
          </p:txBody>
        </p:sp>
      </p:grpSp>
      <p:cxnSp>
        <p:nvCxnSpPr>
          <p:cNvPr id="165" name="Google Shape;165;p14"/>
          <p:cNvCxnSpPr>
            <a:stCxn id="166" idx="1"/>
          </p:cNvCxnSpPr>
          <p:nvPr/>
        </p:nvCxnSpPr>
        <p:spPr>
          <a:xfrm>
            <a:off x="2742802" y="2919742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" name="Google Shape;167;p14"/>
          <p:cNvSpPr/>
          <p:nvPr/>
        </p:nvSpPr>
        <p:spPr>
          <a:xfrm>
            <a:off x="2459334" y="1915473"/>
            <a:ext cx="167100" cy="101400"/>
          </a:xfrm>
          <a:prstGeom prst="triangle">
            <a:avLst>
              <a:gd fmla="val 50000" name="adj"/>
            </a:avLst>
          </a:prstGeom>
          <a:solidFill>
            <a:srgbClr val="B7B7B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0175" lIns="140175" spcFirstLastPara="1" rIns="140175" wrap="square" tIns="14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pic>
        <p:nvPicPr>
          <p:cNvPr id="168" name="Google Shape;168;p1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28366" y="2967542"/>
            <a:ext cx="259800" cy="388892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14"/>
          <p:cNvSpPr/>
          <p:nvPr/>
        </p:nvSpPr>
        <p:spPr>
          <a:xfrm>
            <a:off x="463800" y="2219925"/>
            <a:ext cx="1510200" cy="255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</a:rPr>
              <a:t>Building archetype</a:t>
            </a:r>
            <a:endParaRPr sz="1000">
              <a:solidFill>
                <a:srgbClr val="666666"/>
              </a:solidFill>
            </a:endParaRPr>
          </a:p>
        </p:txBody>
      </p:sp>
      <p:sp>
        <p:nvSpPr>
          <p:cNvPr id="170" name="Google Shape;170;p14"/>
          <p:cNvSpPr/>
          <p:nvPr/>
        </p:nvSpPr>
        <p:spPr>
          <a:xfrm>
            <a:off x="1748347" y="2297400"/>
            <a:ext cx="167100" cy="101400"/>
          </a:xfrm>
          <a:prstGeom prst="triangle">
            <a:avLst>
              <a:gd fmla="val 50000" name="adj"/>
            </a:avLst>
          </a:prstGeom>
          <a:solidFill>
            <a:srgbClr val="B7B7B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0175" lIns="140175" spcFirstLastPara="1" rIns="140175" wrap="square" tIns="14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171" name="Google Shape;171;p14"/>
          <p:cNvSpPr/>
          <p:nvPr/>
        </p:nvSpPr>
        <p:spPr>
          <a:xfrm>
            <a:off x="463800" y="2562062"/>
            <a:ext cx="1510200" cy="873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</a:rPr>
              <a:t>Aircraft maintenance</a:t>
            </a:r>
            <a:endParaRPr i="1" sz="90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</a:rPr>
              <a:t>Health services</a:t>
            </a:r>
            <a:endParaRPr i="1" sz="90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</a:rPr>
              <a:t>Laboratory</a:t>
            </a:r>
            <a:endParaRPr i="1" sz="90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</a:rPr>
              <a:t>Office</a:t>
            </a:r>
            <a:endParaRPr i="1" sz="900">
              <a:solidFill>
                <a:srgbClr val="666666"/>
              </a:solidFill>
            </a:endParaRPr>
          </a:p>
        </p:txBody>
      </p:sp>
      <p:sp>
        <p:nvSpPr>
          <p:cNvPr id="172" name="Google Shape;172;p14"/>
          <p:cNvSpPr/>
          <p:nvPr/>
        </p:nvSpPr>
        <p:spPr>
          <a:xfrm>
            <a:off x="2090378" y="2220300"/>
            <a:ext cx="1002600" cy="255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</a:rPr>
              <a:t>Size (sq. ft)</a:t>
            </a:r>
            <a:endParaRPr sz="1000">
              <a:solidFill>
                <a:srgbClr val="666666"/>
              </a:solidFill>
            </a:endParaRPr>
          </a:p>
        </p:txBody>
      </p:sp>
      <p:sp>
        <p:nvSpPr>
          <p:cNvPr id="173" name="Google Shape;173;p14"/>
          <p:cNvSpPr/>
          <p:nvPr/>
        </p:nvSpPr>
        <p:spPr>
          <a:xfrm>
            <a:off x="322450" y="1045650"/>
            <a:ext cx="3608700" cy="43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0175" lIns="140175" spcFirstLastPara="1" rIns="140175" wrap="square" tIns="140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999999"/>
                </a:solidFill>
              </a:rPr>
              <a:t>       Ventura County, CA</a:t>
            </a:r>
            <a:endParaRPr sz="1500">
              <a:solidFill>
                <a:srgbClr val="999999"/>
              </a:solidFill>
            </a:endParaRPr>
          </a:p>
        </p:txBody>
      </p:sp>
      <p:pic>
        <p:nvPicPr>
          <p:cNvPr id="174" name="Google Shape;174;p1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0625" y="1067100"/>
            <a:ext cx="388875" cy="38887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75" name="Google Shape;175;p14"/>
          <p:cNvSpPr/>
          <p:nvPr/>
        </p:nvSpPr>
        <p:spPr>
          <a:xfrm>
            <a:off x="2969943" y="1915475"/>
            <a:ext cx="7386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</a:rPr>
              <a:t>Reuse </a:t>
            </a:r>
            <a:endParaRPr sz="900">
              <a:solidFill>
                <a:srgbClr val="66666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</a:rPr>
              <a:t>materials?</a:t>
            </a:r>
            <a:endParaRPr sz="900">
              <a:solidFill>
                <a:srgbClr val="666666"/>
              </a:solidFill>
            </a:endParaRPr>
          </a:p>
        </p:txBody>
      </p:sp>
      <p:sp>
        <p:nvSpPr>
          <p:cNvPr id="176" name="Google Shape;176;p14"/>
          <p:cNvSpPr/>
          <p:nvPr/>
        </p:nvSpPr>
        <p:spPr>
          <a:xfrm>
            <a:off x="3209350" y="2219925"/>
            <a:ext cx="259800" cy="255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4"/>
          <p:cNvSpPr txBox="1"/>
          <p:nvPr>
            <p:ph idx="1" type="subTitle"/>
          </p:nvPr>
        </p:nvSpPr>
        <p:spPr>
          <a:xfrm>
            <a:off x="761825" y="140088"/>
            <a:ext cx="12825300" cy="510300"/>
          </a:xfrm>
          <a:prstGeom prst="rect">
            <a:avLst/>
          </a:prstGeom>
          <a:ln>
            <a:noFill/>
          </a:ln>
        </p:spPr>
        <p:txBody>
          <a:bodyPr anchorCtr="0" anchor="t" bIns="140175" lIns="140175" spcFirstLastPara="1" rIns="140175" wrap="square" tIns="140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Merriweather"/>
                <a:ea typeface="Merriweather"/>
                <a:cs typeface="Merriweather"/>
                <a:sym typeface="Merriweather"/>
              </a:rPr>
              <a:t>Building Supply chain Material Analysis and Risk Trade-off Tool (BuildSMART v1)</a:t>
            </a:r>
            <a:r>
              <a:rPr b="1" lang="en" sz="1700"/>
              <a:t>           </a:t>
            </a:r>
            <a:r>
              <a:rPr b="1" lang="en" sz="1700">
                <a:solidFill>
                  <a:srgbClr val="999999"/>
                </a:solidFill>
              </a:rPr>
              <a:t>Main Page         </a:t>
            </a:r>
            <a:r>
              <a:rPr b="1" lang="en" sz="1700">
                <a:solidFill>
                  <a:srgbClr val="999999"/>
                </a:solidFill>
              </a:rPr>
              <a:t>About</a:t>
            </a:r>
            <a:r>
              <a:rPr b="1" lang="en" sz="1700">
                <a:solidFill>
                  <a:srgbClr val="999999"/>
                </a:solidFill>
              </a:rPr>
              <a:t>          Contact</a:t>
            </a:r>
            <a:endParaRPr b="1" sz="1700">
              <a:solidFill>
                <a:srgbClr val="999999"/>
              </a:solidFill>
            </a:endParaRPr>
          </a:p>
        </p:txBody>
      </p:sp>
      <p:grpSp>
        <p:nvGrpSpPr>
          <p:cNvPr id="178" name="Google Shape;178;p14"/>
          <p:cNvGrpSpPr/>
          <p:nvPr/>
        </p:nvGrpSpPr>
        <p:grpSpPr>
          <a:xfrm>
            <a:off x="4340597" y="932880"/>
            <a:ext cx="9062816" cy="6768625"/>
            <a:chOff x="4340597" y="932880"/>
            <a:chExt cx="9062816" cy="6768625"/>
          </a:xfrm>
        </p:grpSpPr>
        <p:grpSp>
          <p:nvGrpSpPr>
            <p:cNvPr id="179" name="Google Shape;179;p14"/>
            <p:cNvGrpSpPr/>
            <p:nvPr/>
          </p:nvGrpSpPr>
          <p:grpSpPr>
            <a:xfrm>
              <a:off x="4340597" y="7083175"/>
              <a:ext cx="4557232" cy="618331"/>
              <a:chOff x="4268193" y="552116"/>
              <a:chExt cx="6213843" cy="697025"/>
            </a:xfrm>
          </p:grpSpPr>
          <p:sp>
            <p:nvSpPr>
              <p:cNvPr id="180" name="Google Shape;180;p14"/>
              <p:cNvSpPr/>
              <p:nvPr/>
            </p:nvSpPr>
            <p:spPr>
              <a:xfrm>
                <a:off x="6760562" y="609015"/>
                <a:ext cx="3546300" cy="255600"/>
              </a:xfrm>
              <a:prstGeom prst="roundRect">
                <a:avLst>
                  <a:gd fmla="val 16667" name="adj"/>
                </a:avLst>
              </a:prstGeom>
              <a:solidFill>
                <a:schemeClr val="lt2"/>
              </a:solidFill>
              <a:ln cap="flat" cmpd="sng" w="84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1100" lIns="81100" spcFirstLastPara="1" rIns="81100" wrap="square" tIns="811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41"/>
              </a:p>
            </p:txBody>
          </p:sp>
          <p:sp>
            <p:nvSpPr>
              <p:cNvPr id="181" name="Google Shape;181;p14"/>
              <p:cNvSpPr txBox="1"/>
              <p:nvPr/>
            </p:nvSpPr>
            <p:spPr>
              <a:xfrm>
                <a:off x="4268193" y="552116"/>
                <a:ext cx="2855100" cy="28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1100" lIns="81100" spcFirstLastPara="1" rIns="81100" wrap="square" tIns="811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86">
                    <a:solidFill>
                      <a:srgbClr val="B7B7B7"/>
                    </a:solidFill>
                  </a:rPr>
                  <a:t>CONSTRUCTION YEAR</a:t>
                </a:r>
                <a:endParaRPr b="1" sz="1186">
                  <a:solidFill>
                    <a:srgbClr val="B7B7B7"/>
                  </a:solidFill>
                </a:endParaRPr>
              </a:p>
            </p:txBody>
          </p:sp>
          <p:sp>
            <p:nvSpPr>
              <p:cNvPr id="182" name="Google Shape;182;p14"/>
              <p:cNvSpPr txBox="1"/>
              <p:nvPr/>
            </p:nvSpPr>
            <p:spPr>
              <a:xfrm>
                <a:off x="6732035" y="810841"/>
                <a:ext cx="37500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1100" lIns="81100" spcFirstLastPara="1" rIns="81100" wrap="square" tIns="811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20">
                    <a:solidFill>
                      <a:schemeClr val="dk2"/>
                    </a:solidFill>
                  </a:rPr>
                  <a:t>2020	2030	2040	2050	2060	2070</a:t>
                </a:r>
                <a:endParaRPr sz="620">
                  <a:solidFill>
                    <a:schemeClr val="dk2"/>
                  </a:solidFill>
                </a:endParaRPr>
              </a:p>
            </p:txBody>
          </p:sp>
          <p:sp>
            <p:nvSpPr>
              <p:cNvPr id="183" name="Google Shape;183;p14"/>
              <p:cNvSpPr/>
              <p:nvPr/>
            </p:nvSpPr>
            <p:spPr>
              <a:xfrm>
                <a:off x="6766092" y="605847"/>
                <a:ext cx="202200" cy="25560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 cap="flat" cmpd="sng" w="84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1100" lIns="81100" spcFirstLastPara="1" rIns="81100" wrap="square" tIns="811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41"/>
              </a:p>
            </p:txBody>
          </p:sp>
        </p:grpSp>
        <p:grpSp>
          <p:nvGrpSpPr>
            <p:cNvPr id="184" name="Google Shape;184;p14"/>
            <p:cNvGrpSpPr/>
            <p:nvPr/>
          </p:nvGrpSpPr>
          <p:grpSpPr>
            <a:xfrm>
              <a:off x="8869612" y="4172248"/>
              <a:ext cx="4405034" cy="2794775"/>
              <a:chOff x="9037729" y="4704523"/>
              <a:chExt cx="4405034" cy="2794775"/>
            </a:xfrm>
          </p:grpSpPr>
          <p:grpSp>
            <p:nvGrpSpPr>
              <p:cNvPr id="185" name="Google Shape;185;p14"/>
              <p:cNvGrpSpPr/>
              <p:nvPr/>
            </p:nvGrpSpPr>
            <p:grpSpPr>
              <a:xfrm>
                <a:off x="9037729" y="4704523"/>
                <a:ext cx="4405034" cy="2794775"/>
                <a:chOff x="9079752" y="3946051"/>
                <a:chExt cx="4405034" cy="2794775"/>
              </a:xfrm>
            </p:grpSpPr>
            <p:sp>
              <p:nvSpPr>
                <p:cNvPr id="186" name="Google Shape;186;p14"/>
                <p:cNvSpPr txBox="1"/>
                <p:nvPr/>
              </p:nvSpPr>
              <p:spPr>
                <a:xfrm>
                  <a:off x="9079752" y="3946051"/>
                  <a:ext cx="4073400" cy="37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73200" lIns="73200" spcFirstLastPara="1" rIns="73200" wrap="square" tIns="73200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481">
                      <a:solidFill>
                        <a:srgbClr val="666666"/>
                      </a:solidFill>
                    </a:rPr>
                    <a:t>PROJECTED MATERIAL AVAILABILITY</a:t>
                  </a:r>
                  <a:endParaRPr b="1" sz="360">
                    <a:solidFill>
                      <a:srgbClr val="666666"/>
                    </a:solidFill>
                  </a:endParaRPr>
                </a:p>
              </p:txBody>
            </p:sp>
            <p:sp>
              <p:nvSpPr>
                <p:cNvPr id="187" name="Google Shape;187;p14"/>
                <p:cNvSpPr/>
                <p:nvPr/>
              </p:nvSpPr>
              <p:spPr>
                <a:xfrm>
                  <a:off x="9148885" y="4259825"/>
                  <a:ext cx="4335900" cy="2481000"/>
                </a:xfrm>
                <a:prstGeom prst="rect">
                  <a:avLst/>
                </a:prstGeom>
                <a:noFill/>
                <a:ln cap="flat" cmpd="sng" w="76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73200" lIns="73200" spcFirstLastPara="1" rIns="73200" wrap="square" tIns="732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120"/>
                </a:p>
              </p:txBody>
            </p:sp>
            <p:pic>
              <p:nvPicPr>
                <p:cNvPr id="188" name="Google Shape;188;p14" title="Screenshot 2026-02-19 at 10.15.05 AM.png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 b="0" l="0" r="-281" t="0"/>
                <a:stretch/>
              </p:blipFill>
              <p:spPr>
                <a:xfrm>
                  <a:off x="9286250" y="4386900"/>
                  <a:ext cx="4073401" cy="2226850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99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pic>
          </p:grpSp>
          <p:pic>
            <p:nvPicPr>
              <p:cNvPr id="189" name="Google Shape;189;p14" title="expand-icon-symbol-design-illustration-vector.jpg"/>
              <p:cNvPicPr preferRelativeResize="0"/>
              <p:nvPr/>
            </p:nvPicPr>
            <p:blipFill rotWithShape="1">
              <a:blip r:embed="rId8">
                <a:alphaModFix/>
              </a:blip>
              <a:srcRect b="11143" l="12219" r="0" t="0"/>
              <a:stretch/>
            </p:blipFill>
            <p:spPr>
              <a:xfrm>
                <a:off x="13211244" y="5054337"/>
                <a:ext cx="224376" cy="2271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190" name="Google Shape;190;p14"/>
            <p:cNvCxnSpPr/>
            <p:nvPr/>
          </p:nvCxnSpPr>
          <p:spPr>
            <a:xfrm>
              <a:off x="4426782" y="4027001"/>
              <a:ext cx="8858100" cy="600"/>
            </a:xfrm>
            <a:prstGeom prst="straightConnector1">
              <a:avLst/>
            </a:prstGeom>
            <a:noFill/>
            <a:ln cap="flat" cmpd="sng" w="9525">
              <a:solidFill>
                <a:srgbClr val="99999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91" name="Google Shape;191;p14"/>
            <p:cNvGrpSpPr/>
            <p:nvPr/>
          </p:nvGrpSpPr>
          <p:grpSpPr>
            <a:xfrm>
              <a:off x="8846180" y="7077437"/>
              <a:ext cx="4557232" cy="618331"/>
              <a:chOff x="4268193" y="552116"/>
              <a:chExt cx="6213843" cy="697025"/>
            </a:xfrm>
          </p:grpSpPr>
          <p:sp>
            <p:nvSpPr>
              <p:cNvPr id="192" name="Google Shape;192;p14"/>
              <p:cNvSpPr/>
              <p:nvPr/>
            </p:nvSpPr>
            <p:spPr>
              <a:xfrm>
                <a:off x="6760562" y="609015"/>
                <a:ext cx="3546300" cy="255600"/>
              </a:xfrm>
              <a:prstGeom prst="roundRect">
                <a:avLst>
                  <a:gd fmla="val 16667" name="adj"/>
                </a:avLst>
              </a:prstGeom>
              <a:solidFill>
                <a:schemeClr val="lt2"/>
              </a:solidFill>
              <a:ln cap="flat" cmpd="sng" w="84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1100" lIns="81100" spcFirstLastPara="1" rIns="81100" wrap="square" tIns="811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41"/>
              </a:p>
            </p:txBody>
          </p:sp>
          <p:sp>
            <p:nvSpPr>
              <p:cNvPr id="193" name="Google Shape;193;p14"/>
              <p:cNvSpPr txBox="1"/>
              <p:nvPr/>
            </p:nvSpPr>
            <p:spPr>
              <a:xfrm>
                <a:off x="4268193" y="552116"/>
                <a:ext cx="2855100" cy="28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1100" lIns="81100" spcFirstLastPara="1" rIns="81100" wrap="square" tIns="811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86">
                    <a:solidFill>
                      <a:srgbClr val="B7B7B7"/>
                    </a:solidFill>
                  </a:rPr>
                  <a:t>CONSTRUCTION YEAR</a:t>
                </a:r>
                <a:endParaRPr b="1" sz="1186">
                  <a:solidFill>
                    <a:srgbClr val="B7B7B7"/>
                  </a:solidFill>
                </a:endParaRPr>
              </a:p>
            </p:txBody>
          </p:sp>
          <p:sp>
            <p:nvSpPr>
              <p:cNvPr id="194" name="Google Shape;194;p14"/>
              <p:cNvSpPr txBox="1"/>
              <p:nvPr/>
            </p:nvSpPr>
            <p:spPr>
              <a:xfrm>
                <a:off x="6732035" y="810841"/>
                <a:ext cx="37500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1100" lIns="81100" spcFirstLastPara="1" rIns="81100" wrap="square" tIns="811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20">
                    <a:solidFill>
                      <a:schemeClr val="dk2"/>
                    </a:solidFill>
                  </a:rPr>
                  <a:t>2020	2030	2040	2050	2060	2070</a:t>
                </a:r>
                <a:endParaRPr sz="620">
                  <a:solidFill>
                    <a:schemeClr val="dk2"/>
                  </a:solidFill>
                </a:endParaRPr>
              </a:p>
            </p:txBody>
          </p:sp>
          <p:sp>
            <p:nvSpPr>
              <p:cNvPr id="195" name="Google Shape;195;p14"/>
              <p:cNvSpPr/>
              <p:nvPr/>
            </p:nvSpPr>
            <p:spPr>
              <a:xfrm>
                <a:off x="6766092" y="605847"/>
                <a:ext cx="202200" cy="25560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 cap="flat" cmpd="sng" w="84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1100" lIns="81100" spcFirstLastPara="1" rIns="81100" wrap="square" tIns="811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41"/>
              </a:p>
            </p:txBody>
          </p:sp>
        </p:grpSp>
        <p:grpSp>
          <p:nvGrpSpPr>
            <p:cNvPr id="196" name="Google Shape;196;p14"/>
            <p:cNvGrpSpPr/>
            <p:nvPr/>
          </p:nvGrpSpPr>
          <p:grpSpPr>
            <a:xfrm>
              <a:off x="4349911" y="934411"/>
              <a:ext cx="4421103" cy="2819555"/>
              <a:chOff x="4349911" y="934411"/>
              <a:chExt cx="4421103" cy="2819555"/>
            </a:xfrm>
          </p:grpSpPr>
          <p:grpSp>
            <p:nvGrpSpPr>
              <p:cNvPr id="197" name="Google Shape;197;p14"/>
              <p:cNvGrpSpPr/>
              <p:nvPr/>
            </p:nvGrpSpPr>
            <p:grpSpPr>
              <a:xfrm>
                <a:off x="4349911" y="934411"/>
                <a:ext cx="4421103" cy="2819555"/>
                <a:chOff x="4043712" y="1229950"/>
                <a:chExt cx="5522238" cy="3521803"/>
              </a:xfrm>
            </p:grpSpPr>
            <p:sp>
              <p:nvSpPr>
                <p:cNvPr id="198" name="Google Shape;198;p14"/>
                <p:cNvSpPr/>
                <p:nvPr/>
              </p:nvSpPr>
              <p:spPr>
                <a:xfrm>
                  <a:off x="4150050" y="1612488"/>
                  <a:ext cx="5415900" cy="3099000"/>
                </a:xfrm>
                <a:prstGeom prst="rect">
                  <a:avLst/>
                </a:prstGeom>
                <a:noFill/>
                <a:ln cap="flat" cmpd="sng" w="76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73200" lIns="73200" spcFirstLastPara="1" rIns="73200" wrap="square" tIns="732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120"/>
                </a:p>
              </p:txBody>
            </p:sp>
            <p:grpSp>
              <p:nvGrpSpPr>
                <p:cNvPr id="199" name="Google Shape;199;p14"/>
                <p:cNvGrpSpPr/>
                <p:nvPr/>
              </p:nvGrpSpPr>
              <p:grpSpPr>
                <a:xfrm>
                  <a:off x="4043712" y="1229950"/>
                  <a:ext cx="5157113" cy="3421454"/>
                  <a:chOff x="4205837" y="1005375"/>
                  <a:chExt cx="5157113" cy="3421454"/>
                </a:xfrm>
              </p:grpSpPr>
              <p:pic>
                <p:nvPicPr>
                  <p:cNvPr id="200" name="Google Shape;200;p14" title="Chart"/>
                  <p:cNvPicPr preferRelativeResize="0"/>
                  <p:nvPr/>
                </p:nvPicPr>
                <p:blipFill rotWithShape="1">
                  <a:blip r:embed="rId9">
                    <a:alphaModFix/>
                  </a:blip>
                  <a:srcRect b="0" l="0" r="0" t="11143"/>
                  <a:stretch/>
                </p:blipFill>
                <p:spPr>
                  <a:xfrm>
                    <a:off x="4479975" y="1744863"/>
                    <a:ext cx="4882975" cy="26819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01" name="Google Shape;201;p14"/>
                  <p:cNvSpPr txBox="1"/>
                  <p:nvPr/>
                </p:nvSpPr>
                <p:spPr>
                  <a:xfrm>
                    <a:off x="4205837" y="1005375"/>
                    <a:ext cx="4417800" cy="469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73200" lIns="73200" spcFirstLastPara="1" rIns="73200" wrap="square" tIns="73200">
                    <a:sp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lang="en" sz="1481">
                        <a:solidFill>
                          <a:srgbClr val="666666"/>
                        </a:solidFill>
                      </a:rPr>
                      <a:t>BASELINE MATERIAL DEMAND</a:t>
                    </a:r>
                    <a:endParaRPr b="1" sz="360">
                      <a:solidFill>
                        <a:srgbClr val="666666"/>
                      </a:solidFill>
                    </a:endParaRPr>
                  </a:p>
                </p:txBody>
              </p:sp>
            </p:grpSp>
            <p:grpSp>
              <p:nvGrpSpPr>
                <p:cNvPr id="202" name="Google Shape;202;p14"/>
                <p:cNvGrpSpPr/>
                <p:nvPr/>
              </p:nvGrpSpPr>
              <p:grpSpPr>
                <a:xfrm>
                  <a:off x="4056895" y="4208337"/>
                  <a:ext cx="1928164" cy="543415"/>
                  <a:chOff x="4257757" y="4208337"/>
                  <a:chExt cx="1928164" cy="543415"/>
                </a:xfrm>
              </p:grpSpPr>
              <p:sp>
                <p:nvSpPr>
                  <p:cNvPr id="203" name="Google Shape;203;p14"/>
                  <p:cNvSpPr txBox="1"/>
                  <p:nvPr/>
                </p:nvSpPr>
                <p:spPr>
                  <a:xfrm>
                    <a:off x="4257757" y="4241453"/>
                    <a:ext cx="1269300" cy="510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156000" lIns="156000" spcFirstLastPara="1" rIns="156000" wrap="square" tIns="1560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761">
                        <a:solidFill>
                          <a:srgbClr val="999999"/>
                        </a:solidFill>
                      </a:rPr>
                      <a:t>Sankey diagram</a:t>
                    </a:r>
                    <a:endParaRPr sz="761">
                      <a:solidFill>
                        <a:srgbClr val="999999"/>
                      </a:solidFill>
                    </a:endParaRPr>
                  </a:p>
                </p:txBody>
              </p:sp>
              <p:grpSp>
                <p:nvGrpSpPr>
                  <p:cNvPr id="204" name="Google Shape;204;p14"/>
                  <p:cNvGrpSpPr/>
                  <p:nvPr/>
                </p:nvGrpSpPr>
                <p:grpSpPr>
                  <a:xfrm>
                    <a:off x="5383729" y="4208337"/>
                    <a:ext cx="802192" cy="433200"/>
                    <a:chOff x="5383729" y="4208337"/>
                    <a:chExt cx="802192" cy="433200"/>
                  </a:xfrm>
                </p:grpSpPr>
                <p:grpSp>
                  <p:nvGrpSpPr>
                    <p:cNvPr id="205" name="Google Shape;205;p14"/>
                    <p:cNvGrpSpPr/>
                    <p:nvPr/>
                  </p:nvGrpSpPr>
                  <p:grpSpPr>
                    <a:xfrm>
                      <a:off x="5383729" y="4365780"/>
                      <a:ext cx="764855" cy="261650"/>
                      <a:chOff x="5505854" y="4365730"/>
                      <a:chExt cx="764855" cy="261650"/>
                    </a:xfrm>
                  </p:grpSpPr>
                  <p:sp>
                    <p:nvSpPr>
                      <p:cNvPr id="206" name="Google Shape;206;p14"/>
                      <p:cNvSpPr/>
                      <p:nvPr/>
                    </p:nvSpPr>
                    <p:spPr>
                      <a:xfrm rot="-10800000">
                        <a:off x="5513034" y="4365730"/>
                        <a:ext cx="757675" cy="261650"/>
                      </a:xfrm>
                      <a:prstGeom prst="flowChartMagneticDrum">
                        <a:avLst/>
                      </a:prstGeom>
                      <a:solidFill>
                        <a:srgbClr val="CCCCCC"/>
                      </a:solidFill>
                      <a:ln cap="flat" cmpd="sng" w="10600">
                        <a:solidFill>
                          <a:schemeClr val="dk2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156000" lIns="156000" spcFirstLastPara="1" rIns="156000" wrap="square" tIns="156000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2336"/>
                      </a:p>
                    </p:txBody>
                  </p:sp>
                  <p:sp>
                    <p:nvSpPr>
                      <p:cNvPr id="207" name="Google Shape;207;p14"/>
                      <p:cNvSpPr/>
                      <p:nvPr/>
                    </p:nvSpPr>
                    <p:spPr>
                      <a:xfrm>
                        <a:off x="5505854" y="4370260"/>
                        <a:ext cx="259500" cy="252600"/>
                      </a:xfrm>
                      <a:prstGeom prst="ellipse">
                        <a:avLst/>
                      </a:prstGeom>
                      <a:solidFill>
                        <a:schemeClr val="lt1"/>
                      </a:solidFill>
                      <a:ln cap="flat" cmpd="sng" w="10600">
                        <a:solidFill>
                          <a:schemeClr val="dk2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156000" lIns="156000" spcFirstLastPara="1" rIns="156000" wrap="square" tIns="156000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2336"/>
                      </a:p>
                    </p:txBody>
                  </p:sp>
                </p:grpSp>
                <p:sp>
                  <p:nvSpPr>
                    <p:cNvPr id="208" name="Google Shape;208;p14"/>
                    <p:cNvSpPr txBox="1"/>
                    <p:nvPr/>
                  </p:nvSpPr>
                  <p:spPr>
                    <a:xfrm>
                      <a:off x="5513621" y="4208337"/>
                      <a:ext cx="672300" cy="4332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156000" lIns="156000" spcFirstLastPara="1" rIns="156000" wrap="square" tIns="1560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1">
                          <a:solidFill>
                            <a:schemeClr val="lt1"/>
                          </a:solidFill>
                        </a:rPr>
                        <a:t>Off</a:t>
                      </a:r>
                      <a:endParaRPr sz="1001">
                        <a:solidFill>
                          <a:schemeClr val="lt1"/>
                        </a:solidFill>
                      </a:endParaRPr>
                    </a:p>
                  </p:txBody>
                </p:sp>
              </p:grpSp>
            </p:grpSp>
          </p:grpSp>
          <p:pic>
            <p:nvPicPr>
              <p:cNvPr id="209" name="Google Shape;209;p14" title="download.png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8474425" y="1284577"/>
                <a:ext cx="259800" cy="259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10" name="Google Shape;210;p14"/>
            <p:cNvGrpSpPr/>
            <p:nvPr/>
          </p:nvGrpSpPr>
          <p:grpSpPr>
            <a:xfrm>
              <a:off x="4349911" y="4181419"/>
              <a:ext cx="4421103" cy="2819555"/>
              <a:chOff x="4349911" y="4181419"/>
              <a:chExt cx="4421103" cy="2819555"/>
            </a:xfrm>
          </p:grpSpPr>
          <p:grpSp>
            <p:nvGrpSpPr>
              <p:cNvPr id="211" name="Google Shape;211;p14"/>
              <p:cNvGrpSpPr/>
              <p:nvPr/>
            </p:nvGrpSpPr>
            <p:grpSpPr>
              <a:xfrm>
                <a:off x="4349911" y="4181419"/>
                <a:ext cx="4421103" cy="2819555"/>
                <a:chOff x="4043712" y="1229950"/>
                <a:chExt cx="5522238" cy="3521803"/>
              </a:xfrm>
            </p:grpSpPr>
            <p:sp>
              <p:nvSpPr>
                <p:cNvPr id="212" name="Google Shape;212;p14"/>
                <p:cNvSpPr/>
                <p:nvPr/>
              </p:nvSpPr>
              <p:spPr>
                <a:xfrm>
                  <a:off x="4150050" y="1612488"/>
                  <a:ext cx="5415900" cy="3099000"/>
                </a:xfrm>
                <a:prstGeom prst="rect">
                  <a:avLst/>
                </a:prstGeom>
                <a:noFill/>
                <a:ln cap="flat" cmpd="sng" w="76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73200" lIns="73200" spcFirstLastPara="1" rIns="73200" wrap="square" tIns="732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120"/>
                </a:p>
              </p:txBody>
            </p:sp>
            <p:grpSp>
              <p:nvGrpSpPr>
                <p:cNvPr id="213" name="Google Shape;213;p14"/>
                <p:cNvGrpSpPr/>
                <p:nvPr/>
              </p:nvGrpSpPr>
              <p:grpSpPr>
                <a:xfrm>
                  <a:off x="4043712" y="1229950"/>
                  <a:ext cx="5157113" cy="3421454"/>
                  <a:chOff x="4205837" y="1005375"/>
                  <a:chExt cx="5157113" cy="3421454"/>
                </a:xfrm>
              </p:grpSpPr>
              <p:pic>
                <p:nvPicPr>
                  <p:cNvPr id="214" name="Google Shape;214;p14" title="Chart"/>
                  <p:cNvPicPr preferRelativeResize="0"/>
                  <p:nvPr/>
                </p:nvPicPr>
                <p:blipFill rotWithShape="1">
                  <a:blip r:embed="rId9">
                    <a:alphaModFix/>
                  </a:blip>
                  <a:srcRect b="0" l="0" r="0" t="11143"/>
                  <a:stretch/>
                </p:blipFill>
                <p:spPr>
                  <a:xfrm>
                    <a:off x="4479975" y="1744863"/>
                    <a:ext cx="4882975" cy="26819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15" name="Google Shape;215;p14"/>
                  <p:cNvSpPr txBox="1"/>
                  <p:nvPr/>
                </p:nvSpPr>
                <p:spPr>
                  <a:xfrm>
                    <a:off x="4205837" y="1005375"/>
                    <a:ext cx="4417800" cy="469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73200" lIns="73200" spcFirstLastPara="1" rIns="73200" wrap="square" tIns="73200">
                    <a:sp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lang="en" sz="1481">
                        <a:solidFill>
                          <a:srgbClr val="666666"/>
                        </a:solidFill>
                      </a:rPr>
                      <a:t>PROJECTED</a:t>
                    </a:r>
                    <a:r>
                      <a:rPr b="1" lang="en" sz="1481">
                        <a:solidFill>
                          <a:srgbClr val="666666"/>
                        </a:solidFill>
                      </a:rPr>
                      <a:t> MATERIAL DEMAND</a:t>
                    </a:r>
                    <a:endParaRPr b="1" sz="360">
                      <a:solidFill>
                        <a:srgbClr val="666666"/>
                      </a:solidFill>
                    </a:endParaRPr>
                  </a:p>
                </p:txBody>
              </p:sp>
            </p:grpSp>
            <p:grpSp>
              <p:nvGrpSpPr>
                <p:cNvPr id="216" name="Google Shape;216;p14"/>
                <p:cNvGrpSpPr/>
                <p:nvPr/>
              </p:nvGrpSpPr>
              <p:grpSpPr>
                <a:xfrm>
                  <a:off x="4056895" y="4208337"/>
                  <a:ext cx="1928164" cy="543415"/>
                  <a:chOff x="4257757" y="4208337"/>
                  <a:chExt cx="1928164" cy="543415"/>
                </a:xfrm>
              </p:grpSpPr>
              <p:sp>
                <p:nvSpPr>
                  <p:cNvPr id="217" name="Google Shape;217;p14"/>
                  <p:cNvSpPr txBox="1"/>
                  <p:nvPr/>
                </p:nvSpPr>
                <p:spPr>
                  <a:xfrm>
                    <a:off x="4257757" y="4241453"/>
                    <a:ext cx="1269300" cy="510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156000" lIns="156000" spcFirstLastPara="1" rIns="156000" wrap="square" tIns="1560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761">
                        <a:solidFill>
                          <a:srgbClr val="999999"/>
                        </a:solidFill>
                      </a:rPr>
                      <a:t>Sankey diagram</a:t>
                    </a:r>
                    <a:endParaRPr sz="761">
                      <a:solidFill>
                        <a:srgbClr val="999999"/>
                      </a:solidFill>
                    </a:endParaRPr>
                  </a:p>
                </p:txBody>
              </p:sp>
              <p:grpSp>
                <p:nvGrpSpPr>
                  <p:cNvPr id="218" name="Google Shape;218;p14"/>
                  <p:cNvGrpSpPr/>
                  <p:nvPr/>
                </p:nvGrpSpPr>
                <p:grpSpPr>
                  <a:xfrm>
                    <a:off x="5383729" y="4208337"/>
                    <a:ext cx="802192" cy="433200"/>
                    <a:chOff x="5383729" y="4208337"/>
                    <a:chExt cx="802192" cy="433200"/>
                  </a:xfrm>
                </p:grpSpPr>
                <p:grpSp>
                  <p:nvGrpSpPr>
                    <p:cNvPr id="219" name="Google Shape;219;p14"/>
                    <p:cNvGrpSpPr/>
                    <p:nvPr/>
                  </p:nvGrpSpPr>
                  <p:grpSpPr>
                    <a:xfrm>
                      <a:off x="5383729" y="4365780"/>
                      <a:ext cx="764855" cy="261650"/>
                      <a:chOff x="5505854" y="4365730"/>
                      <a:chExt cx="764855" cy="261650"/>
                    </a:xfrm>
                  </p:grpSpPr>
                  <p:sp>
                    <p:nvSpPr>
                      <p:cNvPr id="220" name="Google Shape;220;p14"/>
                      <p:cNvSpPr/>
                      <p:nvPr/>
                    </p:nvSpPr>
                    <p:spPr>
                      <a:xfrm rot="-10800000">
                        <a:off x="5513034" y="4365730"/>
                        <a:ext cx="757675" cy="261650"/>
                      </a:xfrm>
                      <a:prstGeom prst="flowChartMagneticDrum">
                        <a:avLst/>
                      </a:prstGeom>
                      <a:solidFill>
                        <a:srgbClr val="CCCCCC"/>
                      </a:solidFill>
                      <a:ln cap="flat" cmpd="sng" w="10600">
                        <a:solidFill>
                          <a:schemeClr val="dk2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156000" lIns="156000" spcFirstLastPara="1" rIns="156000" wrap="square" tIns="156000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2336"/>
                      </a:p>
                    </p:txBody>
                  </p:sp>
                  <p:sp>
                    <p:nvSpPr>
                      <p:cNvPr id="221" name="Google Shape;221;p14"/>
                      <p:cNvSpPr/>
                      <p:nvPr/>
                    </p:nvSpPr>
                    <p:spPr>
                      <a:xfrm>
                        <a:off x="5505854" y="4370260"/>
                        <a:ext cx="259500" cy="252600"/>
                      </a:xfrm>
                      <a:prstGeom prst="ellipse">
                        <a:avLst/>
                      </a:prstGeom>
                      <a:solidFill>
                        <a:schemeClr val="lt1"/>
                      </a:solidFill>
                      <a:ln cap="flat" cmpd="sng" w="10600">
                        <a:solidFill>
                          <a:schemeClr val="dk2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156000" lIns="156000" spcFirstLastPara="1" rIns="156000" wrap="square" tIns="156000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2336"/>
                      </a:p>
                    </p:txBody>
                  </p:sp>
                </p:grpSp>
                <p:sp>
                  <p:nvSpPr>
                    <p:cNvPr id="222" name="Google Shape;222;p14"/>
                    <p:cNvSpPr txBox="1"/>
                    <p:nvPr/>
                  </p:nvSpPr>
                  <p:spPr>
                    <a:xfrm>
                      <a:off x="5513621" y="4208337"/>
                      <a:ext cx="672300" cy="4332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156000" lIns="156000" spcFirstLastPara="1" rIns="156000" wrap="square" tIns="1560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1">
                          <a:solidFill>
                            <a:schemeClr val="lt1"/>
                          </a:solidFill>
                        </a:rPr>
                        <a:t>Off</a:t>
                      </a:r>
                      <a:endParaRPr sz="1001">
                        <a:solidFill>
                          <a:schemeClr val="lt1"/>
                        </a:solidFill>
                      </a:endParaRPr>
                    </a:p>
                  </p:txBody>
                </p:sp>
              </p:grpSp>
            </p:grpSp>
          </p:grpSp>
          <p:pic>
            <p:nvPicPr>
              <p:cNvPr id="223" name="Google Shape;223;p14" title="download.png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8474425" y="4518577"/>
                <a:ext cx="259800" cy="259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224" name="Google Shape;224;p14"/>
            <p:cNvGrpSpPr/>
            <p:nvPr/>
          </p:nvGrpSpPr>
          <p:grpSpPr>
            <a:xfrm>
              <a:off x="8869623" y="932880"/>
              <a:ext cx="4405039" cy="2799577"/>
              <a:chOff x="8869623" y="932880"/>
              <a:chExt cx="4405039" cy="2799577"/>
            </a:xfrm>
          </p:grpSpPr>
          <p:grpSp>
            <p:nvGrpSpPr>
              <p:cNvPr id="225" name="Google Shape;225;p14"/>
              <p:cNvGrpSpPr/>
              <p:nvPr/>
            </p:nvGrpSpPr>
            <p:grpSpPr>
              <a:xfrm>
                <a:off x="8869623" y="932880"/>
                <a:ext cx="4405039" cy="2799577"/>
                <a:chOff x="4192894" y="4200054"/>
                <a:chExt cx="4405039" cy="2799577"/>
              </a:xfrm>
            </p:grpSpPr>
            <p:sp>
              <p:nvSpPr>
                <p:cNvPr id="226" name="Google Shape;226;p14"/>
                <p:cNvSpPr/>
                <p:nvPr/>
              </p:nvSpPr>
              <p:spPr>
                <a:xfrm>
                  <a:off x="4262033" y="4507108"/>
                  <a:ext cx="4335900" cy="2481000"/>
                </a:xfrm>
                <a:prstGeom prst="rect">
                  <a:avLst/>
                </a:prstGeom>
                <a:noFill/>
                <a:ln cap="flat" cmpd="sng" w="76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73200" lIns="73200" spcFirstLastPara="1" rIns="73200" wrap="square" tIns="732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120"/>
                </a:p>
              </p:txBody>
            </p:sp>
            <p:grpSp>
              <p:nvGrpSpPr>
                <p:cNvPr id="227" name="Google Shape;227;p14"/>
                <p:cNvGrpSpPr/>
                <p:nvPr/>
              </p:nvGrpSpPr>
              <p:grpSpPr>
                <a:xfrm>
                  <a:off x="4471489" y="4702363"/>
                  <a:ext cx="3847825" cy="2297269"/>
                  <a:chOff x="24110150" y="5483258"/>
                  <a:chExt cx="4709124" cy="2811490"/>
                </a:xfrm>
              </p:grpSpPr>
              <p:pic>
                <p:nvPicPr>
                  <p:cNvPr id="228" name="Google Shape;228;p14" title="Chart"/>
                  <p:cNvPicPr preferRelativeResize="0"/>
                  <p:nvPr/>
                </p:nvPicPr>
                <p:blipFill rotWithShape="1">
                  <a:blip r:embed="rId11">
                    <a:alphaModFix/>
                  </a:blip>
                  <a:srcRect b="0" l="0" r="0" t="11174"/>
                  <a:stretch/>
                </p:blipFill>
                <p:spPr>
                  <a:xfrm>
                    <a:off x="24110150" y="5483258"/>
                    <a:ext cx="4709124" cy="258647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29" name="Google Shape;229;p14"/>
                  <p:cNvSpPr txBox="1"/>
                  <p:nvPr/>
                </p:nvSpPr>
                <p:spPr>
                  <a:xfrm>
                    <a:off x="25186106" y="7977648"/>
                    <a:ext cx="3000000" cy="317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74700" lIns="74700" spcFirstLastPara="1" rIns="74700" wrap="square" tIns="74700">
                    <a:sp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702">
                        <a:solidFill>
                          <a:schemeClr val="dk1"/>
                        </a:solidFill>
                      </a:rPr>
                      <a:t>Material Cost (USD)</a:t>
                    </a:r>
                    <a:endParaRPr sz="702">
                      <a:solidFill>
                        <a:schemeClr val="dk1"/>
                      </a:solidFill>
                    </a:endParaRPr>
                  </a:p>
                </p:txBody>
              </p:sp>
            </p:grpSp>
            <p:sp>
              <p:nvSpPr>
                <p:cNvPr id="230" name="Google Shape;230;p14"/>
                <p:cNvSpPr txBox="1"/>
                <p:nvPr/>
              </p:nvSpPr>
              <p:spPr>
                <a:xfrm>
                  <a:off x="4192894" y="4200054"/>
                  <a:ext cx="3537000" cy="37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73200" lIns="73200" spcFirstLastPara="1" rIns="73200" wrap="square" tIns="73200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481">
                      <a:solidFill>
                        <a:srgbClr val="666666"/>
                      </a:solidFill>
                    </a:rPr>
                    <a:t>BASELINE MATERIAL COST</a:t>
                  </a:r>
                  <a:endParaRPr b="1" sz="360">
                    <a:solidFill>
                      <a:srgbClr val="666666"/>
                    </a:solidFill>
                  </a:endParaRPr>
                </a:p>
              </p:txBody>
            </p:sp>
          </p:grpSp>
          <p:pic>
            <p:nvPicPr>
              <p:cNvPr id="231" name="Google Shape;231;p14" title="download.png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12975775" y="1284577"/>
                <a:ext cx="259800" cy="259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232" name="Google Shape;232;p14" title="Chart"/>
          <p:cNvPicPr preferRelativeResize="0"/>
          <p:nvPr/>
        </p:nvPicPr>
        <p:blipFill rotWithShape="1">
          <a:blip r:embed="rId12">
            <a:alphaModFix/>
          </a:blip>
          <a:srcRect b="0" l="17945" r="0" t="0"/>
          <a:stretch/>
        </p:blipFill>
        <p:spPr>
          <a:xfrm>
            <a:off x="7521449" y="6050600"/>
            <a:ext cx="1076499" cy="811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4" title="Chart"/>
          <p:cNvPicPr preferRelativeResize="0"/>
          <p:nvPr/>
        </p:nvPicPr>
        <p:blipFill rotWithShape="1">
          <a:blip r:embed="rId12">
            <a:alphaModFix/>
          </a:blip>
          <a:srcRect b="0" l="17945" r="0" t="0"/>
          <a:stretch/>
        </p:blipFill>
        <p:spPr>
          <a:xfrm>
            <a:off x="7521449" y="2836275"/>
            <a:ext cx="1076499" cy="811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5"/>
          <p:cNvSpPr txBox="1"/>
          <p:nvPr>
            <p:ph type="ctrTitle"/>
          </p:nvPr>
        </p:nvSpPr>
        <p:spPr>
          <a:xfrm rot="-5400000">
            <a:off x="-4438542" y="3734200"/>
            <a:ext cx="7825800" cy="916200"/>
          </a:xfrm>
          <a:prstGeom prst="rect">
            <a:avLst/>
          </a:prstGeom>
        </p:spPr>
        <p:txBody>
          <a:bodyPr anchorCtr="0" anchor="b" bIns="140175" lIns="140175" spcFirstLastPara="1" rIns="140175" wrap="square" tIns="14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100"/>
              <a:t>BUILDING SELECTION</a:t>
            </a:r>
            <a:endParaRPr sz="4100"/>
          </a:p>
        </p:txBody>
      </p:sp>
      <p:sp>
        <p:nvSpPr>
          <p:cNvPr id="239" name="Google Shape;239;p15"/>
          <p:cNvSpPr/>
          <p:nvPr/>
        </p:nvSpPr>
        <p:spPr>
          <a:xfrm>
            <a:off x="319850" y="1712625"/>
            <a:ext cx="3608700" cy="1393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40175" lIns="140175" spcFirstLastPara="1" rIns="140175" wrap="square" tIns="140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Building Specifications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66666"/>
                </a:solidFill>
              </a:rPr>
              <a:t>         </a:t>
            </a:r>
            <a:endParaRPr sz="13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6666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300">
              <a:solidFill>
                <a:srgbClr val="66666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300">
              <a:solidFill>
                <a:srgbClr val="66666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3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66666"/>
              </a:solidFill>
            </a:endParaRPr>
          </a:p>
        </p:txBody>
      </p:sp>
      <p:cxnSp>
        <p:nvCxnSpPr>
          <p:cNvPr id="240" name="Google Shape;240;p15"/>
          <p:cNvCxnSpPr>
            <a:stCxn id="241" idx="1"/>
          </p:cNvCxnSpPr>
          <p:nvPr/>
        </p:nvCxnSpPr>
        <p:spPr>
          <a:xfrm>
            <a:off x="2742802" y="2919742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2" name="Google Shape;242;p15"/>
          <p:cNvSpPr/>
          <p:nvPr/>
        </p:nvSpPr>
        <p:spPr>
          <a:xfrm>
            <a:off x="2459334" y="1915473"/>
            <a:ext cx="167100" cy="101400"/>
          </a:xfrm>
          <a:prstGeom prst="triangle">
            <a:avLst>
              <a:gd fmla="val 50000" name="adj"/>
            </a:avLst>
          </a:prstGeom>
          <a:solidFill>
            <a:srgbClr val="B7B7B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0175" lIns="140175" spcFirstLastPara="1" rIns="140175" wrap="square" tIns="14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pic>
        <p:nvPicPr>
          <p:cNvPr id="243" name="Google Shape;24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50188" y="2398417"/>
            <a:ext cx="259800" cy="388892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5"/>
          <p:cNvSpPr/>
          <p:nvPr/>
        </p:nvSpPr>
        <p:spPr>
          <a:xfrm rot="10800000">
            <a:off x="1757782" y="2297017"/>
            <a:ext cx="167100" cy="101400"/>
          </a:xfrm>
          <a:prstGeom prst="triangle">
            <a:avLst>
              <a:gd fmla="val 50000" name="adj"/>
            </a:avLst>
          </a:prstGeom>
          <a:solidFill>
            <a:srgbClr val="B7B7B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0175" lIns="140175" spcFirstLastPara="1" rIns="140175" wrap="square" tIns="14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cxnSp>
        <p:nvCxnSpPr>
          <p:cNvPr id="245" name="Google Shape;245;p15"/>
          <p:cNvCxnSpPr/>
          <p:nvPr/>
        </p:nvCxnSpPr>
        <p:spPr>
          <a:xfrm flipH="1">
            <a:off x="2553161" y="2251189"/>
            <a:ext cx="1200" cy="1713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46" name="Google Shape;246;p15"/>
          <p:cNvGrpSpPr/>
          <p:nvPr/>
        </p:nvGrpSpPr>
        <p:grpSpPr>
          <a:xfrm>
            <a:off x="3614375" y="2245579"/>
            <a:ext cx="216900" cy="218100"/>
            <a:chOff x="3592625" y="2190625"/>
            <a:chExt cx="216900" cy="218100"/>
          </a:xfrm>
        </p:grpSpPr>
        <p:cxnSp>
          <p:nvCxnSpPr>
            <p:cNvPr id="247" name="Google Shape;247;p15"/>
            <p:cNvCxnSpPr/>
            <p:nvPr/>
          </p:nvCxnSpPr>
          <p:spPr>
            <a:xfrm flipH="1">
              <a:off x="3700925" y="2190625"/>
              <a:ext cx="300" cy="2181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8" name="Google Shape;248;p15"/>
            <p:cNvCxnSpPr/>
            <p:nvPr/>
          </p:nvCxnSpPr>
          <p:spPr>
            <a:xfrm>
              <a:off x="3592625" y="2297875"/>
              <a:ext cx="216900" cy="36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49" name="Google Shape;249;p15"/>
          <p:cNvSpPr/>
          <p:nvPr/>
        </p:nvSpPr>
        <p:spPr>
          <a:xfrm>
            <a:off x="450400" y="2581725"/>
            <a:ext cx="3249900" cy="332100"/>
          </a:xfrm>
          <a:prstGeom prst="roundRect">
            <a:avLst>
              <a:gd fmla="val 16667" name="adj"/>
            </a:avLst>
          </a:prstGeom>
          <a:solidFill>
            <a:srgbClr val="AAD3E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666666"/>
                </a:solidFill>
              </a:rPr>
              <a:t>Estimate material demands and cost</a:t>
            </a:r>
            <a:endParaRPr/>
          </a:p>
        </p:txBody>
      </p:sp>
      <p:sp>
        <p:nvSpPr>
          <p:cNvPr id="250" name="Google Shape;250;p15"/>
          <p:cNvSpPr/>
          <p:nvPr/>
        </p:nvSpPr>
        <p:spPr>
          <a:xfrm>
            <a:off x="322450" y="1045650"/>
            <a:ext cx="3608700" cy="43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0175" lIns="140175" spcFirstLastPara="1" rIns="140175" wrap="square" tIns="140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999999"/>
                </a:solidFill>
              </a:rPr>
              <a:t>       Ventura County, CA</a:t>
            </a:r>
            <a:endParaRPr sz="1500">
              <a:solidFill>
                <a:srgbClr val="999999"/>
              </a:solidFill>
            </a:endParaRPr>
          </a:p>
        </p:txBody>
      </p:sp>
      <p:pic>
        <p:nvPicPr>
          <p:cNvPr id="251" name="Google Shape;251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0625" y="1067100"/>
            <a:ext cx="388875" cy="38887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grpSp>
        <p:nvGrpSpPr>
          <p:cNvPr id="252" name="Google Shape;252;p15"/>
          <p:cNvGrpSpPr/>
          <p:nvPr/>
        </p:nvGrpSpPr>
        <p:grpSpPr>
          <a:xfrm>
            <a:off x="324163" y="3339606"/>
            <a:ext cx="4161881" cy="524131"/>
            <a:chOff x="313750" y="2364051"/>
            <a:chExt cx="4161881" cy="524131"/>
          </a:xfrm>
        </p:grpSpPr>
        <p:grpSp>
          <p:nvGrpSpPr>
            <p:cNvPr id="253" name="Google Shape;253;p15"/>
            <p:cNvGrpSpPr/>
            <p:nvPr/>
          </p:nvGrpSpPr>
          <p:grpSpPr>
            <a:xfrm>
              <a:off x="313788" y="2364051"/>
              <a:ext cx="4161843" cy="524131"/>
              <a:chOff x="314635" y="1496385"/>
              <a:chExt cx="2462192" cy="377100"/>
            </a:xfrm>
          </p:grpSpPr>
          <p:sp>
            <p:nvSpPr>
              <p:cNvPr id="254" name="Google Shape;254;p15"/>
              <p:cNvSpPr/>
              <p:nvPr/>
            </p:nvSpPr>
            <p:spPr>
              <a:xfrm>
                <a:off x="314635" y="1532085"/>
                <a:ext cx="2135100" cy="3414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194825" lIns="194825" spcFirstLastPara="1" rIns="194825" wrap="square" tIns="1948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50">
                  <a:solidFill>
                    <a:schemeClr val="dk1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50">
                  <a:solidFill>
                    <a:schemeClr val="dk1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50">
                  <a:solidFill>
                    <a:schemeClr val="dk1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50">
                  <a:solidFill>
                    <a:schemeClr val="dk1"/>
                  </a:solidFill>
                </a:endParaRPr>
              </a:p>
            </p:txBody>
          </p:sp>
          <p:grpSp>
            <p:nvGrpSpPr>
              <p:cNvPr id="255" name="Google Shape;255;p15"/>
              <p:cNvGrpSpPr/>
              <p:nvPr/>
            </p:nvGrpSpPr>
            <p:grpSpPr>
              <a:xfrm>
                <a:off x="1905750" y="1496385"/>
                <a:ext cx="871077" cy="317400"/>
                <a:chOff x="1905813" y="1496535"/>
                <a:chExt cx="871077" cy="317400"/>
              </a:xfrm>
            </p:grpSpPr>
            <p:sp>
              <p:nvSpPr>
                <p:cNvPr id="256" name="Google Shape;256;p15"/>
                <p:cNvSpPr/>
                <p:nvPr/>
              </p:nvSpPr>
              <p:spPr>
                <a:xfrm rot="-10800000">
                  <a:off x="1905813" y="1608215"/>
                  <a:ext cx="421893" cy="181722"/>
                </a:xfrm>
                <a:prstGeom prst="flowChartMagneticDrum">
                  <a:avLst/>
                </a:prstGeom>
                <a:solidFill>
                  <a:srgbClr val="CCCCCC"/>
                </a:solidFill>
                <a:ln cap="flat" cmpd="sng" w="132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194825" lIns="194825" spcFirstLastPara="1" rIns="194825" wrap="square" tIns="1948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918"/>
                </a:p>
              </p:txBody>
            </p:sp>
            <p:sp>
              <p:nvSpPr>
                <p:cNvPr id="257" name="Google Shape;257;p15"/>
                <p:cNvSpPr/>
                <p:nvPr/>
              </p:nvSpPr>
              <p:spPr>
                <a:xfrm>
                  <a:off x="1905813" y="1605800"/>
                  <a:ext cx="153600" cy="181800"/>
                </a:xfrm>
                <a:prstGeom prst="ellipse">
                  <a:avLst/>
                </a:prstGeom>
                <a:solidFill>
                  <a:schemeClr val="lt1"/>
                </a:solidFill>
                <a:ln cap="flat" cmpd="sng" w="132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194825" lIns="194825" spcFirstLastPara="1" rIns="194825" wrap="square" tIns="1948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918"/>
                </a:p>
              </p:txBody>
            </p:sp>
            <p:sp>
              <p:nvSpPr>
                <p:cNvPr id="258" name="Google Shape;258;p15"/>
                <p:cNvSpPr txBox="1"/>
                <p:nvPr/>
              </p:nvSpPr>
              <p:spPr>
                <a:xfrm>
                  <a:off x="1960890" y="1496535"/>
                  <a:ext cx="816000" cy="317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94825" lIns="194825" spcFirstLastPara="1" rIns="194825" wrap="square" tIns="1948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250">
                      <a:solidFill>
                        <a:schemeClr val="lt1"/>
                      </a:solidFill>
                    </a:rPr>
                    <a:t>Off</a:t>
                  </a:r>
                  <a:endParaRPr sz="1250">
                    <a:solidFill>
                      <a:schemeClr val="lt1"/>
                    </a:solidFill>
                  </a:endParaRPr>
                </a:p>
              </p:txBody>
            </p:sp>
          </p:grpSp>
        </p:grpSp>
        <p:sp>
          <p:nvSpPr>
            <p:cNvPr id="259" name="Google Shape;259;p15"/>
            <p:cNvSpPr txBox="1"/>
            <p:nvPr/>
          </p:nvSpPr>
          <p:spPr>
            <a:xfrm>
              <a:off x="313750" y="2449250"/>
              <a:ext cx="30000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chemeClr val="dk1"/>
                  </a:solidFill>
                </a:rPr>
                <a:t>Material Availability Scenarios</a:t>
              </a:r>
              <a:endParaRPr b="1">
                <a:solidFill>
                  <a:schemeClr val="dk1"/>
                </a:solidFill>
              </a:endParaRPr>
            </a:p>
          </p:txBody>
        </p:sp>
      </p:grpSp>
      <p:grpSp>
        <p:nvGrpSpPr>
          <p:cNvPr id="260" name="Google Shape;260;p15"/>
          <p:cNvGrpSpPr/>
          <p:nvPr/>
        </p:nvGrpSpPr>
        <p:grpSpPr>
          <a:xfrm>
            <a:off x="319838" y="4056114"/>
            <a:ext cx="4170545" cy="534623"/>
            <a:chOff x="313750" y="2353562"/>
            <a:chExt cx="4170545" cy="534623"/>
          </a:xfrm>
        </p:grpSpPr>
        <p:grpSp>
          <p:nvGrpSpPr>
            <p:cNvPr id="261" name="Google Shape;261;p15"/>
            <p:cNvGrpSpPr/>
            <p:nvPr/>
          </p:nvGrpSpPr>
          <p:grpSpPr>
            <a:xfrm>
              <a:off x="313775" y="2353562"/>
              <a:ext cx="4170520" cy="534623"/>
              <a:chOff x="314627" y="1488838"/>
              <a:chExt cx="2467325" cy="384649"/>
            </a:xfrm>
          </p:grpSpPr>
          <p:sp>
            <p:nvSpPr>
              <p:cNvPr id="262" name="Google Shape;262;p15"/>
              <p:cNvSpPr/>
              <p:nvPr/>
            </p:nvSpPr>
            <p:spPr>
              <a:xfrm>
                <a:off x="314627" y="1532087"/>
                <a:ext cx="2135100" cy="3414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194825" lIns="194825" spcFirstLastPara="1" rIns="194825" wrap="square" tIns="1948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50">
                  <a:solidFill>
                    <a:schemeClr val="dk1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50">
                  <a:solidFill>
                    <a:schemeClr val="dk1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50">
                  <a:solidFill>
                    <a:schemeClr val="dk1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50">
                  <a:solidFill>
                    <a:schemeClr val="dk1"/>
                  </a:solidFill>
                </a:endParaRPr>
              </a:p>
            </p:txBody>
          </p:sp>
          <p:grpSp>
            <p:nvGrpSpPr>
              <p:cNvPr id="263" name="Google Shape;263;p15"/>
              <p:cNvGrpSpPr/>
              <p:nvPr/>
            </p:nvGrpSpPr>
            <p:grpSpPr>
              <a:xfrm>
                <a:off x="1905750" y="1488838"/>
                <a:ext cx="876202" cy="317400"/>
                <a:chOff x="1905813" y="1488988"/>
                <a:chExt cx="876202" cy="317400"/>
              </a:xfrm>
            </p:grpSpPr>
            <p:sp>
              <p:nvSpPr>
                <p:cNvPr id="264" name="Google Shape;264;p15"/>
                <p:cNvSpPr/>
                <p:nvPr/>
              </p:nvSpPr>
              <p:spPr>
                <a:xfrm rot="-10800000">
                  <a:off x="1905813" y="1608215"/>
                  <a:ext cx="421893" cy="181722"/>
                </a:xfrm>
                <a:prstGeom prst="flowChartMagneticDrum">
                  <a:avLst/>
                </a:prstGeom>
                <a:solidFill>
                  <a:srgbClr val="CCCCCC"/>
                </a:solidFill>
                <a:ln cap="flat" cmpd="sng" w="132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194825" lIns="194825" spcFirstLastPara="1" rIns="194825" wrap="square" tIns="1948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918"/>
                </a:p>
              </p:txBody>
            </p:sp>
            <p:sp>
              <p:nvSpPr>
                <p:cNvPr id="265" name="Google Shape;265;p15"/>
                <p:cNvSpPr/>
                <p:nvPr/>
              </p:nvSpPr>
              <p:spPr>
                <a:xfrm>
                  <a:off x="1905813" y="1605800"/>
                  <a:ext cx="153600" cy="181800"/>
                </a:xfrm>
                <a:prstGeom prst="ellipse">
                  <a:avLst/>
                </a:prstGeom>
                <a:solidFill>
                  <a:schemeClr val="lt1"/>
                </a:solidFill>
                <a:ln cap="flat" cmpd="sng" w="132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194825" lIns="194825" spcFirstLastPara="1" rIns="194825" wrap="square" tIns="1948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918"/>
                </a:p>
              </p:txBody>
            </p:sp>
            <p:sp>
              <p:nvSpPr>
                <p:cNvPr id="266" name="Google Shape;266;p15"/>
                <p:cNvSpPr txBox="1"/>
                <p:nvPr/>
              </p:nvSpPr>
              <p:spPr>
                <a:xfrm>
                  <a:off x="1966015" y="1488988"/>
                  <a:ext cx="816000" cy="317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94825" lIns="194825" spcFirstLastPara="1" rIns="194825" wrap="square" tIns="1948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250">
                      <a:solidFill>
                        <a:schemeClr val="lt1"/>
                      </a:solidFill>
                    </a:rPr>
                    <a:t>Off</a:t>
                  </a:r>
                  <a:endParaRPr sz="1250">
                    <a:solidFill>
                      <a:schemeClr val="lt1"/>
                    </a:solidFill>
                  </a:endParaRPr>
                </a:p>
              </p:txBody>
            </p:sp>
          </p:grpSp>
        </p:grpSp>
        <p:sp>
          <p:nvSpPr>
            <p:cNvPr id="267" name="Google Shape;267;p15"/>
            <p:cNvSpPr txBox="1"/>
            <p:nvPr/>
          </p:nvSpPr>
          <p:spPr>
            <a:xfrm>
              <a:off x="313750" y="2449250"/>
              <a:ext cx="3000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</a:rPr>
                <a:t>Alternative Materials</a:t>
              </a:r>
              <a:endParaRPr b="1">
                <a:solidFill>
                  <a:schemeClr val="dk1"/>
                </a:solidFill>
              </a:endParaRPr>
            </a:p>
          </p:txBody>
        </p:sp>
      </p:grpSp>
      <p:sp>
        <p:nvSpPr>
          <p:cNvPr id="268" name="Google Shape;268;p15"/>
          <p:cNvSpPr/>
          <p:nvPr/>
        </p:nvSpPr>
        <p:spPr>
          <a:xfrm>
            <a:off x="463800" y="2219925"/>
            <a:ext cx="1510200" cy="255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</a:rPr>
              <a:t>Health services</a:t>
            </a:r>
            <a:endParaRPr sz="1000">
              <a:solidFill>
                <a:srgbClr val="666666"/>
              </a:solidFill>
            </a:endParaRPr>
          </a:p>
        </p:txBody>
      </p:sp>
      <p:sp>
        <p:nvSpPr>
          <p:cNvPr id="269" name="Google Shape;269;p15"/>
          <p:cNvSpPr/>
          <p:nvPr/>
        </p:nvSpPr>
        <p:spPr>
          <a:xfrm>
            <a:off x="2041578" y="2219937"/>
            <a:ext cx="1002600" cy="255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</a:rPr>
              <a:t>10,000</a:t>
            </a:r>
            <a:endParaRPr sz="1000">
              <a:solidFill>
                <a:srgbClr val="666666"/>
              </a:solidFill>
            </a:endParaRPr>
          </a:p>
        </p:txBody>
      </p:sp>
      <p:sp>
        <p:nvSpPr>
          <p:cNvPr id="270" name="Google Shape;270;p15"/>
          <p:cNvSpPr/>
          <p:nvPr/>
        </p:nvSpPr>
        <p:spPr>
          <a:xfrm>
            <a:off x="2969943" y="1915475"/>
            <a:ext cx="7386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</a:rPr>
              <a:t>Reuse </a:t>
            </a:r>
            <a:endParaRPr sz="900">
              <a:solidFill>
                <a:srgbClr val="66666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</a:rPr>
              <a:t>materials?</a:t>
            </a:r>
            <a:endParaRPr sz="900">
              <a:solidFill>
                <a:srgbClr val="666666"/>
              </a:solidFill>
            </a:endParaRPr>
          </a:p>
        </p:txBody>
      </p:sp>
      <p:sp>
        <p:nvSpPr>
          <p:cNvPr id="271" name="Google Shape;271;p15"/>
          <p:cNvSpPr/>
          <p:nvPr/>
        </p:nvSpPr>
        <p:spPr>
          <a:xfrm>
            <a:off x="3209350" y="2219914"/>
            <a:ext cx="259800" cy="255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5"/>
          <p:cNvSpPr/>
          <p:nvPr/>
        </p:nvSpPr>
        <p:spPr>
          <a:xfrm>
            <a:off x="-3678" y="-1570"/>
            <a:ext cx="13725900" cy="811200"/>
          </a:xfrm>
          <a:prstGeom prst="rect">
            <a:avLst/>
          </a:prstGeom>
          <a:solidFill>
            <a:srgbClr val="EDF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3" name="Google Shape;273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1400" y="140109"/>
            <a:ext cx="672433" cy="510249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15"/>
          <p:cNvSpPr txBox="1"/>
          <p:nvPr>
            <p:ph idx="1" type="subTitle"/>
          </p:nvPr>
        </p:nvSpPr>
        <p:spPr>
          <a:xfrm>
            <a:off x="761825" y="140088"/>
            <a:ext cx="12825300" cy="510300"/>
          </a:xfrm>
          <a:prstGeom prst="rect">
            <a:avLst/>
          </a:prstGeom>
          <a:ln>
            <a:noFill/>
          </a:ln>
        </p:spPr>
        <p:txBody>
          <a:bodyPr anchorCtr="0" anchor="t" bIns="140175" lIns="140175" spcFirstLastPara="1" rIns="140175" wrap="square" tIns="140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Merriweather"/>
                <a:ea typeface="Merriweather"/>
                <a:cs typeface="Merriweather"/>
                <a:sym typeface="Merriweather"/>
              </a:rPr>
              <a:t>Building Supply chain Material Analysis and Risk Trade-off Tool (BuildSMART v1)</a:t>
            </a:r>
            <a:r>
              <a:rPr b="1" lang="en" sz="1700"/>
              <a:t>           </a:t>
            </a:r>
            <a:r>
              <a:rPr b="1" lang="en" sz="1700">
                <a:solidFill>
                  <a:srgbClr val="999999"/>
                </a:solidFill>
              </a:rPr>
              <a:t>Main Page         </a:t>
            </a:r>
            <a:r>
              <a:rPr b="1" lang="en" sz="1700">
                <a:solidFill>
                  <a:srgbClr val="999999"/>
                </a:solidFill>
              </a:rPr>
              <a:t>About</a:t>
            </a:r>
            <a:r>
              <a:rPr b="1" lang="en" sz="1700">
                <a:solidFill>
                  <a:srgbClr val="999999"/>
                </a:solidFill>
              </a:rPr>
              <a:t>          Contact</a:t>
            </a:r>
            <a:endParaRPr b="1" sz="1700">
              <a:solidFill>
                <a:srgbClr val="999999"/>
              </a:solidFill>
            </a:endParaRPr>
          </a:p>
        </p:txBody>
      </p:sp>
      <p:grpSp>
        <p:nvGrpSpPr>
          <p:cNvPr id="275" name="Google Shape;275;p15"/>
          <p:cNvGrpSpPr/>
          <p:nvPr/>
        </p:nvGrpSpPr>
        <p:grpSpPr>
          <a:xfrm>
            <a:off x="4340597" y="932880"/>
            <a:ext cx="9062816" cy="6768625"/>
            <a:chOff x="4340597" y="932880"/>
            <a:chExt cx="9062816" cy="6768625"/>
          </a:xfrm>
        </p:grpSpPr>
        <p:grpSp>
          <p:nvGrpSpPr>
            <p:cNvPr id="276" name="Google Shape;276;p15"/>
            <p:cNvGrpSpPr/>
            <p:nvPr/>
          </p:nvGrpSpPr>
          <p:grpSpPr>
            <a:xfrm>
              <a:off x="4340597" y="7083175"/>
              <a:ext cx="4557232" cy="618331"/>
              <a:chOff x="4268193" y="552116"/>
              <a:chExt cx="6213843" cy="697025"/>
            </a:xfrm>
          </p:grpSpPr>
          <p:sp>
            <p:nvSpPr>
              <p:cNvPr id="277" name="Google Shape;277;p15"/>
              <p:cNvSpPr/>
              <p:nvPr/>
            </p:nvSpPr>
            <p:spPr>
              <a:xfrm>
                <a:off x="6760562" y="609015"/>
                <a:ext cx="3546300" cy="255600"/>
              </a:xfrm>
              <a:prstGeom prst="roundRect">
                <a:avLst>
                  <a:gd fmla="val 16667" name="adj"/>
                </a:avLst>
              </a:prstGeom>
              <a:solidFill>
                <a:schemeClr val="lt2"/>
              </a:solidFill>
              <a:ln cap="flat" cmpd="sng" w="84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1100" lIns="81100" spcFirstLastPara="1" rIns="81100" wrap="square" tIns="811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41"/>
              </a:p>
            </p:txBody>
          </p:sp>
          <p:sp>
            <p:nvSpPr>
              <p:cNvPr id="278" name="Google Shape;278;p15"/>
              <p:cNvSpPr txBox="1"/>
              <p:nvPr/>
            </p:nvSpPr>
            <p:spPr>
              <a:xfrm>
                <a:off x="4268193" y="552116"/>
                <a:ext cx="2855100" cy="28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1100" lIns="81100" spcFirstLastPara="1" rIns="81100" wrap="square" tIns="811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86">
                    <a:solidFill>
                      <a:srgbClr val="B7B7B7"/>
                    </a:solidFill>
                  </a:rPr>
                  <a:t>CONSTRUCTION YEAR</a:t>
                </a:r>
                <a:endParaRPr b="1" sz="1186">
                  <a:solidFill>
                    <a:srgbClr val="B7B7B7"/>
                  </a:solidFill>
                </a:endParaRPr>
              </a:p>
            </p:txBody>
          </p:sp>
          <p:sp>
            <p:nvSpPr>
              <p:cNvPr id="279" name="Google Shape;279;p15"/>
              <p:cNvSpPr txBox="1"/>
              <p:nvPr/>
            </p:nvSpPr>
            <p:spPr>
              <a:xfrm>
                <a:off x="6732035" y="810841"/>
                <a:ext cx="37500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1100" lIns="81100" spcFirstLastPara="1" rIns="81100" wrap="square" tIns="811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20">
                    <a:solidFill>
                      <a:schemeClr val="dk2"/>
                    </a:solidFill>
                  </a:rPr>
                  <a:t>2020	2030	2040	2050	2060	2070</a:t>
                </a:r>
                <a:endParaRPr sz="620">
                  <a:solidFill>
                    <a:schemeClr val="dk2"/>
                  </a:solidFill>
                </a:endParaRPr>
              </a:p>
            </p:txBody>
          </p:sp>
          <p:sp>
            <p:nvSpPr>
              <p:cNvPr id="280" name="Google Shape;280;p15"/>
              <p:cNvSpPr/>
              <p:nvPr/>
            </p:nvSpPr>
            <p:spPr>
              <a:xfrm>
                <a:off x="6766092" y="605847"/>
                <a:ext cx="202200" cy="25560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 cap="flat" cmpd="sng" w="84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1100" lIns="81100" spcFirstLastPara="1" rIns="81100" wrap="square" tIns="811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41"/>
              </a:p>
            </p:txBody>
          </p:sp>
        </p:grpSp>
        <p:grpSp>
          <p:nvGrpSpPr>
            <p:cNvPr id="281" name="Google Shape;281;p15"/>
            <p:cNvGrpSpPr/>
            <p:nvPr/>
          </p:nvGrpSpPr>
          <p:grpSpPr>
            <a:xfrm>
              <a:off x="8869612" y="4172248"/>
              <a:ext cx="4405034" cy="2794775"/>
              <a:chOff x="9037729" y="4704523"/>
              <a:chExt cx="4405034" cy="2794775"/>
            </a:xfrm>
          </p:grpSpPr>
          <p:grpSp>
            <p:nvGrpSpPr>
              <p:cNvPr id="282" name="Google Shape;282;p15"/>
              <p:cNvGrpSpPr/>
              <p:nvPr/>
            </p:nvGrpSpPr>
            <p:grpSpPr>
              <a:xfrm>
                <a:off x="9037729" y="4704523"/>
                <a:ext cx="4405034" cy="2794775"/>
                <a:chOff x="9079752" y="3946051"/>
                <a:chExt cx="4405034" cy="2794775"/>
              </a:xfrm>
            </p:grpSpPr>
            <p:sp>
              <p:nvSpPr>
                <p:cNvPr id="283" name="Google Shape;283;p15"/>
                <p:cNvSpPr txBox="1"/>
                <p:nvPr/>
              </p:nvSpPr>
              <p:spPr>
                <a:xfrm>
                  <a:off x="9079752" y="3946051"/>
                  <a:ext cx="4073400" cy="37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73200" lIns="73200" spcFirstLastPara="1" rIns="73200" wrap="square" tIns="73200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481">
                      <a:solidFill>
                        <a:srgbClr val="666666"/>
                      </a:solidFill>
                    </a:rPr>
                    <a:t>PROJECTED MATERIAL AVAILABILITY</a:t>
                  </a:r>
                  <a:endParaRPr b="1" sz="360">
                    <a:solidFill>
                      <a:srgbClr val="666666"/>
                    </a:solidFill>
                  </a:endParaRPr>
                </a:p>
              </p:txBody>
            </p:sp>
            <p:sp>
              <p:nvSpPr>
                <p:cNvPr id="284" name="Google Shape;284;p15"/>
                <p:cNvSpPr/>
                <p:nvPr/>
              </p:nvSpPr>
              <p:spPr>
                <a:xfrm>
                  <a:off x="9148885" y="4259825"/>
                  <a:ext cx="4335900" cy="2481000"/>
                </a:xfrm>
                <a:prstGeom prst="rect">
                  <a:avLst/>
                </a:prstGeom>
                <a:noFill/>
                <a:ln cap="flat" cmpd="sng" w="76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73200" lIns="73200" spcFirstLastPara="1" rIns="73200" wrap="square" tIns="732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120"/>
                </a:p>
              </p:txBody>
            </p:sp>
            <p:pic>
              <p:nvPicPr>
                <p:cNvPr id="285" name="Google Shape;285;p15" title="Screenshot 2026-02-19 at 10.15.05 AM.png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 b="0" l="0" r="-281" t="0"/>
                <a:stretch/>
              </p:blipFill>
              <p:spPr>
                <a:xfrm>
                  <a:off x="9286250" y="4386900"/>
                  <a:ext cx="4073401" cy="2226850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99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pic>
          </p:grpSp>
          <p:pic>
            <p:nvPicPr>
              <p:cNvPr id="286" name="Google Shape;286;p15" title="expand-icon-symbol-design-illustration-vector.jpg"/>
              <p:cNvPicPr preferRelativeResize="0"/>
              <p:nvPr/>
            </p:nvPicPr>
            <p:blipFill rotWithShape="1">
              <a:blip r:embed="rId8">
                <a:alphaModFix/>
              </a:blip>
              <a:srcRect b="11143" l="12219" r="0" t="0"/>
              <a:stretch/>
            </p:blipFill>
            <p:spPr>
              <a:xfrm>
                <a:off x="13211244" y="5054337"/>
                <a:ext cx="224376" cy="2271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287" name="Google Shape;287;p15"/>
            <p:cNvCxnSpPr/>
            <p:nvPr/>
          </p:nvCxnSpPr>
          <p:spPr>
            <a:xfrm>
              <a:off x="4426782" y="4027001"/>
              <a:ext cx="8858100" cy="600"/>
            </a:xfrm>
            <a:prstGeom prst="straightConnector1">
              <a:avLst/>
            </a:prstGeom>
            <a:noFill/>
            <a:ln cap="flat" cmpd="sng" w="9525">
              <a:solidFill>
                <a:srgbClr val="99999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288" name="Google Shape;288;p15"/>
            <p:cNvGrpSpPr/>
            <p:nvPr/>
          </p:nvGrpSpPr>
          <p:grpSpPr>
            <a:xfrm>
              <a:off x="8846180" y="7077437"/>
              <a:ext cx="4557232" cy="618331"/>
              <a:chOff x="4268193" y="552116"/>
              <a:chExt cx="6213843" cy="697025"/>
            </a:xfrm>
          </p:grpSpPr>
          <p:sp>
            <p:nvSpPr>
              <p:cNvPr id="289" name="Google Shape;289;p15"/>
              <p:cNvSpPr/>
              <p:nvPr/>
            </p:nvSpPr>
            <p:spPr>
              <a:xfrm>
                <a:off x="6760562" y="609015"/>
                <a:ext cx="3546300" cy="255600"/>
              </a:xfrm>
              <a:prstGeom prst="roundRect">
                <a:avLst>
                  <a:gd fmla="val 16667" name="adj"/>
                </a:avLst>
              </a:prstGeom>
              <a:solidFill>
                <a:schemeClr val="lt2"/>
              </a:solidFill>
              <a:ln cap="flat" cmpd="sng" w="84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1100" lIns="81100" spcFirstLastPara="1" rIns="81100" wrap="square" tIns="811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41"/>
              </a:p>
            </p:txBody>
          </p:sp>
          <p:sp>
            <p:nvSpPr>
              <p:cNvPr id="290" name="Google Shape;290;p15"/>
              <p:cNvSpPr txBox="1"/>
              <p:nvPr/>
            </p:nvSpPr>
            <p:spPr>
              <a:xfrm>
                <a:off x="4268193" y="552116"/>
                <a:ext cx="2855100" cy="28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1100" lIns="81100" spcFirstLastPara="1" rIns="81100" wrap="square" tIns="811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86">
                    <a:solidFill>
                      <a:srgbClr val="B7B7B7"/>
                    </a:solidFill>
                  </a:rPr>
                  <a:t>CONSTRUCTION YEAR</a:t>
                </a:r>
                <a:endParaRPr b="1" sz="1186">
                  <a:solidFill>
                    <a:srgbClr val="B7B7B7"/>
                  </a:solidFill>
                </a:endParaRPr>
              </a:p>
            </p:txBody>
          </p:sp>
          <p:sp>
            <p:nvSpPr>
              <p:cNvPr id="291" name="Google Shape;291;p15"/>
              <p:cNvSpPr txBox="1"/>
              <p:nvPr/>
            </p:nvSpPr>
            <p:spPr>
              <a:xfrm>
                <a:off x="6732035" y="810841"/>
                <a:ext cx="37500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1100" lIns="81100" spcFirstLastPara="1" rIns="81100" wrap="square" tIns="811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20">
                    <a:solidFill>
                      <a:schemeClr val="dk2"/>
                    </a:solidFill>
                  </a:rPr>
                  <a:t>2020	2030	2040	2050	2060	2070</a:t>
                </a:r>
                <a:endParaRPr sz="620">
                  <a:solidFill>
                    <a:schemeClr val="dk2"/>
                  </a:solidFill>
                </a:endParaRPr>
              </a:p>
            </p:txBody>
          </p:sp>
          <p:sp>
            <p:nvSpPr>
              <p:cNvPr id="292" name="Google Shape;292;p15"/>
              <p:cNvSpPr/>
              <p:nvPr/>
            </p:nvSpPr>
            <p:spPr>
              <a:xfrm>
                <a:off x="6766092" y="605847"/>
                <a:ext cx="202200" cy="25560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 cap="flat" cmpd="sng" w="84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1100" lIns="81100" spcFirstLastPara="1" rIns="81100" wrap="square" tIns="811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41"/>
              </a:p>
            </p:txBody>
          </p:sp>
        </p:grpSp>
        <p:grpSp>
          <p:nvGrpSpPr>
            <p:cNvPr id="293" name="Google Shape;293;p15"/>
            <p:cNvGrpSpPr/>
            <p:nvPr/>
          </p:nvGrpSpPr>
          <p:grpSpPr>
            <a:xfrm>
              <a:off x="4349911" y="934411"/>
              <a:ext cx="4421103" cy="2819555"/>
              <a:chOff x="4349911" y="934411"/>
              <a:chExt cx="4421103" cy="2819555"/>
            </a:xfrm>
          </p:grpSpPr>
          <p:grpSp>
            <p:nvGrpSpPr>
              <p:cNvPr id="294" name="Google Shape;294;p15"/>
              <p:cNvGrpSpPr/>
              <p:nvPr/>
            </p:nvGrpSpPr>
            <p:grpSpPr>
              <a:xfrm>
                <a:off x="4349911" y="934411"/>
                <a:ext cx="4421103" cy="2819555"/>
                <a:chOff x="4043712" y="1229950"/>
                <a:chExt cx="5522238" cy="3521803"/>
              </a:xfrm>
            </p:grpSpPr>
            <p:sp>
              <p:nvSpPr>
                <p:cNvPr id="295" name="Google Shape;295;p15"/>
                <p:cNvSpPr/>
                <p:nvPr/>
              </p:nvSpPr>
              <p:spPr>
                <a:xfrm>
                  <a:off x="4150050" y="1612488"/>
                  <a:ext cx="5415900" cy="3099000"/>
                </a:xfrm>
                <a:prstGeom prst="rect">
                  <a:avLst/>
                </a:prstGeom>
                <a:noFill/>
                <a:ln cap="flat" cmpd="sng" w="76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73200" lIns="73200" spcFirstLastPara="1" rIns="73200" wrap="square" tIns="732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120"/>
                </a:p>
              </p:txBody>
            </p:sp>
            <p:grpSp>
              <p:nvGrpSpPr>
                <p:cNvPr id="296" name="Google Shape;296;p15"/>
                <p:cNvGrpSpPr/>
                <p:nvPr/>
              </p:nvGrpSpPr>
              <p:grpSpPr>
                <a:xfrm>
                  <a:off x="4043712" y="1229950"/>
                  <a:ext cx="5157113" cy="3421454"/>
                  <a:chOff x="4205837" y="1005375"/>
                  <a:chExt cx="5157113" cy="3421454"/>
                </a:xfrm>
              </p:grpSpPr>
              <p:pic>
                <p:nvPicPr>
                  <p:cNvPr id="297" name="Google Shape;297;p15" title="Chart"/>
                  <p:cNvPicPr preferRelativeResize="0"/>
                  <p:nvPr/>
                </p:nvPicPr>
                <p:blipFill rotWithShape="1">
                  <a:blip r:embed="rId9">
                    <a:alphaModFix/>
                  </a:blip>
                  <a:srcRect b="0" l="0" r="0" t="11143"/>
                  <a:stretch/>
                </p:blipFill>
                <p:spPr>
                  <a:xfrm>
                    <a:off x="4479975" y="1744863"/>
                    <a:ext cx="4882975" cy="26819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298" name="Google Shape;298;p15"/>
                  <p:cNvSpPr txBox="1"/>
                  <p:nvPr/>
                </p:nvSpPr>
                <p:spPr>
                  <a:xfrm>
                    <a:off x="4205837" y="1005375"/>
                    <a:ext cx="4417800" cy="469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73200" lIns="73200" spcFirstLastPara="1" rIns="73200" wrap="square" tIns="73200">
                    <a:sp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lang="en" sz="1481">
                        <a:solidFill>
                          <a:srgbClr val="666666"/>
                        </a:solidFill>
                      </a:rPr>
                      <a:t>BASELINE MATERIAL DEMAND</a:t>
                    </a:r>
                    <a:endParaRPr b="1" sz="360">
                      <a:solidFill>
                        <a:srgbClr val="666666"/>
                      </a:solidFill>
                    </a:endParaRPr>
                  </a:p>
                </p:txBody>
              </p:sp>
            </p:grpSp>
            <p:grpSp>
              <p:nvGrpSpPr>
                <p:cNvPr id="299" name="Google Shape;299;p15"/>
                <p:cNvGrpSpPr/>
                <p:nvPr/>
              </p:nvGrpSpPr>
              <p:grpSpPr>
                <a:xfrm>
                  <a:off x="4056895" y="4208337"/>
                  <a:ext cx="1928164" cy="543415"/>
                  <a:chOff x="4257757" y="4208337"/>
                  <a:chExt cx="1928164" cy="543415"/>
                </a:xfrm>
              </p:grpSpPr>
              <p:sp>
                <p:nvSpPr>
                  <p:cNvPr id="300" name="Google Shape;300;p15"/>
                  <p:cNvSpPr txBox="1"/>
                  <p:nvPr/>
                </p:nvSpPr>
                <p:spPr>
                  <a:xfrm>
                    <a:off x="4257757" y="4241453"/>
                    <a:ext cx="1269300" cy="510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156000" lIns="156000" spcFirstLastPara="1" rIns="156000" wrap="square" tIns="1560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761">
                        <a:solidFill>
                          <a:srgbClr val="999999"/>
                        </a:solidFill>
                      </a:rPr>
                      <a:t>Sankey diagram</a:t>
                    </a:r>
                    <a:endParaRPr sz="761">
                      <a:solidFill>
                        <a:srgbClr val="999999"/>
                      </a:solidFill>
                    </a:endParaRPr>
                  </a:p>
                </p:txBody>
              </p:sp>
              <p:grpSp>
                <p:nvGrpSpPr>
                  <p:cNvPr id="301" name="Google Shape;301;p15"/>
                  <p:cNvGrpSpPr/>
                  <p:nvPr/>
                </p:nvGrpSpPr>
                <p:grpSpPr>
                  <a:xfrm>
                    <a:off x="5383729" y="4208337"/>
                    <a:ext cx="802192" cy="433200"/>
                    <a:chOff x="5383729" y="4208337"/>
                    <a:chExt cx="802192" cy="433200"/>
                  </a:xfrm>
                </p:grpSpPr>
                <p:grpSp>
                  <p:nvGrpSpPr>
                    <p:cNvPr id="302" name="Google Shape;302;p15"/>
                    <p:cNvGrpSpPr/>
                    <p:nvPr/>
                  </p:nvGrpSpPr>
                  <p:grpSpPr>
                    <a:xfrm>
                      <a:off x="5383729" y="4365780"/>
                      <a:ext cx="764855" cy="261650"/>
                      <a:chOff x="5505854" y="4365730"/>
                      <a:chExt cx="764855" cy="261650"/>
                    </a:xfrm>
                  </p:grpSpPr>
                  <p:sp>
                    <p:nvSpPr>
                      <p:cNvPr id="303" name="Google Shape;303;p15"/>
                      <p:cNvSpPr/>
                      <p:nvPr/>
                    </p:nvSpPr>
                    <p:spPr>
                      <a:xfrm rot="-10800000">
                        <a:off x="5513034" y="4365730"/>
                        <a:ext cx="757675" cy="261650"/>
                      </a:xfrm>
                      <a:prstGeom prst="flowChartMagneticDrum">
                        <a:avLst/>
                      </a:prstGeom>
                      <a:solidFill>
                        <a:srgbClr val="CCCCCC"/>
                      </a:solidFill>
                      <a:ln cap="flat" cmpd="sng" w="10600">
                        <a:solidFill>
                          <a:schemeClr val="dk2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156000" lIns="156000" spcFirstLastPara="1" rIns="156000" wrap="square" tIns="156000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2336"/>
                      </a:p>
                    </p:txBody>
                  </p:sp>
                  <p:sp>
                    <p:nvSpPr>
                      <p:cNvPr id="304" name="Google Shape;304;p15"/>
                      <p:cNvSpPr/>
                      <p:nvPr/>
                    </p:nvSpPr>
                    <p:spPr>
                      <a:xfrm>
                        <a:off x="5505854" y="4370260"/>
                        <a:ext cx="259500" cy="252600"/>
                      </a:xfrm>
                      <a:prstGeom prst="ellipse">
                        <a:avLst/>
                      </a:prstGeom>
                      <a:solidFill>
                        <a:schemeClr val="lt1"/>
                      </a:solidFill>
                      <a:ln cap="flat" cmpd="sng" w="10600">
                        <a:solidFill>
                          <a:schemeClr val="dk2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156000" lIns="156000" spcFirstLastPara="1" rIns="156000" wrap="square" tIns="156000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2336"/>
                      </a:p>
                    </p:txBody>
                  </p:sp>
                </p:grpSp>
                <p:sp>
                  <p:nvSpPr>
                    <p:cNvPr id="305" name="Google Shape;305;p15"/>
                    <p:cNvSpPr txBox="1"/>
                    <p:nvPr/>
                  </p:nvSpPr>
                  <p:spPr>
                    <a:xfrm>
                      <a:off x="5513621" y="4208337"/>
                      <a:ext cx="672300" cy="4332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156000" lIns="156000" spcFirstLastPara="1" rIns="156000" wrap="square" tIns="1560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1">
                          <a:solidFill>
                            <a:schemeClr val="lt1"/>
                          </a:solidFill>
                        </a:rPr>
                        <a:t>Off</a:t>
                      </a:r>
                      <a:endParaRPr sz="1001">
                        <a:solidFill>
                          <a:schemeClr val="lt1"/>
                        </a:solidFill>
                      </a:endParaRPr>
                    </a:p>
                  </p:txBody>
                </p:sp>
              </p:grpSp>
            </p:grpSp>
          </p:grpSp>
          <p:pic>
            <p:nvPicPr>
              <p:cNvPr id="306" name="Google Shape;306;p15" title="download.png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8474425" y="1284577"/>
                <a:ext cx="259800" cy="259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07" name="Google Shape;307;p15"/>
            <p:cNvGrpSpPr/>
            <p:nvPr/>
          </p:nvGrpSpPr>
          <p:grpSpPr>
            <a:xfrm>
              <a:off x="4349911" y="4181419"/>
              <a:ext cx="4421103" cy="2819555"/>
              <a:chOff x="4349911" y="4181419"/>
              <a:chExt cx="4421103" cy="2819555"/>
            </a:xfrm>
          </p:grpSpPr>
          <p:grpSp>
            <p:nvGrpSpPr>
              <p:cNvPr id="308" name="Google Shape;308;p15"/>
              <p:cNvGrpSpPr/>
              <p:nvPr/>
            </p:nvGrpSpPr>
            <p:grpSpPr>
              <a:xfrm>
                <a:off x="4349911" y="4181419"/>
                <a:ext cx="4421103" cy="2819555"/>
                <a:chOff x="4043712" y="1229950"/>
                <a:chExt cx="5522238" cy="3521803"/>
              </a:xfrm>
            </p:grpSpPr>
            <p:sp>
              <p:nvSpPr>
                <p:cNvPr id="309" name="Google Shape;309;p15"/>
                <p:cNvSpPr/>
                <p:nvPr/>
              </p:nvSpPr>
              <p:spPr>
                <a:xfrm>
                  <a:off x="4150050" y="1612488"/>
                  <a:ext cx="5415900" cy="3099000"/>
                </a:xfrm>
                <a:prstGeom prst="rect">
                  <a:avLst/>
                </a:prstGeom>
                <a:noFill/>
                <a:ln cap="flat" cmpd="sng" w="76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73200" lIns="73200" spcFirstLastPara="1" rIns="73200" wrap="square" tIns="732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120"/>
                </a:p>
              </p:txBody>
            </p:sp>
            <p:grpSp>
              <p:nvGrpSpPr>
                <p:cNvPr id="310" name="Google Shape;310;p15"/>
                <p:cNvGrpSpPr/>
                <p:nvPr/>
              </p:nvGrpSpPr>
              <p:grpSpPr>
                <a:xfrm>
                  <a:off x="4043712" y="1229950"/>
                  <a:ext cx="5157113" cy="3421454"/>
                  <a:chOff x="4205837" y="1005375"/>
                  <a:chExt cx="5157113" cy="3421454"/>
                </a:xfrm>
              </p:grpSpPr>
              <p:pic>
                <p:nvPicPr>
                  <p:cNvPr id="311" name="Google Shape;311;p15" title="Chart"/>
                  <p:cNvPicPr preferRelativeResize="0"/>
                  <p:nvPr/>
                </p:nvPicPr>
                <p:blipFill rotWithShape="1">
                  <a:blip r:embed="rId9">
                    <a:alphaModFix/>
                  </a:blip>
                  <a:srcRect b="0" l="0" r="0" t="11143"/>
                  <a:stretch/>
                </p:blipFill>
                <p:spPr>
                  <a:xfrm>
                    <a:off x="4479975" y="1744863"/>
                    <a:ext cx="4882975" cy="26819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312" name="Google Shape;312;p15"/>
                  <p:cNvSpPr txBox="1"/>
                  <p:nvPr/>
                </p:nvSpPr>
                <p:spPr>
                  <a:xfrm>
                    <a:off x="4205837" y="1005375"/>
                    <a:ext cx="4417800" cy="469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73200" lIns="73200" spcFirstLastPara="1" rIns="73200" wrap="square" tIns="73200">
                    <a:sp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lang="en" sz="1481">
                        <a:solidFill>
                          <a:srgbClr val="666666"/>
                        </a:solidFill>
                      </a:rPr>
                      <a:t>PROJECTED MATERIAL DEMAND</a:t>
                    </a:r>
                    <a:endParaRPr b="1" sz="360">
                      <a:solidFill>
                        <a:srgbClr val="666666"/>
                      </a:solidFill>
                    </a:endParaRPr>
                  </a:p>
                </p:txBody>
              </p:sp>
            </p:grpSp>
            <p:grpSp>
              <p:nvGrpSpPr>
                <p:cNvPr id="313" name="Google Shape;313;p15"/>
                <p:cNvGrpSpPr/>
                <p:nvPr/>
              </p:nvGrpSpPr>
              <p:grpSpPr>
                <a:xfrm>
                  <a:off x="4056895" y="4208337"/>
                  <a:ext cx="1928164" cy="543415"/>
                  <a:chOff x="4257757" y="4208337"/>
                  <a:chExt cx="1928164" cy="543415"/>
                </a:xfrm>
              </p:grpSpPr>
              <p:sp>
                <p:nvSpPr>
                  <p:cNvPr id="314" name="Google Shape;314;p15"/>
                  <p:cNvSpPr txBox="1"/>
                  <p:nvPr/>
                </p:nvSpPr>
                <p:spPr>
                  <a:xfrm>
                    <a:off x="4257757" y="4241453"/>
                    <a:ext cx="1269300" cy="510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156000" lIns="156000" spcFirstLastPara="1" rIns="156000" wrap="square" tIns="1560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761">
                        <a:solidFill>
                          <a:srgbClr val="999999"/>
                        </a:solidFill>
                      </a:rPr>
                      <a:t>Sankey diagram</a:t>
                    </a:r>
                    <a:endParaRPr sz="761">
                      <a:solidFill>
                        <a:srgbClr val="999999"/>
                      </a:solidFill>
                    </a:endParaRPr>
                  </a:p>
                </p:txBody>
              </p:sp>
              <p:grpSp>
                <p:nvGrpSpPr>
                  <p:cNvPr id="315" name="Google Shape;315;p15"/>
                  <p:cNvGrpSpPr/>
                  <p:nvPr/>
                </p:nvGrpSpPr>
                <p:grpSpPr>
                  <a:xfrm>
                    <a:off x="5383729" y="4208337"/>
                    <a:ext cx="802192" cy="433200"/>
                    <a:chOff x="5383729" y="4208337"/>
                    <a:chExt cx="802192" cy="433200"/>
                  </a:xfrm>
                </p:grpSpPr>
                <p:grpSp>
                  <p:nvGrpSpPr>
                    <p:cNvPr id="316" name="Google Shape;316;p15"/>
                    <p:cNvGrpSpPr/>
                    <p:nvPr/>
                  </p:nvGrpSpPr>
                  <p:grpSpPr>
                    <a:xfrm>
                      <a:off x="5383729" y="4365780"/>
                      <a:ext cx="764855" cy="261650"/>
                      <a:chOff x="5505854" y="4365730"/>
                      <a:chExt cx="764855" cy="261650"/>
                    </a:xfrm>
                  </p:grpSpPr>
                  <p:sp>
                    <p:nvSpPr>
                      <p:cNvPr id="317" name="Google Shape;317;p15"/>
                      <p:cNvSpPr/>
                      <p:nvPr/>
                    </p:nvSpPr>
                    <p:spPr>
                      <a:xfrm rot="-10800000">
                        <a:off x="5513034" y="4365730"/>
                        <a:ext cx="757675" cy="261650"/>
                      </a:xfrm>
                      <a:prstGeom prst="flowChartMagneticDrum">
                        <a:avLst/>
                      </a:prstGeom>
                      <a:solidFill>
                        <a:srgbClr val="CCCCCC"/>
                      </a:solidFill>
                      <a:ln cap="flat" cmpd="sng" w="10600">
                        <a:solidFill>
                          <a:schemeClr val="dk2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156000" lIns="156000" spcFirstLastPara="1" rIns="156000" wrap="square" tIns="156000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2336"/>
                      </a:p>
                    </p:txBody>
                  </p:sp>
                  <p:sp>
                    <p:nvSpPr>
                      <p:cNvPr id="318" name="Google Shape;318;p15"/>
                      <p:cNvSpPr/>
                      <p:nvPr/>
                    </p:nvSpPr>
                    <p:spPr>
                      <a:xfrm>
                        <a:off x="5505854" y="4370260"/>
                        <a:ext cx="259500" cy="252600"/>
                      </a:xfrm>
                      <a:prstGeom prst="ellipse">
                        <a:avLst/>
                      </a:prstGeom>
                      <a:solidFill>
                        <a:schemeClr val="lt1"/>
                      </a:solidFill>
                      <a:ln cap="flat" cmpd="sng" w="10600">
                        <a:solidFill>
                          <a:schemeClr val="dk2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156000" lIns="156000" spcFirstLastPara="1" rIns="156000" wrap="square" tIns="156000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2336"/>
                      </a:p>
                    </p:txBody>
                  </p:sp>
                </p:grpSp>
                <p:sp>
                  <p:nvSpPr>
                    <p:cNvPr id="319" name="Google Shape;319;p15"/>
                    <p:cNvSpPr txBox="1"/>
                    <p:nvPr/>
                  </p:nvSpPr>
                  <p:spPr>
                    <a:xfrm>
                      <a:off x="5513621" y="4208337"/>
                      <a:ext cx="672300" cy="4332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156000" lIns="156000" spcFirstLastPara="1" rIns="156000" wrap="square" tIns="1560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1">
                          <a:solidFill>
                            <a:schemeClr val="lt1"/>
                          </a:solidFill>
                        </a:rPr>
                        <a:t>Off</a:t>
                      </a:r>
                      <a:endParaRPr sz="1001">
                        <a:solidFill>
                          <a:schemeClr val="lt1"/>
                        </a:solidFill>
                      </a:endParaRPr>
                    </a:p>
                  </p:txBody>
                </p:sp>
              </p:grpSp>
            </p:grpSp>
          </p:grpSp>
          <p:pic>
            <p:nvPicPr>
              <p:cNvPr id="320" name="Google Shape;320;p15" title="download.png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8474425" y="4518577"/>
                <a:ext cx="259800" cy="259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321" name="Google Shape;321;p15"/>
            <p:cNvGrpSpPr/>
            <p:nvPr/>
          </p:nvGrpSpPr>
          <p:grpSpPr>
            <a:xfrm>
              <a:off x="8869623" y="932880"/>
              <a:ext cx="4405039" cy="2799577"/>
              <a:chOff x="8869623" y="932880"/>
              <a:chExt cx="4405039" cy="2799577"/>
            </a:xfrm>
          </p:grpSpPr>
          <p:grpSp>
            <p:nvGrpSpPr>
              <p:cNvPr id="322" name="Google Shape;322;p15"/>
              <p:cNvGrpSpPr/>
              <p:nvPr/>
            </p:nvGrpSpPr>
            <p:grpSpPr>
              <a:xfrm>
                <a:off x="8869623" y="932880"/>
                <a:ext cx="4405039" cy="2799577"/>
                <a:chOff x="4192894" y="4200054"/>
                <a:chExt cx="4405039" cy="2799577"/>
              </a:xfrm>
            </p:grpSpPr>
            <p:sp>
              <p:nvSpPr>
                <p:cNvPr id="323" name="Google Shape;323;p15"/>
                <p:cNvSpPr/>
                <p:nvPr/>
              </p:nvSpPr>
              <p:spPr>
                <a:xfrm>
                  <a:off x="4262033" y="4507108"/>
                  <a:ext cx="4335900" cy="2481000"/>
                </a:xfrm>
                <a:prstGeom prst="rect">
                  <a:avLst/>
                </a:prstGeom>
                <a:noFill/>
                <a:ln cap="flat" cmpd="sng" w="76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73200" lIns="73200" spcFirstLastPara="1" rIns="73200" wrap="square" tIns="732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120"/>
                </a:p>
              </p:txBody>
            </p:sp>
            <p:grpSp>
              <p:nvGrpSpPr>
                <p:cNvPr id="324" name="Google Shape;324;p15"/>
                <p:cNvGrpSpPr/>
                <p:nvPr/>
              </p:nvGrpSpPr>
              <p:grpSpPr>
                <a:xfrm>
                  <a:off x="4471489" y="4702363"/>
                  <a:ext cx="3847825" cy="2297269"/>
                  <a:chOff x="24110150" y="5483258"/>
                  <a:chExt cx="4709124" cy="2811490"/>
                </a:xfrm>
              </p:grpSpPr>
              <p:pic>
                <p:nvPicPr>
                  <p:cNvPr id="325" name="Google Shape;325;p15" title="Chart"/>
                  <p:cNvPicPr preferRelativeResize="0"/>
                  <p:nvPr/>
                </p:nvPicPr>
                <p:blipFill rotWithShape="1">
                  <a:blip r:embed="rId11">
                    <a:alphaModFix/>
                  </a:blip>
                  <a:srcRect b="0" l="0" r="0" t="11174"/>
                  <a:stretch/>
                </p:blipFill>
                <p:spPr>
                  <a:xfrm>
                    <a:off x="24110150" y="5483258"/>
                    <a:ext cx="4709124" cy="258647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326" name="Google Shape;326;p15"/>
                  <p:cNvSpPr txBox="1"/>
                  <p:nvPr/>
                </p:nvSpPr>
                <p:spPr>
                  <a:xfrm>
                    <a:off x="25186106" y="7977648"/>
                    <a:ext cx="3000000" cy="317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74700" lIns="74700" spcFirstLastPara="1" rIns="74700" wrap="square" tIns="74700">
                    <a:sp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702">
                        <a:solidFill>
                          <a:schemeClr val="dk1"/>
                        </a:solidFill>
                      </a:rPr>
                      <a:t>Material Cost (USD)</a:t>
                    </a:r>
                    <a:endParaRPr sz="702">
                      <a:solidFill>
                        <a:schemeClr val="dk1"/>
                      </a:solidFill>
                    </a:endParaRPr>
                  </a:p>
                </p:txBody>
              </p:sp>
            </p:grpSp>
            <p:sp>
              <p:nvSpPr>
                <p:cNvPr id="327" name="Google Shape;327;p15"/>
                <p:cNvSpPr txBox="1"/>
                <p:nvPr/>
              </p:nvSpPr>
              <p:spPr>
                <a:xfrm>
                  <a:off x="4192894" y="4200054"/>
                  <a:ext cx="3537000" cy="37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73200" lIns="73200" spcFirstLastPara="1" rIns="73200" wrap="square" tIns="73200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481">
                      <a:solidFill>
                        <a:srgbClr val="666666"/>
                      </a:solidFill>
                    </a:rPr>
                    <a:t>BASELINE MATERIAL COST</a:t>
                  </a:r>
                  <a:endParaRPr b="1" sz="360">
                    <a:solidFill>
                      <a:srgbClr val="666666"/>
                    </a:solidFill>
                  </a:endParaRPr>
                </a:p>
              </p:txBody>
            </p:sp>
          </p:grpSp>
          <p:pic>
            <p:nvPicPr>
              <p:cNvPr id="328" name="Google Shape;328;p15" title="download.png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12975775" y="1284577"/>
                <a:ext cx="259800" cy="259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329" name="Google Shape;329;p15" title="Chart"/>
          <p:cNvPicPr preferRelativeResize="0"/>
          <p:nvPr/>
        </p:nvPicPr>
        <p:blipFill rotWithShape="1">
          <a:blip r:embed="rId12">
            <a:alphaModFix/>
          </a:blip>
          <a:srcRect b="0" l="17945" r="0" t="0"/>
          <a:stretch/>
        </p:blipFill>
        <p:spPr>
          <a:xfrm>
            <a:off x="7521449" y="6050600"/>
            <a:ext cx="1076499" cy="811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30" name="Google Shape;330;p15" title="Chart"/>
          <p:cNvPicPr preferRelativeResize="0"/>
          <p:nvPr/>
        </p:nvPicPr>
        <p:blipFill rotWithShape="1">
          <a:blip r:embed="rId12">
            <a:alphaModFix/>
          </a:blip>
          <a:srcRect b="0" l="17945" r="0" t="0"/>
          <a:stretch/>
        </p:blipFill>
        <p:spPr>
          <a:xfrm>
            <a:off x="7521449" y="2836275"/>
            <a:ext cx="1076499" cy="811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16"/>
          <p:cNvSpPr txBox="1"/>
          <p:nvPr>
            <p:ph type="ctrTitle"/>
          </p:nvPr>
        </p:nvSpPr>
        <p:spPr>
          <a:xfrm rot="-5400000">
            <a:off x="-4438542" y="3734200"/>
            <a:ext cx="7825800" cy="916200"/>
          </a:xfrm>
          <a:prstGeom prst="rect">
            <a:avLst/>
          </a:prstGeom>
        </p:spPr>
        <p:txBody>
          <a:bodyPr anchorCtr="0" anchor="b" bIns="140175" lIns="140175" spcFirstLastPara="1" rIns="140175" wrap="square" tIns="14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100"/>
              <a:t>BUILDING SELECTION</a:t>
            </a:r>
            <a:endParaRPr sz="4100"/>
          </a:p>
        </p:txBody>
      </p:sp>
      <p:sp>
        <p:nvSpPr>
          <p:cNvPr id="336" name="Google Shape;336;p16"/>
          <p:cNvSpPr/>
          <p:nvPr/>
        </p:nvSpPr>
        <p:spPr>
          <a:xfrm>
            <a:off x="319850" y="1712625"/>
            <a:ext cx="3608700" cy="17112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40175" lIns="140175" spcFirstLastPara="1" rIns="140175" wrap="square" tIns="140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Building Specifications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66666"/>
                </a:solidFill>
              </a:rPr>
              <a:t>         </a:t>
            </a:r>
            <a:endParaRPr sz="13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6666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300">
              <a:solidFill>
                <a:srgbClr val="66666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300">
              <a:solidFill>
                <a:srgbClr val="66666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3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66666"/>
              </a:solidFill>
            </a:endParaRPr>
          </a:p>
        </p:txBody>
      </p:sp>
      <p:cxnSp>
        <p:nvCxnSpPr>
          <p:cNvPr id="337" name="Google Shape;337;p16"/>
          <p:cNvCxnSpPr>
            <a:stCxn id="338" idx="1"/>
          </p:cNvCxnSpPr>
          <p:nvPr/>
        </p:nvCxnSpPr>
        <p:spPr>
          <a:xfrm>
            <a:off x="2742802" y="2919742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39" name="Google Shape;339;p16"/>
          <p:cNvSpPr/>
          <p:nvPr/>
        </p:nvSpPr>
        <p:spPr>
          <a:xfrm>
            <a:off x="2459334" y="1915473"/>
            <a:ext cx="167100" cy="101400"/>
          </a:xfrm>
          <a:prstGeom prst="triangle">
            <a:avLst>
              <a:gd fmla="val 50000" name="adj"/>
            </a:avLst>
          </a:prstGeom>
          <a:solidFill>
            <a:srgbClr val="B7B7B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0175" lIns="140175" spcFirstLastPara="1" rIns="140175" wrap="square" tIns="14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340" name="Google Shape;340;p16"/>
          <p:cNvSpPr/>
          <p:nvPr/>
        </p:nvSpPr>
        <p:spPr>
          <a:xfrm rot="10800000">
            <a:off x="1757782" y="2297017"/>
            <a:ext cx="167100" cy="101400"/>
          </a:xfrm>
          <a:prstGeom prst="triangle">
            <a:avLst>
              <a:gd fmla="val 50000" name="adj"/>
            </a:avLst>
          </a:prstGeom>
          <a:solidFill>
            <a:srgbClr val="B7B7B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0175" lIns="140175" spcFirstLastPara="1" rIns="140175" wrap="square" tIns="14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cxnSp>
        <p:nvCxnSpPr>
          <p:cNvPr id="341" name="Google Shape;341;p16"/>
          <p:cNvCxnSpPr/>
          <p:nvPr/>
        </p:nvCxnSpPr>
        <p:spPr>
          <a:xfrm flipH="1">
            <a:off x="2542286" y="2606027"/>
            <a:ext cx="1200" cy="171300"/>
          </a:xfrm>
          <a:prstGeom prst="straightConnector1">
            <a:avLst/>
          </a:prstGeom>
          <a:noFill/>
          <a:ln cap="flat" cmpd="sng" w="9525">
            <a:solidFill>
              <a:srgbClr val="B7B7B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342" name="Google Shape;342;p16"/>
          <p:cNvGrpSpPr/>
          <p:nvPr/>
        </p:nvGrpSpPr>
        <p:grpSpPr>
          <a:xfrm>
            <a:off x="3587150" y="2585441"/>
            <a:ext cx="216900" cy="218100"/>
            <a:chOff x="3592625" y="2190625"/>
            <a:chExt cx="216900" cy="218100"/>
          </a:xfrm>
        </p:grpSpPr>
        <p:cxnSp>
          <p:nvCxnSpPr>
            <p:cNvPr id="343" name="Google Shape;343;p16"/>
            <p:cNvCxnSpPr/>
            <p:nvPr/>
          </p:nvCxnSpPr>
          <p:spPr>
            <a:xfrm flipH="1">
              <a:off x="3700925" y="2190625"/>
              <a:ext cx="300" cy="2181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44" name="Google Shape;344;p16"/>
            <p:cNvCxnSpPr/>
            <p:nvPr/>
          </p:nvCxnSpPr>
          <p:spPr>
            <a:xfrm>
              <a:off x="3592625" y="2297875"/>
              <a:ext cx="216900" cy="3600"/>
            </a:xfrm>
            <a:prstGeom prst="straightConnector1">
              <a:avLst/>
            </a:prstGeom>
            <a:noFill/>
            <a:ln cap="flat" cmpd="sng" w="2857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45" name="Google Shape;345;p16"/>
          <p:cNvSpPr/>
          <p:nvPr/>
        </p:nvSpPr>
        <p:spPr>
          <a:xfrm>
            <a:off x="463800" y="2930637"/>
            <a:ext cx="3249900" cy="332100"/>
          </a:xfrm>
          <a:prstGeom prst="roundRect">
            <a:avLst>
              <a:gd fmla="val 16667" name="adj"/>
            </a:avLst>
          </a:prstGeom>
          <a:solidFill>
            <a:srgbClr val="AAD3E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666666"/>
                </a:solidFill>
              </a:rPr>
              <a:t>Estimate material demands and cost</a:t>
            </a:r>
            <a:endParaRPr/>
          </a:p>
        </p:txBody>
      </p:sp>
      <p:sp>
        <p:nvSpPr>
          <p:cNvPr id="346" name="Google Shape;346;p16"/>
          <p:cNvSpPr/>
          <p:nvPr/>
        </p:nvSpPr>
        <p:spPr>
          <a:xfrm>
            <a:off x="322450" y="1045650"/>
            <a:ext cx="3608700" cy="43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0175" lIns="140175" spcFirstLastPara="1" rIns="140175" wrap="square" tIns="140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999999"/>
                </a:solidFill>
              </a:rPr>
              <a:t>       Ventura County, CA</a:t>
            </a:r>
            <a:endParaRPr sz="1500">
              <a:solidFill>
                <a:srgbClr val="999999"/>
              </a:solidFill>
            </a:endParaRPr>
          </a:p>
        </p:txBody>
      </p:sp>
      <p:pic>
        <p:nvPicPr>
          <p:cNvPr id="347" name="Google Shape;34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625" y="1067100"/>
            <a:ext cx="388875" cy="38887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grpSp>
        <p:nvGrpSpPr>
          <p:cNvPr id="348" name="Google Shape;348;p16"/>
          <p:cNvGrpSpPr/>
          <p:nvPr/>
        </p:nvGrpSpPr>
        <p:grpSpPr>
          <a:xfrm>
            <a:off x="324163" y="3628392"/>
            <a:ext cx="4161881" cy="524131"/>
            <a:chOff x="313750" y="2364051"/>
            <a:chExt cx="4161881" cy="524131"/>
          </a:xfrm>
        </p:grpSpPr>
        <p:grpSp>
          <p:nvGrpSpPr>
            <p:cNvPr id="349" name="Google Shape;349;p16"/>
            <p:cNvGrpSpPr/>
            <p:nvPr/>
          </p:nvGrpSpPr>
          <p:grpSpPr>
            <a:xfrm>
              <a:off x="313788" y="2364051"/>
              <a:ext cx="4161843" cy="524131"/>
              <a:chOff x="314635" y="1496385"/>
              <a:chExt cx="2462192" cy="377100"/>
            </a:xfrm>
          </p:grpSpPr>
          <p:sp>
            <p:nvSpPr>
              <p:cNvPr id="350" name="Google Shape;350;p16"/>
              <p:cNvSpPr/>
              <p:nvPr/>
            </p:nvSpPr>
            <p:spPr>
              <a:xfrm>
                <a:off x="314635" y="1532085"/>
                <a:ext cx="2135100" cy="3414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194825" lIns="194825" spcFirstLastPara="1" rIns="194825" wrap="square" tIns="1948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50">
                  <a:solidFill>
                    <a:schemeClr val="dk1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50">
                  <a:solidFill>
                    <a:schemeClr val="dk1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50">
                  <a:solidFill>
                    <a:schemeClr val="dk1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50">
                  <a:solidFill>
                    <a:schemeClr val="dk1"/>
                  </a:solidFill>
                </a:endParaRPr>
              </a:p>
            </p:txBody>
          </p:sp>
          <p:grpSp>
            <p:nvGrpSpPr>
              <p:cNvPr id="351" name="Google Shape;351;p16"/>
              <p:cNvGrpSpPr/>
              <p:nvPr/>
            </p:nvGrpSpPr>
            <p:grpSpPr>
              <a:xfrm>
                <a:off x="1905750" y="1496385"/>
                <a:ext cx="871077" cy="317400"/>
                <a:chOff x="1905813" y="1496535"/>
                <a:chExt cx="871077" cy="317400"/>
              </a:xfrm>
            </p:grpSpPr>
            <p:sp>
              <p:nvSpPr>
                <p:cNvPr id="352" name="Google Shape;352;p16"/>
                <p:cNvSpPr/>
                <p:nvPr/>
              </p:nvSpPr>
              <p:spPr>
                <a:xfrm rot="-10800000">
                  <a:off x="1905813" y="1608215"/>
                  <a:ext cx="421893" cy="181722"/>
                </a:xfrm>
                <a:prstGeom prst="flowChartMagneticDrum">
                  <a:avLst/>
                </a:prstGeom>
                <a:solidFill>
                  <a:srgbClr val="CCCCCC"/>
                </a:solidFill>
                <a:ln cap="flat" cmpd="sng" w="132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194825" lIns="194825" spcFirstLastPara="1" rIns="194825" wrap="square" tIns="1948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918"/>
                </a:p>
              </p:txBody>
            </p:sp>
            <p:sp>
              <p:nvSpPr>
                <p:cNvPr id="353" name="Google Shape;353;p16"/>
                <p:cNvSpPr/>
                <p:nvPr/>
              </p:nvSpPr>
              <p:spPr>
                <a:xfrm>
                  <a:off x="1905813" y="1605800"/>
                  <a:ext cx="153600" cy="181800"/>
                </a:xfrm>
                <a:prstGeom prst="ellipse">
                  <a:avLst/>
                </a:prstGeom>
                <a:solidFill>
                  <a:schemeClr val="lt1"/>
                </a:solidFill>
                <a:ln cap="flat" cmpd="sng" w="132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194825" lIns="194825" spcFirstLastPara="1" rIns="194825" wrap="square" tIns="1948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918"/>
                </a:p>
              </p:txBody>
            </p:sp>
            <p:sp>
              <p:nvSpPr>
                <p:cNvPr id="354" name="Google Shape;354;p16"/>
                <p:cNvSpPr txBox="1"/>
                <p:nvPr/>
              </p:nvSpPr>
              <p:spPr>
                <a:xfrm>
                  <a:off x="1960890" y="1496535"/>
                  <a:ext cx="816000" cy="317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94825" lIns="194825" spcFirstLastPara="1" rIns="194825" wrap="square" tIns="1948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250">
                      <a:solidFill>
                        <a:schemeClr val="lt1"/>
                      </a:solidFill>
                    </a:rPr>
                    <a:t>Off</a:t>
                  </a:r>
                  <a:endParaRPr sz="1250">
                    <a:solidFill>
                      <a:schemeClr val="lt1"/>
                    </a:solidFill>
                  </a:endParaRPr>
                </a:p>
              </p:txBody>
            </p:sp>
          </p:grpSp>
        </p:grpSp>
        <p:sp>
          <p:nvSpPr>
            <p:cNvPr id="355" name="Google Shape;355;p16"/>
            <p:cNvSpPr txBox="1"/>
            <p:nvPr/>
          </p:nvSpPr>
          <p:spPr>
            <a:xfrm>
              <a:off x="313750" y="2449250"/>
              <a:ext cx="30000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chemeClr val="dk1"/>
                  </a:solidFill>
                </a:rPr>
                <a:t>Material Availability Scenarios</a:t>
              </a:r>
              <a:endParaRPr b="1">
                <a:solidFill>
                  <a:schemeClr val="dk1"/>
                </a:solidFill>
              </a:endParaRPr>
            </a:p>
          </p:txBody>
        </p:sp>
      </p:grpSp>
      <p:grpSp>
        <p:nvGrpSpPr>
          <p:cNvPr id="356" name="Google Shape;356;p16"/>
          <p:cNvGrpSpPr/>
          <p:nvPr/>
        </p:nvGrpSpPr>
        <p:grpSpPr>
          <a:xfrm>
            <a:off x="319838" y="4344900"/>
            <a:ext cx="4170545" cy="534623"/>
            <a:chOff x="313750" y="2353562"/>
            <a:chExt cx="4170545" cy="534623"/>
          </a:xfrm>
        </p:grpSpPr>
        <p:grpSp>
          <p:nvGrpSpPr>
            <p:cNvPr id="357" name="Google Shape;357;p16"/>
            <p:cNvGrpSpPr/>
            <p:nvPr/>
          </p:nvGrpSpPr>
          <p:grpSpPr>
            <a:xfrm>
              <a:off x="313775" y="2353562"/>
              <a:ext cx="4170520" cy="534623"/>
              <a:chOff x="314627" y="1488838"/>
              <a:chExt cx="2467325" cy="384649"/>
            </a:xfrm>
          </p:grpSpPr>
          <p:sp>
            <p:nvSpPr>
              <p:cNvPr id="358" name="Google Shape;358;p16"/>
              <p:cNvSpPr/>
              <p:nvPr/>
            </p:nvSpPr>
            <p:spPr>
              <a:xfrm>
                <a:off x="314627" y="1532087"/>
                <a:ext cx="2135100" cy="3414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194825" lIns="194825" spcFirstLastPara="1" rIns="194825" wrap="square" tIns="1948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50">
                  <a:solidFill>
                    <a:schemeClr val="dk1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50">
                  <a:solidFill>
                    <a:schemeClr val="dk1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50">
                  <a:solidFill>
                    <a:schemeClr val="dk1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50">
                  <a:solidFill>
                    <a:schemeClr val="dk1"/>
                  </a:solidFill>
                </a:endParaRPr>
              </a:p>
            </p:txBody>
          </p:sp>
          <p:grpSp>
            <p:nvGrpSpPr>
              <p:cNvPr id="359" name="Google Shape;359;p16"/>
              <p:cNvGrpSpPr/>
              <p:nvPr/>
            </p:nvGrpSpPr>
            <p:grpSpPr>
              <a:xfrm>
                <a:off x="1905750" y="1488838"/>
                <a:ext cx="876202" cy="317400"/>
                <a:chOff x="1905813" y="1488988"/>
                <a:chExt cx="876202" cy="317400"/>
              </a:xfrm>
            </p:grpSpPr>
            <p:sp>
              <p:nvSpPr>
                <p:cNvPr id="360" name="Google Shape;360;p16"/>
                <p:cNvSpPr/>
                <p:nvPr/>
              </p:nvSpPr>
              <p:spPr>
                <a:xfrm rot="-10800000">
                  <a:off x="1905813" y="1608215"/>
                  <a:ext cx="421893" cy="181722"/>
                </a:xfrm>
                <a:prstGeom prst="flowChartMagneticDrum">
                  <a:avLst/>
                </a:prstGeom>
                <a:solidFill>
                  <a:srgbClr val="CCCCCC"/>
                </a:solidFill>
                <a:ln cap="flat" cmpd="sng" w="132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194825" lIns="194825" spcFirstLastPara="1" rIns="194825" wrap="square" tIns="1948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918"/>
                </a:p>
              </p:txBody>
            </p:sp>
            <p:sp>
              <p:nvSpPr>
                <p:cNvPr id="361" name="Google Shape;361;p16"/>
                <p:cNvSpPr/>
                <p:nvPr/>
              </p:nvSpPr>
              <p:spPr>
                <a:xfrm>
                  <a:off x="1905813" y="1605800"/>
                  <a:ext cx="153600" cy="181800"/>
                </a:xfrm>
                <a:prstGeom prst="ellipse">
                  <a:avLst/>
                </a:prstGeom>
                <a:solidFill>
                  <a:schemeClr val="lt1"/>
                </a:solidFill>
                <a:ln cap="flat" cmpd="sng" w="132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194825" lIns="194825" spcFirstLastPara="1" rIns="194825" wrap="square" tIns="1948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918"/>
                </a:p>
              </p:txBody>
            </p:sp>
            <p:sp>
              <p:nvSpPr>
                <p:cNvPr id="362" name="Google Shape;362;p16"/>
                <p:cNvSpPr txBox="1"/>
                <p:nvPr/>
              </p:nvSpPr>
              <p:spPr>
                <a:xfrm>
                  <a:off x="1966015" y="1488988"/>
                  <a:ext cx="816000" cy="317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94825" lIns="194825" spcFirstLastPara="1" rIns="194825" wrap="square" tIns="1948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250">
                      <a:solidFill>
                        <a:schemeClr val="lt1"/>
                      </a:solidFill>
                    </a:rPr>
                    <a:t>Off</a:t>
                  </a:r>
                  <a:endParaRPr sz="1250">
                    <a:solidFill>
                      <a:schemeClr val="lt1"/>
                    </a:solidFill>
                  </a:endParaRPr>
                </a:p>
              </p:txBody>
            </p:sp>
          </p:grpSp>
        </p:grpSp>
        <p:sp>
          <p:nvSpPr>
            <p:cNvPr id="363" name="Google Shape;363;p16"/>
            <p:cNvSpPr txBox="1"/>
            <p:nvPr/>
          </p:nvSpPr>
          <p:spPr>
            <a:xfrm>
              <a:off x="313750" y="2449250"/>
              <a:ext cx="3000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</a:rPr>
                <a:t>Alternative Materials</a:t>
              </a:r>
              <a:endParaRPr b="1">
                <a:solidFill>
                  <a:schemeClr val="dk1"/>
                </a:solidFill>
              </a:endParaRPr>
            </a:p>
          </p:txBody>
        </p:sp>
      </p:grpSp>
      <p:sp>
        <p:nvSpPr>
          <p:cNvPr id="364" name="Google Shape;364;p16"/>
          <p:cNvSpPr/>
          <p:nvPr/>
        </p:nvSpPr>
        <p:spPr>
          <a:xfrm>
            <a:off x="463800" y="2219925"/>
            <a:ext cx="1510200" cy="255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</a:rPr>
              <a:t>Health services</a:t>
            </a:r>
            <a:endParaRPr sz="1000">
              <a:solidFill>
                <a:srgbClr val="666666"/>
              </a:solidFill>
            </a:endParaRPr>
          </a:p>
        </p:txBody>
      </p:sp>
      <p:sp>
        <p:nvSpPr>
          <p:cNvPr id="365" name="Google Shape;365;p16"/>
          <p:cNvSpPr/>
          <p:nvPr/>
        </p:nvSpPr>
        <p:spPr>
          <a:xfrm>
            <a:off x="2041578" y="2219950"/>
            <a:ext cx="1002600" cy="255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</a:rPr>
              <a:t>10,000</a:t>
            </a:r>
            <a:endParaRPr sz="1000">
              <a:solidFill>
                <a:srgbClr val="666666"/>
              </a:solidFill>
            </a:endParaRPr>
          </a:p>
        </p:txBody>
      </p:sp>
      <p:sp>
        <p:nvSpPr>
          <p:cNvPr id="366" name="Google Shape;366;p16"/>
          <p:cNvSpPr/>
          <p:nvPr/>
        </p:nvSpPr>
        <p:spPr>
          <a:xfrm>
            <a:off x="2969943" y="1915475"/>
            <a:ext cx="7386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</a:rPr>
              <a:t>Reuse </a:t>
            </a:r>
            <a:endParaRPr sz="900">
              <a:solidFill>
                <a:srgbClr val="66666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</a:rPr>
              <a:t>materials?</a:t>
            </a:r>
            <a:endParaRPr sz="900">
              <a:solidFill>
                <a:srgbClr val="666666"/>
              </a:solidFill>
            </a:endParaRPr>
          </a:p>
        </p:txBody>
      </p:sp>
      <p:sp>
        <p:nvSpPr>
          <p:cNvPr id="367" name="Google Shape;367;p16"/>
          <p:cNvSpPr/>
          <p:nvPr/>
        </p:nvSpPr>
        <p:spPr>
          <a:xfrm>
            <a:off x="3209350" y="2219914"/>
            <a:ext cx="259800" cy="255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6"/>
          <p:cNvSpPr/>
          <p:nvPr/>
        </p:nvSpPr>
        <p:spPr>
          <a:xfrm>
            <a:off x="463800" y="2575275"/>
            <a:ext cx="1510200" cy="255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</a:rPr>
              <a:t>Laboratory</a:t>
            </a:r>
            <a:endParaRPr sz="1000">
              <a:solidFill>
                <a:srgbClr val="666666"/>
              </a:solidFill>
            </a:endParaRPr>
          </a:p>
        </p:txBody>
      </p:sp>
      <p:sp>
        <p:nvSpPr>
          <p:cNvPr id="369" name="Google Shape;369;p16"/>
          <p:cNvSpPr/>
          <p:nvPr/>
        </p:nvSpPr>
        <p:spPr>
          <a:xfrm>
            <a:off x="2041578" y="2569848"/>
            <a:ext cx="1002600" cy="255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666666"/>
                </a:solidFill>
              </a:rPr>
              <a:t>2</a:t>
            </a:r>
            <a:r>
              <a:rPr lang="en" sz="1000">
                <a:solidFill>
                  <a:srgbClr val="666666"/>
                </a:solidFill>
              </a:rPr>
              <a:t>0,000</a:t>
            </a:r>
            <a:endParaRPr sz="1000">
              <a:solidFill>
                <a:srgbClr val="666666"/>
              </a:solidFill>
            </a:endParaRPr>
          </a:p>
        </p:txBody>
      </p:sp>
      <p:sp>
        <p:nvSpPr>
          <p:cNvPr id="370" name="Google Shape;370;p16"/>
          <p:cNvSpPr/>
          <p:nvPr/>
        </p:nvSpPr>
        <p:spPr>
          <a:xfrm>
            <a:off x="3209350" y="2566688"/>
            <a:ext cx="259800" cy="2556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" name="Google Shape;371;p16"/>
          <p:cNvSpPr/>
          <p:nvPr/>
        </p:nvSpPr>
        <p:spPr>
          <a:xfrm rot="10800000">
            <a:off x="1757784" y="2663810"/>
            <a:ext cx="167100" cy="101400"/>
          </a:xfrm>
          <a:prstGeom prst="triangle">
            <a:avLst>
              <a:gd fmla="val 50000" name="adj"/>
            </a:avLst>
          </a:prstGeom>
          <a:solidFill>
            <a:srgbClr val="B7B7B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0175" lIns="140175" spcFirstLastPara="1" rIns="140175" wrap="square" tIns="14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pic>
        <p:nvPicPr>
          <p:cNvPr id="372" name="Google Shape;372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5888" y="2663792"/>
            <a:ext cx="259800" cy="388892"/>
          </a:xfrm>
          <a:prstGeom prst="rect">
            <a:avLst/>
          </a:prstGeom>
          <a:noFill/>
          <a:ln>
            <a:noFill/>
          </a:ln>
        </p:spPr>
      </p:pic>
      <p:sp>
        <p:nvSpPr>
          <p:cNvPr id="373" name="Google Shape;373;p16"/>
          <p:cNvSpPr/>
          <p:nvPr/>
        </p:nvSpPr>
        <p:spPr>
          <a:xfrm>
            <a:off x="-3678" y="-1570"/>
            <a:ext cx="13725900" cy="811200"/>
          </a:xfrm>
          <a:prstGeom prst="rect">
            <a:avLst/>
          </a:prstGeom>
          <a:solidFill>
            <a:srgbClr val="EDF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74" name="Google Shape;374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1400" y="140109"/>
            <a:ext cx="672433" cy="510249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16"/>
          <p:cNvSpPr txBox="1"/>
          <p:nvPr>
            <p:ph idx="1" type="subTitle"/>
          </p:nvPr>
        </p:nvSpPr>
        <p:spPr>
          <a:xfrm>
            <a:off x="761825" y="140088"/>
            <a:ext cx="12825300" cy="510300"/>
          </a:xfrm>
          <a:prstGeom prst="rect">
            <a:avLst/>
          </a:prstGeom>
          <a:ln>
            <a:noFill/>
          </a:ln>
        </p:spPr>
        <p:txBody>
          <a:bodyPr anchorCtr="0" anchor="t" bIns="140175" lIns="140175" spcFirstLastPara="1" rIns="140175" wrap="square" tIns="140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Merriweather"/>
                <a:ea typeface="Merriweather"/>
                <a:cs typeface="Merriweather"/>
                <a:sym typeface="Merriweather"/>
              </a:rPr>
              <a:t>Building Supply chain Material Analysis and Risk Trade-off Tool (BuildSMART v1)</a:t>
            </a:r>
            <a:r>
              <a:rPr b="1" lang="en" sz="1700"/>
              <a:t>           </a:t>
            </a:r>
            <a:r>
              <a:rPr b="1" lang="en" sz="1700">
                <a:solidFill>
                  <a:srgbClr val="999999"/>
                </a:solidFill>
              </a:rPr>
              <a:t>Main Page         </a:t>
            </a:r>
            <a:r>
              <a:rPr b="1" lang="en" sz="1700">
                <a:solidFill>
                  <a:srgbClr val="999999"/>
                </a:solidFill>
              </a:rPr>
              <a:t>About</a:t>
            </a:r>
            <a:r>
              <a:rPr b="1" lang="en" sz="1700">
                <a:solidFill>
                  <a:srgbClr val="999999"/>
                </a:solidFill>
              </a:rPr>
              <a:t>          Contact</a:t>
            </a:r>
            <a:endParaRPr b="1" sz="1700">
              <a:solidFill>
                <a:srgbClr val="999999"/>
              </a:solidFill>
            </a:endParaRPr>
          </a:p>
        </p:txBody>
      </p:sp>
      <p:grpSp>
        <p:nvGrpSpPr>
          <p:cNvPr id="376" name="Google Shape;376;p16"/>
          <p:cNvGrpSpPr/>
          <p:nvPr/>
        </p:nvGrpSpPr>
        <p:grpSpPr>
          <a:xfrm>
            <a:off x="4340597" y="932880"/>
            <a:ext cx="9062816" cy="6768625"/>
            <a:chOff x="4340597" y="932880"/>
            <a:chExt cx="9062816" cy="6768625"/>
          </a:xfrm>
        </p:grpSpPr>
        <p:grpSp>
          <p:nvGrpSpPr>
            <p:cNvPr id="377" name="Google Shape;377;p16"/>
            <p:cNvGrpSpPr/>
            <p:nvPr/>
          </p:nvGrpSpPr>
          <p:grpSpPr>
            <a:xfrm>
              <a:off x="4340597" y="7083175"/>
              <a:ext cx="4557232" cy="618331"/>
              <a:chOff x="4268193" y="552116"/>
              <a:chExt cx="6213843" cy="697025"/>
            </a:xfrm>
          </p:grpSpPr>
          <p:sp>
            <p:nvSpPr>
              <p:cNvPr id="378" name="Google Shape;378;p16"/>
              <p:cNvSpPr/>
              <p:nvPr/>
            </p:nvSpPr>
            <p:spPr>
              <a:xfrm>
                <a:off x="6760562" y="609015"/>
                <a:ext cx="3546300" cy="255600"/>
              </a:xfrm>
              <a:prstGeom prst="roundRect">
                <a:avLst>
                  <a:gd fmla="val 16667" name="adj"/>
                </a:avLst>
              </a:prstGeom>
              <a:solidFill>
                <a:schemeClr val="lt2"/>
              </a:solidFill>
              <a:ln cap="flat" cmpd="sng" w="84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1100" lIns="81100" spcFirstLastPara="1" rIns="81100" wrap="square" tIns="811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41"/>
              </a:p>
            </p:txBody>
          </p:sp>
          <p:sp>
            <p:nvSpPr>
              <p:cNvPr id="379" name="Google Shape;379;p16"/>
              <p:cNvSpPr txBox="1"/>
              <p:nvPr/>
            </p:nvSpPr>
            <p:spPr>
              <a:xfrm>
                <a:off x="4268193" y="552116"/>
                <a:ext cx="2855100" cy="28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1100" lIns="81100" spcFirstLastPara="1" rIns="81100" wrap="square" tIns="811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86">
                    <a:solidFill>
                      <a:srgbClr val="B7B7B7"/>
                    </a:solidFill>
                  </a:rPr>
                  <a:t>CONSTRUCTION YEAR</a:t>
                </a:r>
                <a:endParaRPr b="1" sz="1186">
                  <a:solidFill>
                    <a:srgbClr val="B7B7B7"/>
                  </a:solidFill>
                </a:endParaRPr>
              </a:p>
            </p:txBody>
          </p:sp>
          <p:sp>
            <p:nvSpPr>
              <p:cNvPr id="380" name="Google Shape;380;p16"/>
              <p:cNvSpPr txBox="1"/>
              <p:nvPr/>
            </p:nvSpPr>
            <p:spPr>
              <a:xfrm>
                <a:off x="6732035" y="810841"/>
                <a:ext cx="37500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1100" lIns="81100" spcFirstLastPara="1" rIns="81100" wrap="square" tIns="811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20">
                    <a:solidFill>
                      <a:schemeClr val="dk2"/>
                    </a:solidFill>
                  </a:rPr>
                  <a:t>2020	2030	2040	2050	2060	2070</a:t>
                </a:r>
                <a:endParaRPr sz="620">
                  <a:solidFill>
                    <a:schemeClr val="dk2"/>
                  </a:solidFill>
                </a:endParaRPr>
              </a:p>
            </p:txBody>
          </p:sp>
          <p:sp>
            <p:nvSpPr>
              <p:cNvPr id="381" name="Google Shape;381;p16"/>
              <p:cNvSpPr/>
              <p:nvPr/>
            </p:nvSpPr>
            <p:spPr>
              <a:xfrm>
                <a:off x="6766092" y="605847"/>
                <a:ext cx="202200" cy="25560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 cap="flat" cmpd="sng" w="84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1100" lIns="81100" spcFirstLastPara="1" rIns="81100" wrap="square" tIns="811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41"/>
              </a:p>
            </p:txBody>
          </p:sp>
        </p:grpSp>
        <p:grpSp>
          <p:nvGrpSpPr>
            <p:cNvPr id="382" name="Google Shape;382;p16"/>
            <p:cNvGrpSpPr/>
            <p:nvPr/>
          </p:nvGrpSpPr>
          <p:grpSpPr>
            <a:xfrm>
              <a:off x="8869612" y="4172248"/>
              <a:ext cx="4405034" cy="2794775"/>
              <a:chOff x="9037729" y="4704523"/>
              <a:chExt cx="4405034" cy="2794775"/>
            </a:xfrm>
          </p:grpSpPr>
          <p:grpSp>
            <p:nvGrpSpPr>
              <p:cNvPr id="383" name="Google Shape;383;p16"/>
              <p:cNvGrpSpPr/>
              <p:nvPr/>
            </p:nvGrpSpPr>
            <p:grpSpPr>
              <a:xfrm>
                <a:off x="9037729" y="4704523"/>
                <a:ext cx="4405034" cy="2794775"/>
                <a:chOff x="9079752" y="3946051"/>
                <a:chExt cx="4405034" cy="2794775"/>
              </a:xfrm>
            </p:grpSpPr>
            <p:sp>
              <p:nvSpPr>
                <p:cNvPr id="384" name="Google Shape;384;p16"/>
                <p:cNvSpPr txBox="1"/>
                <p:nvPr/>
              </p:nvSpPr>
              <p:spPr>
                <a:xfrm>
                  <a:off x="9079752" y="3946051"/>
                  <a:ext cx="4073400" cy="37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73200" lIns="73200" spcFirstLastPara="1" rIns="73200" wrap="square" tIns="73200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481">
                      <a:solidFill>
                        <a:srgbClr val="666666"/>
                      </a:solidFill>
                    </a:rPr>
                    <a:t>PROJECTED MATERIAL AVAILABILITY</a:t>
                  </a:r>
                  <a:endParaRPr b="1" sz="360">
                    <a:solidFill>
                      <a:srgbClr val="666666"/>
                    </a:solidFill>
                  </a:endParaRPr>
                </a:p>
              </p:txBody>
            </p:sp>
            <p:sp>
              <p:nvSpPr>
                <p:cNvPr id="385" name="Google Shape;385;p16"/>
                <p:cNvSpPr/>
                <p:nvPr/>
              </p:nvSpPr>
              <p:spPr>
                <a:xfrm>
                  <a:off x="9148885" y="4259825"/>
                  <a:ext cx="4335900" cy="2481000"/>
                </a:xfrm>
                <a:prstGeom prst="rect">
                  <a:avLst/>
                </a:prstGeom>
                <a:noFill/>
                <a:ln cap="flat" cmpd="sng" w="76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73200" lIns="73200" spcFirstLastPara="1" rIns="73200" wrap="square" tIns="732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120"/>
                </a:p>
              </p:txBody>
            </p:sp>
            <p:pic>
              <p:nvPicPr>
                <p:cNvPr id="386" name="Google Shape;386;p16" title="Screenshot 2026-02-19 at 10.15.05 AM.png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b="0" l="0" r="-281" t="0"/>
                <a:stretch/>
              </p:blipFill>
              <p:spPr>
                <a:xfrm>
                  <a:off x="9286250" y="4386900"/>
                  <a:ext cx="4073401" cy="2226850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99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pic>
          </p:grpSp>
          <p:pic>
            <p:nvPicPr>
              <p:cNvPr id="387" name="Google Shape;387;p16" title="expand-icon-symbol-design-illustration-vector.jpg"/>
              <p:cNvPicPr preferRelativeResize="0"/>
              <p:nvPr/>
            </p:nvPicPr>
            <p:blipFill rotWithShape="1">
              <a:blip r:embed="rId7">
                <a:alphaModFix/>
              </a:blip>
              <a:srcRect b="11143" l="12219" r="0" t="0"/>
              <a:stretch/>
            </p:blipFill>
            <p:spPr>
              <a:xfrm>
                <a:off x="13211244" y="5054337"/>
                <a:ext cx="224376" cy="2271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388" name="Google Shape;388;p16"/>
            <p:cNvCxnSpPr/>
            <p:nvPr/>
          </p:nvCxnSpPr>
          <p:spPr>
            <a:xfrm>
              <a:off x="4426782" y="4027001"/>
              <a:ext cx="8858100" cy="600"/>
            </a:xfrm>
            <a:prstGeom prst="straightConnector1">
              <a:avLst/>
            </a:prstGeom>
            <a:noFill/>
            <a:ln cap="flat" cmpd="sng" w="9525">
              <a:solidFill>
                <a:srgbClr val="99999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389" name="Google Shape;389;p16"/>
            <p:cNvGrpSpPr/>
            <p:nvPr/>
          </p:nvGrpSpPr>
          <p:grpSpPr>
            <a:xfrm>
              <a:off x="8846180" y="7077437"/>
              <a:ext cx="4557232" cy="618331"/>
              <a:chOff x="4268193" y="552116"/>
              <a:chExt cx="6213843" cy="697025"/>
            </a:xfrm>
          </p:grpSpPr>
          <p:sp>
            <p:nvSpPr>
              <p:cNvPr id="390" name="Google Shape;390;p16"/>
              <p:cNvSpPr/>
              <p:nvPr/>
            </p:nvSpPr>
            <p:spPr>
              <a:xfrm>
                <a:off x="6760562" y="609015"/>
                <a:ext cx="3546300" cy="255600"/>
              </a:xfrm>
              <a:prstGeom prst="roundRect">
                <a:avLst>
                  <a:gd fmla="val 16667" name="adj"/>
                </a:avLst>
              </a:prstGeom>
              <a:solidFill>
                <a:schemeClr val="lt2"/>
              </a:solidFill>
              <a:ln cap="flat" cmpd="sng" w="84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1100" lIns="81100" spcFirstLastPara="1" rIns="81100" wrap="square" tIns="811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41"/>
              </a:p>
            </p:txBody>
          </p:sp>
          <p:sp>
            <p:nvSpPr>
              <p:cNvPr id="391" name="Google Shape;391;p16"/>
              <p:cNvSpPr txBox="1"/>
              <p:nvPr/>
            </p:nvSpPr>
            <p:spPr>
              <a:xfrm>
                <a:off x="4268193" y="552116"/>
                <a:ext cx="2855100" cy="28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1100" lIns="81100" spcFirstLastPara="1" rIns="81100" wrap="square" tIns="811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86">
                    <a:solidFill>
                      <a:srgbClr val="B7B7B7"/>
                    </a:solidFill>
                  </a:rPr>
                  <a:t>CONSTRUCTION YEAR</a:t>
                </a:r>
                <a:endParaRPr b="1" sz="1186">
                  <a:solidFill>
                    <a:srgbClr val="B7B7B7"/>
                  </a:solidFill>
                </a:endParaRPr>
              </a:p>
            </p:txBody>
          </p:sp>
          <p:sp>
            <p:nvSpPr>
              <p:cNvPr id="392" name="Google Shape;392;p16"/>
              <p:cNvSpPr txBox="1"/>
              <p:nvPr/>
            </p:nvSpPr>
            <p:spPr>
              <a:xfrm>
                <a:off x="6732035" y="810841"/>
                <a:ext cx="37500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1100" lIns="81100" spcFirstLastPara="1" rIns="81100" wrap="square" tIns="811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20">
                    <a:solidFill>
                      <a:schemeClr val="dk2"/>
                    </a:solidFill>
                  </a:rPr>
                  <a:t>2020	2030	2040	2050	2060	2070</a:t>
                </a:r>
                <a:endParaRPr sz="620">
                  <a:solidFill>
                    <a:schemeClr val="dk2"/>
                  </a:solidFill>
                </a:endParaRPr>
              </a:p>
            </p:txBody>
          </p:sp>
          <p:sp>
            <p:nvSpPr>
              <p:cNvPr id="393" name="Google Shape;393;p16"/>
              <p:cNvSpPr/>
              <p:nvPr/>
            </p:nvSpPr>
            <p:spPr>
              <a:xfrm>
                <a:off x="6766092" y="605847"/>
                <a:ext cx="202200" cy="25560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 cap="flat" cmpd="sng" w="84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1100" lIns="81100" spcFirstLastPara="1" rIns="81100" wrap="square" tIns="811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41"/>
              </a:p>
            </p:txBody>
          </p:sp>
        </p:grpSp>
        <p:grpSp>
          <p:nvGrpSpPr>
            <p:cNvPr id="394" name="Google Shape;394;p16"/>
            <p:cNvGrpSpPr/>
            <p:nvPr/>
          </p:nvGrpSpPr>
          <p:grpSpPr>
            <a:xfrm>
              <a:off x="4349911" y="934411"/>
              <a:ext cx="4421103" cy="2819555"/>
              <a:chOff x="4349911" y="934411"/>
              <a:chExt cx="4421103" cy="2819555"/>
            </a:xfrm>
          </p:grpSpPr>
          <p:grpSp>
            <p:nvGrpSpPr>
              <p:cNvPr id="395" name="Google Shape;395;p16"/>
              <p:cNvGrpSpPr/>
              <p:nvPr/>
            </p:nvGrpSpPr>
            <p:grpSpPr>
              <a:xfrm>
                <a:off x="4349911" y="934411"/>
                <a:ext cx="4421103" cy="2819555"/>
                <a:chOff x="4043712" y="1229950"/>
                <a:chExt cx="5522238" cy="3521803"/>
              </a:xfrm>
            </p:grpSpPr>
            <p:sp>
              <p:nvSpPr>
                <p:cNvPr id="396" name="Google Shape;396;p16"/>
                <p:cNvSpPr/>
                <p:nvPr/>
              </p:nvSpPr>
              <p:spPr>
                <a:xfrm>
                  <a:off x="4150050" y="1612488"/>
                  <a:ext cx="5415900" cy="3099000"/>
                </a:xfrm>
                <a:prstGeom prst="rect">
                  <a:avLst/>
                </a:prstGeom>
                <a:noFill/>
                <a:ln cap="flat" cmpd="sng" w="76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73200" lIns="73200" spcFirstLastPara="1" rIns="73200" wrap="square" tIns="732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120"/>
                </a:p>
              </p:txBody>
            </p:sp>
            <p:grpSp>
              <p:nvGrpSpPr>
                <p:cNvPr id="397" name="Google Shape;397;p16"/>
                <p:cNvGrpSpPr/>
                <p:nvPr/>
              </p:nvGrpSpPr>
              <p:grpSpPr>
                <a:xfrm>
                  <a:off x="4043712" y="1229950"/>
                  <a:ext cx="5157113" cy="3421454"/>
                  <a:chOff x="4205837" y="1005375"/>
                  <a:chExt cx="5157113" cy="3421454"/>
                </a:xfrm>
              </p:grpSpPr>
              <p:pic>
                <p:nvPicPr>
                  <p:cNvPr id="398" name="Google Shape;398;p16" title="Chart"/>
                  <p:cNvPicPr preferRelativeResize="0"/>
                  <p:nvPr/>
                </p:nvPicPr>
                <p:blipFill rotWithShape="1">
                  <a:blip r:embed="rId8">
                    <a:alphaModFix/>
                  </a:blip>
                  <a:srcRect b="0" l="0" r="0" t="11143"/>
                  <a:stretch/>
                </p:blipFill>
                <p:spPr>
                  <a:xfrm>
                    <a:off x="4479975" y="1744863"/>
                    <a:ext cx="4882975" cy="26819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399" name="Google Shape;399;p16"/>
                  <p:cNvSpPr txBox="1"/>
                  <p:nvPr/>
                </p:nvSpPr>
                <p:spPr>
                  <a:xfrm>
                    <a:off x="4205837" y="1005375"/>
                    <a:ext cx="4417800" cy="469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73200" lIns="73200" spcFirstLastPara="1" rIns="73200" wrap="square" tIns="73200">
                    <a:sp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lang="en" sz="1481">
                        <a:solidFill>
                          <a:srgbClr val="666666"/>
                        </a:solidFill>
                      </a:rPr>
                      <a:t>BASELINE MATERIAL DEMAND</a:t>
                    </a:r>
                    <a:endParaRPr b="1" sz="360">
                      <a:solidFill>
                        <a:srgbClr val="666666"/>
                      </a:solidFill>
                    </a:endParaRPr>
                  </a:p>
                </p:txBody>
              </p:sp>
            </p:grpSp>
            <p:grpSp>
              <p:nvGrpSpPr>
                <p:cNvPr id="400" name="Google Shape;400;p16"/>
                <p:cNvGrpSpPr/>
                <p:nvPr/>
              </p:nvGrpSpPr>
              <p:grpSpPr>
                <a:xfrm>
                  <a:off x="4056895" y="4208337"/>
                  <a:ext cx="1928164" cy="543415"/>
                  <a:chOff x="4257757" y="4208337"/>
                  <a:chExt cx="1928164" cy="543415"/>
                </a:xfrm>
              </p:grpSpPr>
              <p:sp>
                <p:nvSpPr>
                  <p:cNvPr id="401" name="Google Shape;401;p16"/>
                  <p:cNvSpPr txBox="1"/>
                  <p:nvPr/>
                </p:nvSpPr>
                <p:spPr>
                  <a:xfrm>
                    <a:off x="4257757" y="4241453"/>
                    <a:ext cx="1269300" cy="510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156000" lIns="156000" spcFirstLastPara="1" rIns="156000" wrap="square" tIns="1560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761">
                        <a:solidFill>
                          <a:srgbClr val="999999"/>
                        </a:solidFill>
                      </a:rPr>
                      <a:t>Sankey diagram</a:t>
                    </a:r>
                    <a:endParaRPr sz="761">
                      <a:solidFill>
                        <a:srgbClr val="999999"/>
                      </a:solidFill>
                    </a:endParaRPr>
                  </a:p>
                </p:txBody>
              </p:sp>
              <p:grpSp>
                <p:nvGrpSpPr>
                  <p:cNvPr id="402" name="Google Shape;402;p16"/>
                  <p:cNvGrpSpPr/>
                  <p:nvPr/>
                </p:nvGrpSpPr>
                <p:grpSpPr>
                  <a:xfrm>
                    <a:off x="5383729" y="4208337"/>
                    <a:ext cx="802192" cy="433200"/>
                    <a:chOff x="5383729" y="4208337"/>
                    <a:chExt cx="802192" cy="433200"/>
                  </a:xfrm>
                </p:grpSpPr>
                <p:grpSp>
                  <p:nvGrpSpPr>
                    <p:cNvPr id="403" name="Google Shape;403;p16"/>
                    <p:cNvGrpSpPr/>
                    <p:nvPr/>
                  </p:nvGrpSpPr>
                  <p:grpSpPr>
                    <a:xfrm>
                      <a:off x="5383729" y="4365780"/>
                      <a:ext cx="764855" cy="261650"/>
                      <a:chOff x="5505854" y="4365730"/>
                      <a:chExt cx="764855" cy="261650"/>
                    </a:xfrm>
                  </p:grpSpPr>
                  <p:sp>
                    <p:nvSpPr>
                      <p:cNvPr id="404" name="Google Shape;404;p16"/>
                      <p:cNvSpPr/>
                      <p:nvPr/>
                    </p:nvSpPr>
                    <p:spPr>
                      <a:xfrm rot="-10800000">
                        <a:off x="5513034" y="4365730"/>
                        <a:ext cx="757675" cy="261650"/>
                      </a:xfrm>
                      <a:prstGeom prst="flowChartMagneticDrum">
                        <a:avLst/>
                      </a:prstGeom>
                      <a:solidFill>
                        <a:srgbClr val="CCCCCC"/>
                      </a:solidFill>
                      <a:ln cap="flat" cmpd="sng" w="10600">
                        <a:solidFill>
                          <a:schemeClr val="dk2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156000" lIns="156000" spcFirstLastPara="1" rIns="156000" wrap="square" tIns="156000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2336"/>
                      </a:p>
                    </p:txBody>
                  </p:sp>
                  <p:sp>
                    <p:nvSpPr>
                      <p:cNvPr id="405" name="Google Shape;405;p16"/>
                      <p:cNvSpPr/>
                      <p:nvPr/>
                    </p:nvSpPr>
                    <p:spPr>
                      <a:xfrm>
                        <a:off x="5505854" y="4370260"/>
                        <a:ext cx="259500" cy="252600"/>
                      </a:xfrm>
                      <a:prstGeom prst="ellipse">
                        <a:avLst/>
                      </a:prstGeom>
                      <a:solidFill>
                        <a:schemeClr val="lt1"/>
                      </a:solidFill>
                      <a:ln cap="flat" cmpd="sng" w="10600">
                        <a:solidFill>
                          <a:schemeClr val="dk2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156000" lIns="156000" spcFirstLastPara="1" rIns="156000" wrap="square" tIns="156000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2336"/>
                      </a:p>
                    </p:txBody>
                  </p:sp>
                </p:grpSp>
                <p:sp>
                  <p:nvSpPr>
                    <p:cNvPr id="406" name="Google Shape;406;p16"/>
                    <p:cNvSpPr txBox="1"/>
                    <p:nvPr/>
                  </p:nvSpPr>
                  <p:spPr>
                    <a:xfrm>
                      <a:off x="5513621" y="4208337"/>
                      <a:ext cx="672300" cy="4332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156000" lIns="156000" spcFirstLastPara="1" rIns="156000" wrap="square" tIns="1560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1">
                          <a:solidFill>
                            <a:schemeClr val="lt1"/>
                          </a:solidFill>
                        </a:rPr>
                        <a:t>Off</a:t>
                      </a:r>
                      <a:endParaRPr sz="1001">
                        <a:solidFill>
                          <a:schemeClr val="lt1"/>
                        </a:solidFill>
                      </a:endParaRPr>
                    </a:p>
                  </p:txBody>
                </p:sp>
              </p:grpSp>
            </p:grpSp>
          </p:grpSp>
          <p:pic>
            <p:nvPicPr>
              <p:cNvPr id="407" name="Google Shape;407;p16" title="download.png"/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8474425" y="1284577"/>
                <a:ext cx="259800" cy="259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08" name="Google Shape;408;p16"/>
            <p:cNvGrpSpPr/>
            <p:nvPr/>
          </p:nvGrpSpPr>
          <p:grpSpPr>
            <a:xfrm>
              <a:off x="4349911" y="4181419"/>
              <a:ext cx="4421103" cy="2819555"/>
              <a:chOff x="4349911" y="4181419"/>
              <a:chExt cx="4421103" cy="2819555"/>
            </a:xfrm>
          </p:grpSpPr>
          <p:grpSp>
            <p:nvGrpSpPr>
              <p:cNvPr id="409" name="Google Shape;409;p16"/>
              <p:cNvGrpSpPr/>
              <p:nvPr/>
            </p:nvGrpSpPr>
            <p:grpSpPr>
              <a:xfrm>
                <a:off x="4349911" y="4181419"/>
                <a:ext cx="4421103" cy="2819555"/>
                <a:chOff x="4043712" y="1229950"/>
                <a:chExt cx="5522238" cy="3521803"/>
              </a:xfrm>
            </p:grpSpPr>
            <p:sp>
              <p:nvSpPr>
                <p:cNvPr id="410" name="Google Shape;410;p16"/>
                <p:cNvSpPr/>
                <p:nvPr/>
              </p:nvSpPr>
              <p:spPr>
                <a:xfrm>
                  <a:off x="4150050" y="1612488"/>
                  <a:ext cx="5415900" cy="3099000"/>
                </a:xfrm>
                <a:prstGeom prst="rect">
                  <a:avLst/>
                </a:prstGeom>
                <a:noFill/>
                <a:ln cap="flat" cmpd="sng" w="76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73200" lIns="73200" spcFirstLastPara="1" rIns="73200" wrap="square" tIns="732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120"/>
                </a:p>
              </p:txBody>
            </p:sp>
            <p:grpSp>
              <p:nvGrpSpPr>
                <p:cNvPr id="411" name="Google Shape;411;p16"/>
                <p:cNvGrpSpPr/>
                <p:nvPr/>
              </p:nvGrpSpPr>
              <p:grpSpPr>
                <a:xfrm>
                  <a:off x="4043712" y="1229950"/>
                  <a:ext cx="5157113" cy="3421454"/>
                  <a:chOff x="4205837" y="1005375"/>
                  <a:chExt cx="5157113" cy="3421454"/>
                </a:xfrm>
              </p:grpSpPr>
              <p:pic>
                <p:nvPicPr>
                  <p:cNvPr id="412" name="Google Shape;412;p16" title="Chart"/>
                  <p:cNvPicPr preferRelativeResize="0"/>
                  <p:nvPr/>
                </p:nvPicPr>
                <p:blipFill rotWithShape="1">
                  <a:blip r:embed="rId8">
                    <a:alphaModFix/>
                  </a:blip>
                  <a:srcRect b="0" l="0" r="0" t="11143"/>
                  <a:stretch/>
                </p:blipFill>
                <p:spPr>
                  <a:xfrm>
                    <a:off x="4479975" y="1744863"/>
                    <a:ext cx="4882975" cy="26819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13" name="Google Shape;413;p16"/>
                  <p:cNvSpPr txBox="1"/>
                  <p:nvPr/>
                </p:nvSpPr>
                <p:spPr>
                  <a:xfrm>
                    <a:off x="4205837" y="1005375"/>
                    <a:ext cx="4417800" cy="469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73200" lIns="73200" spcFirstLastPara="1" rIns="73200" wrap="square" tIns="73200">
                    <a:sp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lang="en" sz="1481">
                        <a:solidFill>
                          <a:srgbClr val="666666"/>
                        </a:solidFill>
                      </a:rPr>
                      <a:t>PROJECTED MATERIAL DEMAND</a:t>
                    </a:r>
                    <a:endParaRPr b="1" sz="360">
                      <a:solidFill>
                        <a:srgbClr val="666666"/>
                      </a:solidFill>
                    </a:endParaRPr>
                  </a:p>
                </p:txBody>
              </p:sp>
            </p:grpSp>
            <p:grpSp>
              <p:nvGrpSpPr>
                <p:cNvPr id="414" name="Google Shape;414;p16"/>
                <p:cNvGrpSpPr/>
                <p:nvPr/>
              </p:nvGrpSpPr>
              <p:grpSpPr>
                <a:xfrm>
                  <a:off x="4056895" y="4208337"/>
                  <a:ext cx="1928164" cy="543415"/>
                  <a:chOff x="4257757" y="4208337"/>
                  <a:chExt cx="1928164" cy="543415"/>
                </a:xfrm>
              </p:grpSpPr>
              <p:sp>
                <p:nvSpPr>
                  <p:cNvPr id="415" name="Google Shape;415;p16"/>
                  <p:cNvSpPr txBox="1"/>
                  <p:nvPr/>
                </p:nvSpPr>
                <p:spPr>
                  <a:xfrm>
                    <a:off x="4257757" y="4241453"/>
                    <a:ext cx="1269300" cy="510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156000" lIns="156000" spcFirstLastPara="1" rIns="156000" wrap="square" tIns="1560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761">
                        <a:solidFill>
                          <a:srgbClr val="999999"/>
                        </a:solidFill>
                      </a:rPr>
                      <a:t>Sankey diagram</a:t>
                    </a:r>
                    <a:endParaRPr sz="761">
                      <a:solidFill>
                        <a:srgbClr val="999999"/>
                      </a:solidFill>
                    </a:endParaRPr>
                  </a:p>
                </p:txBody>
              </p:sp>
              <p:grpSp>
                <p:nvGrpSpPr>
                  <p:cNvPr id="416" name="Google Shape;416;p16"/>
                  <p:cNvGrpSpPr/>
                  <p:nvPr/>
                </p:nvGrpSpPr>
                <p:grpSpPr>
                  <a:xfrm>
                    <a:off x="5383729" y="4208337"/>
                    <a:ext cx="802192" cy="433200"/>
                    <a:chOff x="5383729" y="4208337"/>
                    <a:chExt cx="802192" cy="433200"/>
                  </a:xfrm>
                </p:grpSpPr>
                <p:grpSp>
                  <p:nvGrpSpPr>
                    <p:cNvPr id="417" name="Google Shape;417;p16"/>
                    <p:cNvGrpSpPr/>
                    <p:nvPr/>
                  </p:nvGrpSpPr>
                  <p:grpSpPr>
                    <a:xfrm>
                      <a:off x="5383729" y="4365780"/>
                      <a:ext cx="764855" cy="261650"/>
                      <a:chOff x="5505854" y="4365730"/>
                      <a:chExt cx="764855" cy="261650"/>
                    </a:xfrm>
                  </p:grpSpPr>
                  <p:sp>
                    <p:nvSpPr>
                      <p:cNvPr id="418" name="Google Shape;418;p16"/>
                      <p:cNvSpPr/>
                      <p:nvPr/>
                    </p:nvSpPr>
                    <p:spPr>
                      <a:xfrm rot="-10800000">
                        <a:off x="5513034" y="4365730"/>
                        <a:ext cx="757675" cy="261650"/>
                      </a:xfrm>
                      <a:prstGeom prst="flowChartMagneticDrum">
                        <a:avLst/>
                      </a:prstGeom>
                      <a:solidFill>
                        <a:srgbClr val="CCCCCC"/>
                      </a:solidFill>
                      <a:ln cap="flat" cmpd="sng" w="10600">
                        <a:solidFill>
                          <a:schemeClr val="dk2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156000" lIns="156000" spcFirstLastPara="1" rIns="156000" wrap="square" tIns="156000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2336"/>
                      </a:p>
                    </p:txBody>
                  </p:sp>
                  <p:sp>
                    <p:nvSpPr>
                      <p:cNvPr id="419" name="Google Shape;419;p16"/>
                      <p:cNvSpPr/>
                      <p:nvPr/>
                    </p:nvSpPr>
                    <p:spPr>
                      <a:xfrm>
                        <a:off x="5505854" y="4370260"/>
                        <a:ext cx="259500" cy="252600"/>
                      </a:xfrm>
                      <a:prstGeom prst="ellipse">
                        <a:avLst/>
                      </a:prstGeom>
                      <a:solidFill>
                        <a:schemeClr val="lt1"/>
                      </a:solidFill>
                      <a:ln cap="flat" cmpd="sng" w="10600">
                        <a:solidFill>
                          <a:schemeClr val="dk2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156000" lIns="156000" spcFirstLastPara="1" rIns="156000" wrap="square" tIns="156000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2336"/>
                      </a:p>
                    </p:txBody>
                  </p:sp>
                </p:grpSp>
                <p:sp>
                  <p:nvSpPr>
                    <p:cNvPr id="420" name="Google Shape;420;p16"/>
                    <p:cNvSpPr txBox="1"/>
                    <p:nvPr/>
                  </p:nvSpPr>
                  <p:spPr>
                    <a:xfrm>
                      <a:off x="5513621" y="4208337"/>
                      <a:ext cx="672300" cy="4332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156000" lIns="156000" spcFirstLastPara="1" rIns="156000" wrap="square" tIns="1560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1">
                          <a:solidFill>
                            <a:schemeClr val="lt1"/>
                          </a:solidFill>
                        </a:rPr>
                        <a:t>Off</a:t>
                      </a:r>
                      <a:endParaRPr sz="1001">
                        <a:solidFill>
                          <a:schemeClr val="lt1"/>
                        </a:solidFill>
                      </a:endParaRPr>
                    </a:p>
                  </p:txBody>
                </p:sp>
              </p:grpSp>
            </p:grpSp>
          </p:grpSp>
          <p:pic>
            <p:nvPicPr>
              <p:cNvPr id="421" name="Google Shape;421;p16" title="download.png"/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8474425" y="4518577"/>
                <a:ext cx="259800" cy="259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422" name="Google Shape;422;p16"/>
            <p:cNvGrpSpPr/>
            <p:nvPr/>
          </p:nvGrpSpPr>
          <p:grpSpPr>
            <a:xfrm>
              <a:off x="8869623" y="932880"/>
              <a:ext cx="4405039" cy="2799577"/>
              <a:chOff x="8869623" y="932880"/>
              <a:chExt cx="4405039" cy="2799577"/>
            </a:xfrm>
          </p:grpSpPr>
          <p:grpSp>
            <p:nvGrpSpPr>
              <p:cNvPr id="423" name="Google Shape;423;p16"/>
              <p:cNvGrpSpPr/>
              <p:nvPr/>
            </p:nvGrpSpPr>
            <p:grpSpPr>
              <a:xfrm>
                <a:off x="8869623" y="932880"/>
                <a:ext cx="4405039" cy="2799577"/>
                <a:chOff x="4192894" y="4200054"/>
                <a:chExt cx="4405039" cy="2799577"/>
              </a:xfrm>
            </p:grpSpPr>
            <p:sp>
              <p:nvSpPr>
                <p:cNvPr id="424" name="Google Shape;424;p16"/>
                <p:cNvSpPr/>
                <p:nvPr/>
              </p:nvSpPr>
              <p:spPr>
                <a:xfrm>
                  <a:off x="4262033" y="4507108"/>
                  <a:ext cx="4335900" cy="2481000"/>
                </a:xfrm>
                <a:prstGeom prst="rect">
                  <a:avLst/>
                </a:prstGeom>
                <a:noFill/>
                <a:ln cap="flat" cmpd="sng" w="76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73200" lIns="73200" spcFirstLastPara="1" rIns="73200" wrap="square" tIns="732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120"/>
                </a:p>
              </p:txBody>
            </p:sp>
            <p:grpSp>
              <p:nvGrpSpPr>
                <p:cNvPr id="425" name="Google Shape;425;p16"/>
                <p:cNvGrpSpPr/>
                <p:nvPr/>
              </p:nvGrpSpPr>
              <p:grpSpPr>
                <a:xfrm>
                  <a:off x="4471489" y="4702363"/>
                  <a:ext cx="3847825" cy="2297269"/>
                  <a:chOff x="24110150" y="5483258"/>
                  <a:chExt cx="4709124" cy="2811490"/>
                </a:xfrm>
              </p:grpSpPr>
              <p:pic>
                <p:nvPicPr>
                  <p:cNvPr id="426" name="Google Shape;426;p16" title="Chart"/>
                  <p:cNvPicPr preferRelativeResize="0"/>
                  <p:nvPr/>
                </p:nvPicPr>
                <p:blipFill rotWithShape="1">
                  <a:blip r:embed="rId10">
                    <a:alphaModFix/>
                  </a:blip>
                  <a:srcRect b="0" l="0" r="0" t="11174"/>
                  <a:stretch/>
                </p:blipFill>
                <p:spPr>
                  <a:xfrm>
                    <a:off x="24110150" y="5483258"/>
                    <a:ext cx="4709124" cy="258647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427" name="Google Shape;427;p16"/>
                  <p:cNvSpPr txBox="1"/>
                  <p:nvPr/>
                </p:nvSpPr>
                <p:spPr>
                  <a:xfrm>
                    <a:off x="25186106" y="7977648"/>
                    <a:ext cx="3000000" cy="317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74700" lIns="74700" spcFirstLastPara="1" rIns="74700" wrap="square" tIns="74700">
                    <a:sp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702">
                        <a:solidFill>
                          <a:schemeClr val="dk1"/>
                        </a:solidFill>
                      </a:rPr>
                      <a:t>Material Cost (USD)</a:t>
                    </a:r>
                    <a:endParaRPr sz="702">
                      <a:solidFill>
                        <a:schemeClr val="dk1"/>
                      </a:solidFill>
                    </a:endParaRPr>
                  </a:p>
                </p:txBody>
              </p:sp>
            </p:grpSp>
            <p:sp>
              <p:nvSpPr>
                <p:cNvPr id="428" name="Google Shape;428;p16"/>
                <p:cNvSpPr txBox="1"/>
                <p:nvPr/>
              </p:nvSpPr>
              <p:spPr>
                <a:xfrm>
                  <a:off x="4192894" y="4200054"/>
                  <a:ext cx="3537000" cy="37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73200" lIns="73200" spcFirstLastPara="1" rIns="73200" wrap="square" tIns="73200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481">
                      <a:solidFill>
                        <a:srgbClr val="666666"/>
                      </a:solidFill>
                    </a:rPr>
                    <a:t>BASELINE MATERIAL COST</a:t>
                  </a:r>
                  <a:endParaRPr b="1" sz="360">
                    <a:solidFill>
                      <a:srgbClr val="666666"/>
                    </a:solidFill>
                  </a:endParaRPr>
                </a:p>
              </p:txBody>
            </p:sp>
          </p:grpSp>
          <p:pic>
            <p:nvPicPr>
              <p:cNvPr id="429" name="Google Shape;429;p16" title="download.png"/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12975775" y="1284577"/>
                <a:ext cx="259800" cy="259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430" name="Google Shape;430;p16" title="Chart"/>
          <p:cNvPicPr preferRelativeResize="0"/>
          <p:nvPr/>
        </p:nvPicPr>
        <p:blipFill rotWithShape="1">
          <a:blip r:embed="rId11">
            <a:alphaModFix/>
          </a:blip>
          <a:srcRect b="0" l="17945" r="0" t="0"/>
          <a:stretch/>
        </p:blipFill>
        <p:spPr>
          <a:xfrm>
            <a:off x="7521449" y="6050600"/>
            <a:ext cx="1076499" cy="811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1" name="Google Shape;431;p16" title="Chart"/>
          <p:cNvPicPr preferRelativeResize="0"/>
          <p:nvPr/>
        </p:nvPicPr>
        <p:blipFill rotWithShape="1">
          <a:blip r:embed="rId11">
            <a:alphaModFix/>
          </a:blip>
          <a:srcRect b="0" l="17945" r="0" t="0"/>
          <a:stretch/>
        </p:blipFill>
        <p:spPr>
          <a:xfrm>
            <a:off x="7521449" y="2836275"/>
            <a:ext cx="1076499" cy="811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7"/>
          <p:cNvSpPr txBox="1"/>
          <p:nvPr>
            <p:ph type="ctrTitle"/>
          </p:nvPr>
        </p:nvSpPr>
        <p:spPr>
          <a:xfrm rot="-5400000">
            <a:off x="-4438542" y="3734200"/>
            <a:ext cx="7825800" cy="916200"/>
          </a:xfrm>
          <a:prstGeom prst="rect">
            <a:avLst/>
          </a:prstGeom>
        </p:spPr>
        <p:txBody>
          <a:bodyPr anchorCtr="0" anchor="b" bIns="140175" lIns="140175" spcFirstLastPara="1" rIns="140175" wrap="square" tIns="14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100"/>
              <a:t>BUILDING SELECTION</a:t>
            </a:r>
            <a:endParaRPr sz="4100"/>
          </a:p>
        </p:txBody>
      </p:sp>
      <p:sp>
        <p:nvSpPr>
          <p:cNvPr id="437" name="Google Shape;437;p17"/>
          <p:cNvSpPr/>
          <p:nvPr/>
        </p:nvSpPr>
        <p:spPr>
          <a:xfrm>
            <a:off x="319850" y="1712625"/>
            <a:ext cx="3608700" cy="2929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40175" lIns="140175" spcFirstLastPara="1" rIns="140175" wrap="square" tIns="140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Building Specifications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666666"/>
                </a:solidFill>
              </a:rPr>
              <a:t>         </a:t>
            </a:r>
            <a:endParaRPr sz="13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6666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300">
              <a:solidFill>
                <a:srgbClr val="66666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3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1300">
              <a:solidFill>
                <a:srgbClr val="66666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66666"/>
              </a:solidFill>
            </a:endParaRPr>
          </a:p>
        </p:txBody>
      </p:sp>
      <p:cxnSp>
        <p:nvCxnSpPr>
          <p:cNvPr id="438" name="Google Shape;438;p17"/>
          <p:cNvCxnSpPr>
            <a:stCxn id="439" idx="1"/>
          </p:cNvCxnSpPr>
          <p:nvPr/>
        </p:nvCxnSpPr>
        <p:spPr>
          <a:xfrm>
            <a:off x="2742802" y="2919742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0" name="Google Shape;440;p17"/>
          <p:cNvSpPr/>
          <p:nvPr/>
        </p:nvSpPr>
        <p:spPr>
          <a:xfrm>
            <a:off x="2459334" y="1915473"/>
            <a:ext cx="167100" cy="101400"/>
          </a:xfrm>
          <a:prstGeom prst="triangle">
            <a:avLst>
              <a:gd fmla="val 50000" name="adj"/>
            </a:avLst>
          </a:prstGeom>
          <a:solidFill>
            <a:srgbClr val="B7B7B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0175" lIns="140175" spcFirstLastPara="1" rIns="140175" wrap="square" tIns="14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441" name="Google Shape;441;p17"/>
          <p:cNvSpPr/>
          <p:nvPr/>
        </p:nvSpPr>
        <p:spPr>
          <a:xfrm>
            <a:off x="501850" y="4137238"/>
            <a:ext cx="3249900" cy="332100"/>
          </a:xfrm>
          <a:prstGeom prst="roundRect">
            <a:avLst>
              <a:gd fmla="val 16667" name="adj"/>
            </a:avLst>
          </a:prstGeom>
          <a:solidFill>
            <a:srgbClr val="AAD3E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666666"/>
                </a:solidFill>
              </a:rPr>
              <a:t>Estimate material demands and cost</a:t>
            </a:r>
            <a:endParaRPr/>
          </a:p>
        </p:txBody>
      </p:sp>
      <p:sp>
        <p:nvSpPr>
          <p:cNvPr id="442" name="Google Shape;442;p17"/>
          <p:cNvSpPr/>
          <p:nvPr/>
        </p:nvSpPr>
        <p:spPr>
          <a:xfrm>
            <a:off x="322450" y="1045650"/>
            <a:ext cx="3608700" cy="43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0175" lIns="140175" spcFirstLastPara="1" rIns="140175" wrap="square" tIns="140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999999"/>
                </a:solidFill>
              </a:rPr>
              <a:t>       Ventura County, CA</a:t>
            </a:r>
            <a:endParaRPr sz="1500">
              <a:solidFill>
                <a:srgbClr val="999999"/>
              </a:solidFill>
            </a:endParaRPr>
          </a:p>
        </p:txBody>
      </p:sp>
      <p:pic>
        <p:nvPicPr>
          <p:cNvPr id="443" name="Google Shape;44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625" y="1067100"/>
            <a:ext cx="388875" cy="38887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grpSp>
        <p:nvGrpSpPr>
          <p:cNvPr id="444" name="Google Shape;444;p17"/>
          <p:cNvGrpSpPr/>
          <p:nvPr/>
        </p:nvGrpSpPr>
        <p:grpSpPr>
          <a:xfrm>
            <a:off x="324163" y="4876206"/>
            <a:ext cx="4161881" cy="524131"/>
            <a:chOff x="313750" y="2364051"/>
            <a:chExt cx="4161881" cy="524131"/>
          </a:xfrm>
        </p:grpSpPr>
        <p:grpSp>
          <p:nvGrpSpPr>
            <p:cNvPr id="445" name="Google Shape;445;p17"/>
            <p:cNvGrpSpPr/>
            <p:nvPr/>
          </p:nvGrpSpPr>
          <p:grpSpPr>
            <a:xfrm>
              <a:off x="313788" y="2364051"/>
              <a:ext cx="4161843" cy="524131"/>
              <a:chOff x="314635" y="1496385"/>
              <a:chExt cx="2462192" cy="377100"/>
            </a:xfrm>
          </p:grpSpPr>
          <p:sp>
            <p:nvSpPr>
              <p:cNvPr id="446" name="Google Shape;446;p17"/>
              <p:cNvSpPr/>
              <p:nvPr/>
            </p:nvSpPr>
            <p:spPr>
              <a:xfrm>
                <a:off x="314635" y="1532085"/>
                <a:ext cx="2135100" cy="3414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194825" lIns="194825" spcFirstLastPara="1" rIns="194825" wrap="square" tIns="1948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50">
                  <a:solidFill>
                    <a:schemeClr val="dk1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50">
                  <a:solidFill>
                    <a:schemeClr val="dk1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50">
                  <a:solidFill>
                    <a:schemeClr val="dk1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50">
                  <a:solidFill>
                    <a:schemeClr val="dk1"/>
                  </a:solidFill>
                </a:endParaRPr>
              </a:p>
            </p:txBody>
          </p:sp>
          <p:grpSp>
            <p:nvGrpSpPr>
              <p:cNvPr id="447" name="Google Shape;447;p17"/>
              <p:cNvGrpSpPr/>
              <p:nvPr/>
            </p:nvGrpSpPr>
            <p:grpSpPr>
              <a:xfrm>
                <a:off x="1905750" y="1496385"/>
                <a:ext cx="871077" cy="317400"/>
                <a:chOff x="1905813" y="1496535"/>
                <a:chExt cx="871077" cy="317400"/>
              </a:xfrm>
            </p:grpSpPr>
            <p:sp>
              <p:nvSpPr>
                <p:cNvPr id="448" name="Google Shape;448;p17"/>
                <p:cNvSpPr/>
                <p:nvPr/>
              </p:nvSpPr>
              <p:spPr>
                <a:xfrm rot="-10800000">
                  <a:off x="1905813" y="1608215"/>
                  <a:ext cx="421893" cy="181722"/>
                </a:xfrm>
                <a:prstGeom prst="flowChartMagneticDrum">
                  <a:avLst/>
                </a:prstGeom>
                <a:solidFill>
                  <a:srgbClr val="CCCCCC"/>
                </a:solidFill>
                <a:ln cap="flat" cmpd="sng" w="132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194825" lIns="194825" spcFirstLastPara="1" rIns="194825" wrap="square" tIns="1948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918"/>
                </a:p>
              </p:txBody>
            </p:sp>
            <p:sp>
              <p:nvSpPr>
                <p:cNvPr id="449" name="Google Shape;449;p17"/>
                <p:cNvSpPr/>
                <p:nvPr/>
              </p:nvSpPr>
              <p:spPr>
                <a:xfrm>
                  <a:off x="1905813" y="1605800"/>
                  <a:ext cx="153600" cy="181800"/>
                </a:xfrm>
                <a:prstGeom prst="ellipse">
                  <a:avLst/>
                </a:prstGeom>
                <a:solidFill>
                  <a:schemeClr val="lt1"/>
                </a:solidFill>
                <a:ln cap="flat" cmpd="sng" w="132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194825" lIns="194825" spcFirstLastPara="1" rIns="194825" wrap="square" tIns="1948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918"/>
                </a:p>
              </p:txBody>
            </p:sp>
            <p:sp>
              <p:nvSpPr>
                <p:cNvPr id="450" name="Google Shape;450;p17"/>
                <p:cNvSpPr txBox="1"/>
                <p:nvPr/>
              </p:nvSpPr>
              <p:spPr>
                <a:xfrm>
                  <a:off x="1960890" y="1496535"/>
                  <a:ext cx="816000" cy="317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94825" lIns="194825" spcFirstLastPara="1" rIns="194825" wrap="square" tIns="1948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250">
                      <a:solidFill>
                        <a:schemeClr val="lt1"/>
                      </a:solidFill>
                    </a:rPr>
                    <a:t>Off</a:t>
                  </a:r>
                  <a:endParaRPr sz="1250">
                    <a:solidFill>
                      <a:schemeClr val="lt1"/>
                    </a:solidFill>
                  </a:endParaRPr>
                </a:p>
              </p:txBody>
            </p:sp>
          </p:grpSp>
        </p:grpSp>
        <p:sp>
          <p:nvSpPr>
            <p:cNvPr id="451" name="Google Shape;451;p17"/>
            <p:cNvSpPr txBox="1"/>
            <p:nvPr/>
          </p:nvSpPr>
          <p:spPr>
            <a:xfrm>
              <a:off x="313750" y="2449250"/>
              <a:ext cx="30000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chemeClr val="dk1"/>
                  </a:solidFill>
                </a:rPr>
                <a:t>Material Availability Scenarios</a:t>
              </a:r>
              <a:endParaRPr b="1">
                <a:solidFill>
                  <a:schemeClr val="dk1"/>
                </a:solidFill>
              </a:endParaRPr>
            </a:p>
          </p:txBody>
        </p:sp>
      </p:grpSp>
      <p:grpSp>
        <p:nvGrpSpPr>
          <p:cNvPr id="452" name="Google Shape;452;p17"/>
          <p:cNvGrpSpPr/>
          <p:nvPr/>
        </p:nvGrpSpPr>
        <p:grpSpPr>
          <a:xfrm>
            <a:off x="319838" y="5592714"/>
            <a:ext cx="4170545" cy="534623"/>
            <a:chOff x="313750" y="2353562"/>
            <a:chExt cx="4170545" cy="534623"/>
          </a:xfrm>
        </p:grpSpPr>
        <p:grpSp>
          <p:nvGrpSpPr>
            <p:cNvPr id="453" name="Google Shape;453;p17"/>
            <p:cNvGrpSpPr/>
            <p:nvPr/>
          </p:nvGrpSpPr>
          <p:grpSpPr>
            <a:xfrm>
              <a:off x="313775" y="2353562"/>
              <a:ext cx="4170520" cy="534623"/>
              <a:chOff x="314627" y="1488838"/>
              <a:chExt cx="2467325" cy="384649"/>
            </a:xfrm>
          </p:grpSpPr>
          <p:sp>
            <p:nvSpPr>
              <p:cNvPr id="454" name="Google Shape;454;p17"/>
              <p:cNvSpPr/>
              <p:nvPr/>
            </p:nvSpPr>
            <p:spPr>
              <a:xfrm>
                <a:off x="314627" y="1532087"/>
                <a:ext cx="2135100" cy="3414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194825" lIns="194825" spcFirstLastPara="1" rIns="194825" wrap="square" tIns="1948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50">
                  <a:solidFill>
                    <a:schemeClr val="dk1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50">
                  <a:solidFill>
                    <a:schemeClr val="dk1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50">
                  <a:solidFill>
                    <a:schemeClr val="dk1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50">
                  <a:solidFill>
                    <a:schemeClr val="dk1"/>
                  </a:solidFill>
                </a:endParaRPr>
              </a:p>
            </p:txBody>
          </p:sp>
          <p:grpSp>
            <p:nvGrpSpPr>
              <p:cNvPr id="455" name="Google Shape;455;p17"/>
              <p:cNvGrpSpPr/>
              <p:nvPr/>
            </p:nvGrpSpPr>
            <p:grpSpPr>
              <a:xfrm>
                <a:off x="1905750" y="1488838"/>
                <a:ext cx="876202" cy="317400"/>
                <a:chOff x="1905813" y="1488988"/>
                <a:chExt cx="876202" cy="317400"/>
              </a:xfrm>
            </p:grpSpPr>
            <p:sp>
              <p:nvSpPr>
                <p:cNvPr id="456" name="Google Shape;456;p17"/>
                <p:cNvSpPr/>
                <p:nvPr/>
              </p:nvSpPr>
              <p:spPr>
                <a:xfrm rot="-10800000">
                  <a:off x="1905813" y="1608215"/>
                  <a:ext cx="421893" cy="181722"/>
                </a:xfrm>
                <a:prstGeom prst="flowChartMagneticDrum">
                  <a:avLst/>
                </a:prstGeom>
                <a:solidFill>
                  <a:srgbClr val="CCCCCC"/>
                </a:solidFill>
                <a:ln cap="flat" cmpd="sng" w="132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194825" lIns="194825" spcFirstLastPara="1" rIns="194825" wrap="square" tIns="1948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918"/>
                </a:p>
              </p:txBody>
            </p:sp>
            <p:sp>
              <p:nvSpPr>
                <p:cNvPr id="457" name="Google Shape;457;p17"/>
                <p:cNvSpPr/>
                <p:nvPr/>
              </p:nvSpPr>
              <p:spPr>
                <a:xfrm>
                  <a:off x="1905813" y="1605800"/>
                  <a:ext cx="153600" cy="181800"/>
                </a:xfrm>
                <a:prstGeom prst="ellipse">
                  <a:avLst/>
                </a:prstGeom>
                <a:solidFill>
                  <a:schemeClr val="lt1"/>
                </a:solidFill>
                <a:ln cap="flat" cmpd="sng" w="132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194825" lIns="194825" spcFirstLastPara="1" rIns="194825" wrap="square" tIns="1948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918"/>
                </a:p>
              </p:txBody>
            </p:sp>
            <p:sp>
              <p:nvSpPr>
                <p:cNvPr id="458" name="Google Shape;458;p17"/>
                <p:cNvSpPr txBox="1"/>
                <p:nvPr/>
              </p:nvSpPr>
              <p:spPr>
                <a:xfrm>
                  <a:off x="1966015" y="1488988"/>
                  <a:ext cx="816000" cy="317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94825" lIns="194825" spcFirstLastPara="1" rIns="194825" wrap="square" tIns="1948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250">
                      <a:solidFill>
                        <a:schemeClr val="lt1"/>
                      </a:solidFill>
                    </a:rPr>
                    <a:t>Off</a:t>
                  </a:r>
                  <a:endParaRPr sz="1250">
                    <a:solidFill>
                      <a:schemeClr val="lt1"/>
                    </a:solidFill>
                  </a:endParaRPr>
                </a:p>
              </p:txBody>
            </p:sp>
          </p:grpSp>
        </p:grpSp>
        <p:sp>
          <p:nvSpPr>
            <p:cNvPr id="459" name="Google Shape;459;p17"/>
            <p:cNvSpPr txBox="1"/>
            <p:nvPr/>
          </p:nvSpPr>
          <p:spPr>
            <a:xfrm>
              <a:off x="313750" y="2449250"/>
              <a:ext cx="3000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</a:rPr>
                <a:t>Alternative Materials</a:t>
              </a:r>
              <a:endParaRPr b="1">
                <a:solidFill>
                  <a:schemeClr val="dk1"/>
                </a:solidFill>
              </a:endParaRPr>
            </a:p>
          </p:txBody>
        </p:sp>
      </p:grpSp>
      <p:sp>
        <p:nvSpPr>
          <p:cNvPr id="460" name="Google Shape;460;p17"/>
          <p:cNvSpPr/>
          <p:nvPr/>
        </p:nvSpPr>
        <p:spPr>
          <a:xfrm>
            <a:off x="2975093" y="2100610"/>
            <a:ext cx="7386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</a:rPr>
              <a:t>Reuse </a:t>
            </a:r>
            <a:endParaRPr sz="900">
              <a:solidFill>
                <a:srgbClr val="66666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666666"/>
                </a:solidFill>
              </a:rPr>
              <a:t>materials?</a:t>
            </a:r>
            <a:endParaRPr sz="900">
              <a:solidFill>
                <a:srgbClr val="666666"/>
              </a:solidFill>
            </a:endParaRPr>
          </a:p>
        </p:txBody>
      </p:sp>
      <p:pic>
        <p:nvPicPr>
          <p:cNvPr id="461" name="Google Shape;461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44238" y="4298471"/>
            <a:ext cx="259800" cy="38889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62" name="Google Shape;462;p17"/>
          <p:cNvGrpSpPr/>
          <p:nvPr/>
        </p:nvGrpSpPr>
        <p:grpSpPr>
          <a:xfrm>
            <a:off x="697213" y="2421010"/>
            <a:ext cx="3106838" cy="610955"/>
            <a:chOff x="697213" y="2331245"/>
            <a:chExt cx="3106838" cy="610955"/>
          </a:xfrm>
        </p:grpSpPr>
        <p:grpSp>
          <p:nvGrpSpPr>
            <p:cNvPr id="463" name="Google Shape;463;p17"/>
            <p:cNvGrpSpPr/>
            <p:nvPr/>
          </p:nvGrpSpPr>
          <p:grpSpPr>
            <a:xfrm>
              <a:off x="3587150" y="2696772"/>
              <a:ext cx="216900" cy="218100"/>
              <a:chOff x="3592625" y="2190625"/>
              <a:chExt cx="216900" cy="218100"/>
            </a:xfrm>
          </p:grpSpPr>
          <p:cxnSp>
            <p:nvCxnSpPr>
              <p:cNvPr id="464" name="Google Shape;464;p17"/>
              <p:cNvCxnSpPr/>
              <p:nvPr/>
            </p:nvCxnSpPr>
            <p:spPr>
              <a:xfrm flipH="1">
                <a:off x="3700925" y="2190625"/>
                <a:ext cx="300" cy="2181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65" name="Google Shape;465;p17"/>
              <p:cNvCxnSpPr/>
              <p:nvPr/>
            </p:nvCxnSpPr>
            <p:spPr>
              <a:xfrm>
                <a:off x="3592625" y="2297875"/>
                <a:ext cx="216900" cy="3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466" name="Google Shape;466;p17"/>
            <p:cNvSpPr/>
            <p:nvPr/>
          </p:nvSpPr>
          <p:spPr>
            <a:xfrm>
              <a:off x="697213" y="2331250"/>
              <a:ext cx="1276800" cy="255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66666"/>
                  </a:solidFill>
                </a:rPr>
                <a:t>Health services</a:t>
              </a:r>
              <a:endParaRPr sz="1000">
                <a:solidFill>
                  <a:srgbClr val="666666"/>
                </a:solidFill>
              </a:endParaRPr>
            </a:p>
          </p:txBody>
        </p:sp>
        <p:sp>
          <p:nvSpPr>
            <p:cNvPr id="467" name="Google Shape;467;p17"/>
            <p:cNvSpPr/>
            <p:nvPr/>
          </p:nvSpPr>
          <p:spPr>
            <a:xfrm>
              <a:off x="2041578" y="2331281"/>
              <a:ext cx="1002600" cy="255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66666"/>
                  </a:solidFill>
                </a:rPr>
                <a:t>10,000</a:t>
              </a:r>
              <a:endParaRPr sz="1000">
                <a:solidFill>
                  <a:srgbClr val="666666"/>
                </a:solidFill>
              </a:endParaRPr>
            </a:p>
          </p:txBody>
        </p:sp>
        <p:sp>
          <p:nvSpPr>
            <p:cNvPr id="468" name="Google Shape;468;p17"/>
            <p:cNvSpPr/>
            <p:nvPr/>
          </p:nvSpPr>
          <p:spPr>
            <a:xfrm>
              <a:off x="3209350" y="2331245"/>
              <a:ext cx="259800" cy="255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17"/>
            <p:cNvSpPr/>
            <p:nvPr/>
          </p:nvSpPr>
          <p:spPr>
            <a:xfrm>
              <a:off x="697213" y="2686600"/>
              <a:ext cx="1276800" cy="255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66666"/>
                  </a:solidFill>
                </a:rPr>
                <a:t>Laboratory</a:t>
              </a:r>
              <a:endParaRPr sz="1000">
                <a:solidFill>
                  <a:srgbClr val="666666"/>
                </a:solidFill>
              </a:endParaRPr>
            </a:p>
          </p:txBody>
        </p:sp>
        <p:sp>
          <p:nvSpPr>
            <p:cNvPr id="470" name="Google Shape;470;p17"/>
            <p:cNvSpPr/>
            <p:nvPr/>
          </p:nvSpPr>
          <p:spPr>
            <a:xfrm>
              <a:off x="2041578" y="2681179"/>
              <a:ext cx="1002600" cy="255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66666"/>
                  </a:solidFill>
                </a:rPr>
                <a:t>20,000</a:t>
              </a:r>
              <a:endParaRPr sz="1000">
                <a:solidFill>
                  <a:srgbClr val="666666"/>
                </a:solidFill>
              </a:endParaRPr>
            </a:p>
          </p:txBody>
        </p:sp>
        <p:sp>
          <p:nvSpPr>
            <p:cNvPr id="471" name="Google Shape;471;p17"/>
            <p:cNvSpPr/>
            <p:nvPr/>
          </p:nvSpPr>
          <p:spPr>
            <a:xfrm>
              <a:off x="3209350" y="2678019"/>
              <a:ext cx="259800" cy="255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17"/>
            <p:cNvSpPr/>
            <p:nvPr/>
          </p:nvSpPr>
          <p:spPr>
            <a:xfrm>
              <a:off x="3255692" y="2597665"/>
              <a:ext cx="332096" cy="255602"/>
            </a:xfrm>
            <a:custGeom>
              <a:rect b="b" l="l" r="r" t="t"/>
              <a:pathLst>
                <a:path extrusionOk="0" h="4557" w="7125">
                  <a:moveTo>
                    <a:pt x="0" y="4027"/>
                  </a:moveTo>
                  <a:cubicBezTo>
                    <a:pt x="1930" y="5955"/>
                    <a:pt x="5196" y="1929"/>
                    <a:pt x="7125" y="0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473" name="Google Shape;473;p17"/>
            <p:cNvSpPr/>
            <p:nvPr/>
          </p:nvSpPr>
          <p:spPr>
            <a:xfrm rot="10800000">
              <a:off x="1757782" y="2416703"/>
              <a:ext cx="167100" cy="101400"/>
            </a:xfrm>
            <a:prstGeom prst="triangle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40175" lIns="140175" spcFirstLastPara="1" rIns="140175" wrap="square" tIns="1401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/>
            </a:p>
          </p:txBody>
        </p:sp>
        <p:sp>
          <p:nvSpPr>
            <p:cNvPr id="474" name="Google Shape;474;p17"/>
            <p:cNvSpPr/>
            <p:nvPr/>
          </p:nvSpPr>
          <p:spPr>
            <a:xfrm rot="10800000">
              <a:off x="1757782" y="2774054"/>
              <a:ext cx="167100" cy="101400"/>
            </a:xfrm>
            <a:prstGeom prst="triangle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40175" lIns="140175" spcFirstLastPara="1" rIns="140175" wrap="square" tIns="1401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/>
            </a:p>
          </p:txBody>
        </p:sp>
      </p:grpSp>
      <p:sp>
        <p:nvSpPr>
          <p:cNvPr id="475" name="Google Shape;475;p17"/>
          <p:cNvSpPr/>
          <p:nvPr/>
        </p:nvSpPr>
        <p:spPr>
          <a:xfrm>
            <a:off x="370627" y="2100600"/>
            <a:ext cx="14694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666666"/>
                </a:solidFill>
              </a:rPr>
              <a:t>New buildings</a:t>
            </a:r>
            <a:endParaRPr i="1" sz="1200">
              <a:solidFill>
                <a:srgbClr val="666666"/>
              </a:solidFill>
            </a:endParaRPr>
          </a:p>
        </p:txBody>
      </p:sp>
      <p:sp>
        <p:nvSpPr>
          <p:cNvPr id="476" name="Google Shape;476;p17"/>
          <p:cNvSpPr/>
          <p:nvPr/>
        </p:nvSpPr>
        <p:spPr>
          <a:xfrm>
            <a:off x="370625" y="3365264"/>
            <a:ext cx="1785900" cy="2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200">
                <a:solidFill>
                  <a:srgbClr val="666666"/>
                </a:solidFill>
              </a:rPr>
              <a:t>Demolished buildings</a:t>
            </a:r>
            <a:endParaRPr i="1" sz="1200">
              <a:solidFill>
                <a:srgbClr val="666666"/>
              </a:solidFill>
            </a:endParaRPr>
          </a:p>
        </p:txBody>
      </p:sp>
      <p:cxnSp>
        <p:nvCxnSpPr>
          <p:cNvPr id="477" name="Google Shape;477;p17"/>
          <p:cNvCxnSpPr/>
          <p:nvPr/>
        </p:nvCxnSpPr>
        <p:spPr>
          <a:xfrm>
            <a:off x="493000" y="3271923"/>
            <a:ext cx="3267600" cy="11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78" name="Google Shape;478;p17"/>
          <p:cNvGrpSpPr/>
          <p:nvPr/>
        </p:nvGrpSpPr>
        <p:grpSpPr>
          <a:xfrm>
            <a:off x="697217" y="3702503"/>
            <a:ext cx="2619425" cy="255631"/>
            <a:chOff x="697213" y="2331250"/>
            <a:chExt cx="2619425" cy="255631"/>
          </a:xfrm>
        </p:grpSpPr>
        <p:grpSp>
          <p:nvGrpSpPr>
            <p:cNvPr id="479" name="Google Shape;479;p17"/>
            <p:cNvGrpSpPr/>
            <p:nvPr/>
          </p:nvGrpSpPr>
          <p:grpSpPr>
            <a:xfrm>
              <a:off x="3099738" y="2352810"/>
              <a:ext cx="216900" cy="218100"/>
              <a:chOff x="3105213" y="1846663"/>
              <a:chExt cx="216900" cy="218100"/>
            </a:xfrm>
          </p:grpSpPr>
          <p:cxnSp>
            <p:nvCxnSpPr>
              <p:cNvPr id="480" name="Google Shape;480;p17"/>
              <p:cNvCxnSpPr/>
              <p:nvPr/>
            </p:nvCxnSpPr>
            <p:spPr>
              <a:xfrm flipH="1">
                <a:off x="3213513" y="1846663"/>
                <a:ext cx="300" cy="2181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481" name="Google Shape;481;p17"/>
              <p:cNvCxnSpPr/>
              <p:nvPr/>
            </p:nvCxnSpPr>
            <p:spPr>
              <a:xfrm>
                <a:off x="3105213" y="1953913"/>
                <a:ext cx="216900" cy="36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sp>
          <p:nvSpPr>
            <p:cNvPr id="482" name="Google Shape;482;p17"/>
            <p:cNvSpPr/>
            <p:nvPr/>
          </p:nvSpPr>
          <p:spPr>
            <a:xfrm>
              <a:off x="697213" y="2331250"/>
              <a:ext cx="1276800" cy="255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66666"/>
                  </a:solidFill>
                </a:rPr>
                <a:t>Barracks</a:t>
              </a:r>
              <a:endParaRPr sz="1000">
                <a:solidFill>
                  <a:srgbClr val="666666"/>
                </a:solidFill>
              </a:endParaRPr>
            </a:p>
          </p:txBody>
        </p:sp>
        <p:sp>
          <p:nvSpPr>
            <p:cNvPr id="483" name="Google Shape;483;p17"/>
            <p:cNvSpPr/>
            <p:nvPr/>
          </p:nvSpPr>
          <p:spPr>
            <a:xfrm>
              <a:off x="2041578" y="2331281"/>
              <a:ext cx="1002600" cy="2556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666666"/>
                  </a:solidFill>
                </a:rPr>
                <a:t>5</a:t>
              </a:r>
              <a:r>
                <a:rPr lang="en" sz="1000">
                  <a:solidFill>
                    <a:srgbClr val="666666"/>
                  </a:solidFill>
                </a:rPr>
                <a:t>0,000</a:t>
              </a:r>
              <a:endParaRPr sz="1000">
                <a:solidFill>
                  <a:srgbClr val="666666"/>
                </a:solidFill>
              </a:endParaRPr>
            </a:p>
          </p:txBody>
        </p:sp>
        <p:sp>
          <p:nvSpPr>
            <p:cNvPr id="484" name="Google Shape;484;p17"/>
            <p:cNvSpPr/>
            <p:nvPr/>
          </p:nvSpPr>
          <p:spPr>
            <a:xfrm rot="10800000">
              <a:off x="1757782" y="2416703"/>
              <a:ext cx="167100" cy="101400"/>
            </a:xfrm>
            <a:prstGeom prst="triangle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40175" lIns="140175" spcFirstLastPara="1" rIns="140175" wrap="square" tIns="1401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/>
            </a:p>
          </p:txBody>
        </p:sp>
        <p:cxnSp>
          <p:nvCxnSpPr>
            <p:cNvPr id="485" name="Google Shape;485;p17"/>
            <p:cNvCxnSpPr/>
            <p:nvPr/>
          </p:nvCxnSpPr>
          <p:spPr>
            <a:xfrm flipH="1">
              <a:off x="2566523" y="2366972"/>
              <a:ext cx="1200" cy="171300"/>
            </a:xfrm>
            <a:prstGeom prst="straightConnector1">
              <a:avLst/>
            </a:prstGeom>
            <a:noFill/>
            <a:ln cap="flat" cmpd="sng" w="9525">
              <a:solidFill>
                <a:srgbClr val="B7B7B7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86" name="Google Shape;486;p17"/>
          <p:cNvSpPr/>
          <p:nvPr/>
        </p:nvSpPr>
        <p:spPr>
          <a:xfrm>
            <a:off x="-3678" y="-1570"/>
            <a:ext cx="13725900" cy="811200"/>
          </a:xfrm>
          <a:prstGeom prst="rect">
            <a:avLst/>
          </a:prstGeom>
          <a:solidFill>
            <a:srgbClr val="EDF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87" name="Google Shape;487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1400" y="140109"/>
            <a:ext cx="672433" cy="510249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17"/>
          <p:cNvSpPr txBox="1"/>
          <p:nvPr>
            <p:ph idx="1" type="subTitle"/>
          </p:nvPr>
        </p:nvSpPr>
        <p:spPr>
          <a:xfrm>
            <a:off x="761825" y="140088"/>
            <a:ext cx="12825300" cy="510300"/>
          </a:xfrm>
          <a:prstGeom prst="rect">
            <a:avLst/>
          </a:prstGeom>
          <a:ln>
            <a:noFill/>
          </a:ln>
        </p:spPr>
        <p:txBody>
          <a:bodyPr anchorCtr="0" anchor="t" bIns="140175" lIns="140175" spcFirstLastPara="1" rIns="140175" wrap="square" tIns="140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Merriweather"/>
                <a:ea typeface="Merriweather"/>
                <a:cs typeface="Merriweather"/>
                <a:sym typeface="Merriweather"/>
              </a:rPr>
              <a:t>Building Supply chain Material Analysis and Risk Trade-off Tool (BuildSMART v1)</a:t>
            </a:r>
            <a:r>
              <a:rPr b="1" lang="en" sz="1700"/>
              <a:t>           </a:t>
            </a:r>
            <a:r>
              <a:rPr b="1" lang="en" sz="1700">
                <a:solidFill>
                  <a:srgbClr val="999999"/>
                </a:solidFill>
              </a:rPr>
              <a:t>Main Page         </a:t>
            </a:r>
            <a:r>
              <a:rPr b="1" lang="en" sz="1700">
                <a:solidFill>
                  <a:srgbClr val="999999"/>
                </a:solidFill>
              </a:rPr>
              <a:t>About</a:t>
            </a:r>
            <a:r>
              <a:rPr b="1" lang="en" sz="1700">
                <a:solidFill>
                  <a:srgbClr val="999999"/>
                </a:solidFill>
              </a:rPr>
              <a:t>          Contact</a:t>
            </a:r>
            <a:endParaRPr b="1" sz="1700">
              <a:solidFill>
                <a:srgbClr val="999999"/>
              </a:solidFill>
            </a:endParaRPr>
          </a:p>
        </p:txBody>
      </p:sp>
      <p:grpSp>
        <p:nvGrpSpPr>
          <p:cNvPr id="489" name="Google Shape;489;p17"/>
          <p:cNvGrpSpPr/>
          <p:nvPr/>
        </p:nvGrpSpPr>
        <p:grpSpPr>
          <a:xfrm>
            <a:off x="4340597" y="932880"/>
            <a:ext cx="9062816" cy="6768625"/>
            <a:chOff x="4340597" y="932880"/>
            <a:chExt cx="9062816" cy="6768625"/>
          </a:xfrm>
        </p:grpSpPr>
        <p:grpSp>
          <p:nvGrpSpPr>
            <p:cNvPr id="490" name="Google Shape;490;p17"/>
            <p:cNvGrpSpPr/>
            <p:nvPr/>
          </p:nvGrpSpPr>
          <p:grpSpPr>
            <a:xfrm>
              <a:off x="4340597" y="7083175"/>
              <a:ext cx="4557232" cy="618331"/>
              <a:chOff x="4268193" y="552116"/>
              <a:chExt cx="6213843" cy="697025"/>
            </a:xfrm>
          </p:grpSpPr>
          <p:sp>
            <p:nvSpPr>
              <p:cNvPr id="491" name="Google Shape;491;p17"/>
              <p:cNvSpPr/>
              <p:nvPr/>
            </p:nvSpPr>
            <p:spPr>
              <a:xfrm>
                <a:off x="6760562" y="609015"/>
                <a:ext cx="3546300" cy="255600"/>
              </a:xfrm>
              <a:prstGeom prst="roundRect">
                <a:avLst>
                  <a:gd fmla="val 16667" name="adj"/>
                </a:avLst>
              </a:prstGeom>
              <a:solidFill>
                <a:schemeClr val="lt2"/>
              </a:solidFill>
              <a:ln cap="flat" cmpd="sng" w="84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1100" lIns="81100" spcFirstLastPara="1" rIns="81100" wrap="square" tIns="811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41"/>
              </a:p>
            </p:txBody>
          </p:sp>
          <p:sp>
            <p:nvSpPr>
              <p:cNvPr id="492" name="Google Shape;492;p17"/>
              <p:cNvSpPr txBox="1"/>
              <p:nvPr/>
            </p:nvSpPr>
            <p:spPr>
              <a:xfrm>
                <a:off x="4268193" y="552116"/>
                <a:ext cx="2855100" cy="28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1100" lIns="81100" spcFirstLastPara="1" rIns="81100" wrap="square" tIns="811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86">
                    <a:solidFill>
                      <a:srgbClr val="B7B7B7"/>
                    </a:solidFill>
                  </a:rPr>
                  <a:t>CONSTRUCTION YEAR</a:t>
                </a:r>
                <a:endParaRPr b="1" sz="1186">
                  <a:solidFill>
                    <a:srgbClr val="B7B7B7"/>
                  </a:solidFill>
                </a:endParaRPr>
              </a:p>
            </p:txBody>
          </p:sp>
          <p:sp>
            <p:nvSpPr>
              <p:cNvPr id="493" name="Google Shape;493;p17"/>
              <p:cNvSpPr txBox="1"/>
              <p:nvPr/>
            </p:nvSpPr>
            <p:spPr>
              <a:xfrm>
                <a:off x="6732035" y="810841"/>
                <a:ext cx="37500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1100" lIns="81100" spcFirstLastPara="1" rIns="81100" wrap="square" tIns="811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20">
                    <a:solidFill>
                      <a:schemeClr val="dk2"/>
                    </a:solidFill>
                  </a:rPr>
                  <a:t>2020	2030	2040	2050	2060	2070</a:t>
                </a:r>
                <a:endParaRPr sz="620">
                  <a:solidFill>
                    <a:schemeClr val="dk2"/>
                  </a:solidFill>
                </a:endParaRPr>
              </a:p>
            </p:txBody>
          </p:sp>
          <p:sp>
            <p:nvSpPr>
              <p:cNvPr id="494" name="Google Shape;494;p17"/>
              <p:cNvSpPr/>
              <p:nvPr/>
            </p:nvSpPr>
            <p:spPr>
              <a:xfrm>
                <a:off x="6766092" y="605847"/>
                <a:ext cx="202200" cy="25560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 cap="flat" cmpd="sng" w="84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1100" lIns="81100" spcFirstLastPara="1" rIns="81100" wrap="square" tIns="811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41"/>
              </a:p>
            </p:txBody>
          </p:sp>
        </p:grpSp>
        <p:grpSp>
          <p:nvGrpSpPr>
            <p:cNvPr id="495" name="Google Shape;495;p17"/>
            <p:cNvGrpSpPr/>
            <p:nvPr/>
          </p:nvGrpSpPr>
          <p:grpSpPr>
            <a:xfrm>
              <a:off x="8869612" y="4172248"/>
              <a:ext cx="4405034" cy="2794775"/>
              <a:chOff x="9037729" y="4704523"/>
              <a:chExt cx="4405034" cy="2794775"/>
            </a:xfrm>
          </p:grpSpPr>
          <p:grpSp>
            <p:nvGrpSpPr>
              <p:cNvPr id="496" name="Google Shape;496;p17"/>
              <p:cNvGrpSpPr/>
              <p:nvPr/>
            </p:nvGrpSpPr>
            <p:grpSpPr>
              <a:xfrm>
                <a:off x="9037729" y="4704523"/>
                <a:ext cx="4405034" cy="2794775"/>
                <a:chOff x="9079752" y="3946051"/>
                <a:chExt cx="4405034" cy="2794775"/>
              </a:xfrm>
            </p:grpSpPr>
            <p:sp>
              <p:nvSpPr>
                <p:cNvPr id="497" name="Google Shape;497;p17"/>
                <p:cNvSpPr txBox="1"/>
                <p:nvPr/>
              </p:nvSpPr>
              <p:spPr>
                <a:xfrm>
                  <a:off x="9079752" y="3946051"/>
                  <a:ext cx="4073400" cy="37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73200" lIns="73200" spcFirstLastPara="1" rIns="73200" wrap="square" tIns="73200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481">
                      <a:solidFill>
                        <a:srgbClr val="666666"/>
                      </a:solidFill>
                    </a:rPr>
                    <a:t>PROJECTED MATERIAL AVAILABILITY</a:t>
                  </a:r>
                  <a:endParaRPr b="1" sz="360">
                    <a:solidFill>
                      <a:srgbClr val="666666"/>
                    </a:solidFill>
                  </a:endParaRPr>
                </a:p>
              </p:txBody>
            </p:sp>
            <p:sp>
              <p:nvSpPr>
                <p:cNvPr id="498" name="Google Shape;498;p17"/>
                <p:cNvSpPr/>
                <p:nvPr/>
              </p:nvSpPr>
              <p:spPr>
                <a:xfrm>
                  <a:off x="9148885" y="4259825"/>
                  <a:ext cx="4335900" cy="2481000"/>
                </a:xfrm>
                <a:prstGeom prst="rect">
                  <a:avLst/>
                </a:prstGeom>
                <a:noFill/>
                <a:ln cap="flat" cmpd="sng" w="76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73200" lIns="73200" spcFirstLastPara="1" rIns="73200" wrap="square" tIns="732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120"/>
                </a:p>
              </p:txBody>
            </p:sp>
            <p:pic>
              <p:nvPicPr>
                <p:cNvPr id="499" name="Google Shape;499;p17" title="Screenshot 2026-02-19 at 10.15.05 AM.png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 b="0" l="0" r="-281" t="0"/>
                <a:stretch/>
              </p:blipFill>
              <p:spPr>
                <a:xfrm>
                  <a:off x="9286250" y="4386900"/>
                  <a:ext cx="4073401" cy="2226850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99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pic>
          </p:grpSp>
          <p:pic>
            <p:nvPicPr>
              <p:cNvPr id="500" name="Google Shape;500;p17" title="expand-icon-symbol-design-illustration-vector.jpg"/>
              <p:cNvPicPr preferRelativeResize="0"/>
              <p:nvPr/>
            </p:nvPicPr>
            <p:blipFill rotWithShape="1">
              <a:blip r:embed="rId8">
                <a:alphaModFix/>
              </a:blip>
              <a:srcRect b="11143" l="12219" r="0" t="0"/>
              <a:stretch/>
            </p:blipFill>
            <p:spPr>
              <a:xfrm>
                <a:off x="13211244" y="5054337"/>
                <a:ext cx="224376" cy="2271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501" name="Google Shape;501;p17"/>
            <p:cNvCxnSpPr/>
            <p:nvPr/>
          </p:nvCxnSpPr>
          <p:spPr>
            <a:xfrm>
              <a:off x="4426782" y="4027001"/>
              <a:ext cx="8858100" cy="600"/>
            </a:xfrm>
            <a:prstGeom prst="straightConnector1">
              <a:avLst/>
            </a:prstGeom>
            <a:noFill/>
            <a:ln cap="flat" cmpd="sng" w="9525">
              <a:solidFill>
                <a:srgbClr val="99999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502" name="Google Shape;502;p17"/>
            <p:cNvGrpSpPr/>
            <p:nvPr/>
          </p:nvGrpSpPr>
          <p:grpSpPr>
            <a:xfrm>
              <a:off x="8846180" y="7077437"/>
              <a:ext cx="4557232" cy="618331"/>
              <a:chOff x="4268193" y="552116"/>
              <a:chExt cx="6213843" cy="697025"/>
            </a:xfrm>
          </p:grpSpPr>
          <p:sp>
            <p:nvSpPr>
              <p:cNvPr id="503" name="Google Shape;503;p17"/>
              <p:cNvSpPr/>
              <p:nvPr/>
            </p:nvSpPr>
            <p:spPr>
              <a:xfrm>
                <a:off x="6760562" y="609015"/>
                <a:ext cx="3546300" cy="255600"/>
              </a:xfrm>
              <a:prstGeom prst="roundRect">
                <a:avLst>
                  <a:gd fmla="val 16667" name="adj"/>
                </a:avLst>
              </a:prstGeom>
              <a:solidFill>
                <a:schemeClr val="lt2"/>
              </a:solidFill>
              <a:ln cap="flat" cmpd="sng" w="84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1100" lIns="81100" spcFirstLastPara="1" rIns="81100" wrap="square" tIns="811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41"/>
              </a:p>
            </p:txBody>
          </p:sp>
          <p:sp>
            <p:nvSpPr>
              <p:cNvPr id="504" name="Google Shape;504;p17"/>
              <p:cNvSpPr txBox="1"/>
              <p:nvPr/>
            </p:nvSpPr>
            <p:spPr>
              <a:xfrm>
                <a:off x="4268193" y="552116"/>
                <a:ext cx="2855100" cy="28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1100" lIns="81100" spcFirstLastPara="1" rIns="81100" wrap="square" tIns="811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86">
                    <a:solidFill>
                      <a:srgbClr val="B7B7B7"/>
                    </a:solidFill>
                  </a:rPr>
                  <a:t>CONSTRUCTION YEAR</a:t>
                </a:r>
                <a:endParaRPr b="1" sz="1186">
                  <a:solidFill>
                    <a:srgbClr val="B7B7B7"/>
                  </a:solidFill>
                </a:endParaRPr>
              </a:p>
            </p:txBody>
          </p:sp>
          <p:sp>
            <p:nvSpPr>
              <p:cNvPr id="505" name="Google Shape;505;p17"/>
              <p:cNvSpPr txBox="1"/>
              <p:nvPr/>
            </p:nvSpPr>
            <p:spPr>
              <a:xfrm>
                <a:off x="6732035" y="810841"/>
                <a:ext cx="37500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1100" lIns="81100" spcFirstLastPara="1" rIns="81100" wrap="square" tIns="811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20">
                    <a:solidFill>
                      <a:schemeClr val="dk2"/>
                    </a:solidFill>
                  </a:rPr>
                  <a:t>2020	2030	2040	2050	2060	2070</a:t>
                </a:r>
                <a:endParaRPr sz="620">
                  <a:solidFill>
                    <a:schemeClr val="dk2"/>
                  </a:solidFill>
                </a:endParaRPr>
              </a:p>
            </p:txBody>
          </p:sp>
          <p:sp>
            <p:nvSpPr>
              <p:cNvPr id="506" name="Google Shape;506;p17"/>
              <p:cNvSpPr/>
              <p:nvPr/>
            </p:nvSpPr>
            <p:spPr>
              <a:xfrm>
                <a:off x="6766092" y="605847"/>
                <a:ext cx="202200" cy="255600"/>
              </a:xfrm>
              <a:prstGeom prst="roundRect">
                <a:avLst>
                  <a:gd fmla="val 16667" name="adj"/>
                </a:avLst>
              </a:prstGeom>
              <a:solidFill>
                <a:schemeClr val="dk2"/>
              </a:solidFill>
              <a:ln cap="flat" cmpd="sng" w="84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1100" lIns="81100" spcFirstLastPara="1" rIns="81100" wrap="square" tIns="811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41"/>
              </a:p>
            </p:txBody>
          </p:sp>
        </p:grpSp>
        <p:grpSp>
          <p:nvGrpSpPr>
            <p:cNvPr id="507" name="Google Shape;507;p17"/>
            <p:cNvGrpSpPr/>
            <p:nvPr/>
          </p:nvGrpSpPr>
          <p:grpSpPr>
            <a:xfrm>
              <a:off x="4349911" y="934411"/>
              <a:ext cx="4421103" cy="2819555"/>
              <a:chOff x="4349911" y="934411"/>
              <a:chExt cx="4421103" cy="2819555"/>
            </a:xfrm>
          </p:grpSpPr>
          <p:grpSp>
            <p:nvGrpSpPr>
              <p:cNvPr id="508" name="Google Shape;508;p17"/>
              <p:cNvGrpSpPr/>
              <p:nvPr/>
            </p:nvGrpSpPr>
            <p:grpSpPr>
              <a:xfrm>
                <a:off x="4349911" y="934411"/>
                <a:ext cx="4421103" cy="2819555"/>
                <a:chOff x="4043712" y="1229950"/>
                <a:chExt cx="5522238" cy="3521803"/>
              </a:xfrm>
            </p:grpSpPr>
            <p:sp>
              <p:nvSpPr>
                <p:cNvPr id="509" name="Google Shape;509;p17"/>
                <p:cNvSpPr/>
                <p:nvPr/>
              </p:nvSpPr>
              <p:spPr>
                <a:xfrm>
                  <a:off x="4150050" y="1612488"/>
                  <a:ext cx="5415900" cy="3099000"/>
                </a:xfrm>
                <a:prstGeom prst="rect">
                  <a:avLst/>
                </a:prstGeom>
                <a:noFill/>
                <a:ln cap="flat" cmpd="sng" w="76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73200" lIns="73200" spcFirstLastPara="1" rIns="73200" wrap="square" tIns="732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120"/>
                </a:p>
              </p:txBody>
            </p:sp>
            <p:grpSp>
              <p:nvGrpSpPr>
                <p:cNvPr id="510" name="Google Shape;510;p17"/>
                <p:cNvGrpSpPr/>
                <p:nvPr/>
              </p:nvGrpSpPr>
              <p:grpSpPr>
                <a:xfrm>
                  <a:off x="4043712" y="1229950"/>
                  <a:ext cx="5157113" cy="3421454"/>
                  <a:chOff x="4205837" y="1005375"/>
                  <a:chExt cx="5157113" cy="3421454"/>
                </a:xfrm>
              </p:grpSpPr>
              <p:pic>
                <p:nvPicPr>
                  <p:cNvPr id="511" name="Google Shape;511;p17" title="Chart"/>
                  <p:cNvPicPr preferRelativeResize="0"/>
                  <p:nvPr/>
                </p:nvPicPr>
                <p:blipFill rotWithShape="1">
                  <a:blip r:embed="rId9">
                    <a:alphaModFix/>
                  </a:blip>
                  <a:srcRect b="0" l="0" r="0" t="11143"/>
                  <a:stretch/>
                </p:blipFill>
                <p:spPr>
                  <a:xfrm>
                    <a:off x="4479975" y="1744863"/>
                    <a:ext cx="4882975" cy="26819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512" name="Google Shape;512;p17"/>
                  <p:cNvSpPr txBox="1"/>
                  <p:nvPr/>
                </p:nvSpPr>
                <p:spPr>
                  <a:xfrm>
                    <a:off x="4205837" y="1005375"/>
                    <a:ext cx="4417800" cy="469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73200" lIns="73200" spcFirstLastPara="1" rIns="73200" wrap="square" tIns="73200">
                    <a:sp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lang="en" sz="1481">
                        <a:solidFill>
                          <a:srgbClr val="666666"/>
                        </a:solidFill>
                      </a:rPr>
                      <a:t>BASELINE MATERIAL DEMAND</a:t>
                    </a:r>
                    <a:endParaRPr b="1" sz="360">
                      <a:solidFill>
                        <a:srgbClr val="666666"/>
                      </a:solidFill>
                    </a:endParaRPr>
                  </a:p>
                </p:txBody>
              </p:sp>
            </p:grpSp>
            <p:grpSp>
              <p:nvGrpSpPr>
                <p:cNvPr id="513" name="Google Shape;513;p17"/>
                <p:cNvGrpSpPr/>
                <p:nvPr/>
              </p:nvGrpSpPr>
              <p:grpSpPr>
                <a:xfrm>
                  <a:off x="4056895" y="4208337"/>
                  <a:ext cx="1928164" cy="543415"/>
                  <a:chOff x="4257757" y="4208337"/>
                  <a:chExt cx="1928164" cy="543415"/>
                </a:xfrm>
              </p:grpSpPr>
              <p:sp>
                <p:nvSpPr>
                  <p:cNvPr id="514" name="Google Shape;514;p17"/>
                  <p:cNvSpPr txBox="1"/>
                  <p:nvPr/>
                </p:nvSpPr>
                <p:spPr>
                  <a:xfrm>
                    <a:off x="4257757" y="4241453"/>
                    <a:ext cx="1269300" cy="510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156000" lIns="156000" spcFirstLastPara="1" rIns="156000" wrap="square" tIns="1560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761">
                        <a:solidFill>
                          <a:srgbClr val="999999"/>
                        </a:solidFill>
                      </a:rPr>
                      <a:t>Sankey diagram</a:t>
                    </a:r>
                    <a:endParaRPr sz="761">
                      <a:solidFill>
                        <a:srgbClr val="999999"/>
                      </a:solidFill>
                    </a:endParaRPr>
                  </a:p>
                </p:txBody>
              </p:sp>
              <p:grpSp>
                <p:nvGrpSpPr>
                  <p:cNvPr id="515" name="Google Shape;515;p17"/>
                  <p:cNvGrpSpPr/>
                  <p:nvPr/>
                </p:nvGrpSpPr>
                <p:grpSpPr>
                  <a:xfrm>
                    <a:off x="5383729" y="4208337"/>
                    <a:ext cx="802192" cy="433200"/>
                    <a:chOff x="5383729" y="4208337"/>
                    <a:chExt cx="802192" cy="433200"/>
                  </a:xfrm>
                </p:grpSpPr>
                <p:grpSp>
                  <p:nvGrpSpPr>
                    <p:cNvPr id="516" name="Google Shape;516;p17"/>
                    <p:cNvGrpSpPr/>
                    <p:nvPr/>
                  </p:nvGrpSpPr>
                  <p:grpSpPr>
                    <a:xfrm>
                      <a:off x="5383729" y="4365780"/>
                      <a:ext cx="764855" cy="261650"/>
                      <a:chOff x="5505854" y="4365730"/>
                      <a:chExt cx="764855" cy="261650"/>
                    </a:xfrm>
                  </p:grpSpPr>
                  <p:sp>
                    <p:nvSpPr>
                      <p:cNvPr id="517" name="Google Shape;517;p17"/>
                      <p:cNvSpPr/>
                      <p:nvPr/>
                    </p:nvSpPr>
                    <p:spPr>
                      <a:xfrm rot="-10800000">
                        <a:off x="5513034" y="4365730"/>
                        <a:ext cx="757675" cy="261650"/>
                      </a:xfrm>
                      <a:prstGeom prst="flowChartMagneticDrum">
                        <a:avLst/>
                      </a:prstGeom>
                      <a:solidFill>
                        <a:srgbClr val="CCCCCC"/>
                      </a:solidFill>
                      <a:ln cap="flat" cmpd="sng" w="10600">
                        <a:solidFill>
                          <a:schemeClr val="dk2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156000" lIns="156000" spcFirstLastPara="1" rIns="156000" wrap="square" tIns="156000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2336"/>
                      </a:p>
                    </p:txBody>
                  </p:sp>
                  <p:sp>
                    <p:nvSpPr>
                      <p:cNvPr id="518" name="Google Shape;518;p17"/>
                      <p:cNvSpPr/>
                      <p:nvPr/>
                    </p:nvSpPr>
                    <p:spPr>
                      <a:xfrm>
                        <a:off x="5505854" y="4370260"/>
                        <a:ext cx="259500" cy="252600"/>
                      </a:xfrm>
                      <a:prstGeom prst="ellipse">
                        <a:avLst/>
                      </a:prstGeom>
                      <a:solidFill>
                        <a:schemeClr val="lt1"/>
                      </a:solidFill>
                      <a:ln cap="flat" cmpd="sng" w="10600">
                        <a:solidFill>
                          <a:schemeClr val="dk2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156000" lIns="156000" spcFirstLastPara="1" rIns="156000" wrap="square" tIns="156000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2336"/>
                      </a:p>
                    </p:txBody>
                  </p:sp>
                </p:grpSp>
                <p:sp>
                  <p:nvSpPr>
                    <p:cNvPr id="519" name="Google Shape;519;p17"/>
                    <p:cNvSpPr txBox="1"/>
                    <p:nvPr/>
                  </p:nvSpPr>
                  <p:spPr>
                    <a:xfrm>
                      <a:off x="5513621" y="4208337"/>
                      <a:ext cx="672300" cy="4332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156000" lIns="156000" spcFirstLastPara="1" rIns="156000" wrap="square" tIns="1560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1">
                          <a:solidFill>
                            <a:schemeClr val="lt1"/>
                          </a:solidFill>
                        </a:rPr>
                        <a:t>Off</a:t>
                      </a:r>
                      <a:endParaRPr sz="1001">
                        <a:solidFill>
                          <a:schemeClr val="lt1"/>
                        </a:solidFill>
                      </a:endParaRPr>
                    </a:p>
                  </p:txBody>
                </p:sp>
              </p:grpSp>
            </p:grpSp>
          </p:grpSp>
          <p:pic>
            <p:nvPicPr>
              <p:cNvPr id="520" name="Google Shape;520;p17" title="download.png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8474425" y="1284577"/>
                <a:ext cx="259800" cy="259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21" name="Google Shape;521;p17"/>
            <p:cNvGrpSpPr/>
            <p:nvPr/>
          </p:nvGrpSpPr>
          <p:grpSpPr>
            <a:xfrm>
              <a:off x="4349911" y="4181419"/>
              <a:ext cx="4421103" cy="2819555"/>
              <a:chOff x="4349911" y="4181419"/>
              <a:chExt cx="4421103" cy="2819555"/>
            </a:xfrm>
          </p:grpSpPr>
          <p:grpSp>
            <p:nvGrpSpPr>
              <p:cNvPr id="522" name="Google Shape;522;p17"/>
              <p:cNvGrpSpPr/>
              <p:nvPr/>
            </p:nvGrpSpPr>
            <p:grpSpPr>
              <a:xfrm>
                <a:off x="4349911" y="4181419"/>
                <a:ext cx="4421103" cy="2819555"/>
                <a:chOff x="4043712" y="1229950"/>
                <a:chExt cx="5522238" cy="3521803"/>
              </a:xfrm>
            </p:grpSpPr>
            <p:sp>
              <p:nvSpPr>
                <p:cNvPr id="523" name="Google Shape;523;p17"/>
                <p:cNvSpPr/>
                <p:nvPr/>
              </p:nvSpPr>
              <p:spPr>
                <a:xfrm>
                  <a:off x="4150050" y="1612488"/>
                  <a:ext cx="5415900" cy="3099000"/>
                </a:xfrm>
                <a:prstGeom prst="rect">
                  <a:avLst/>
                </a:prstGeom>
                <a:noFill/>
                <a:ln cap="flat" cmpd="sng" w="76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73200" lIns="73200" spcFirstLastPara="1" rIns="73200" wrap="square" tIns="732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120"/>
                </a:p>
              </p:txBody>
            </p:sp>
            <p:grpSp>
              <p:nvGrpSpPr>
                <p:cNvPr id="524" name="Google Shape;524;p17"/>
                <p:cNvGrpSpPr/>
                <p:nvPr/>
              </p:nvGrpSpPr>
              <p:grpSpPr>
                <a:xfrm>
                  <a:off x="4043712" y="1229950"/>
                  <a:ext cx="5157113" cy="3421454"/>
                  <a:chOff x="4205837" y="1005375"/>
                  <a:chExt cx="5157113" cy="3421454"/>
                </a:xfrm>
              </p:grpSpPr>
              <p:pic>
                <p:nvPicPr>
                  <p:cNvPr id="525" name="Google Shape;525;p17" title="Chart"/>
                  <p:cNvPicPr preferRelativeResize="0"/>
                  <p:nvPr/>
                </p:nvPicPr>
                <p:blipFill rotWithShape="1">
                  <a:blip r:embed="rId9">
                    <a:alphaModFix/>
                  </a:blip>
                  <a:srcRect b="0" l="0" r="0" t="11143"/>
                  <a:stretch/>
                </p:blipFill>
                <p:spPr>
                  <a:xfrm>
                    <a:off x="4479975" y="1744863"/>
                    <a:ext cx="4882975" cy="2681966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526" name="Google Shape;526;p17"/>
                  <p:cNvSpPr txBox="1"/>
                  <p:nvPr/>
                </p:nvSpPr>
                <p:spPr>
                  <a:xfrm>
                    <a:off x="4205837" y="1005375"/>
                    <a:ext cx="4417800" cy="469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73200" lIns="73200" spcFirstLastPara="1" rIns="73200" wrap="square" tIns="73200">
                    <a:sp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lang="en" sz="1481">
                        <a:solidFill>
                          <a:srgbClr val="666666"/>
                        </a:solidFill>
                      </a:rPr>
                      <a:t>PROJECTED MATERIAL DEMAND</a:t>
                    </a:r>
                    <a:endParaRPr b="1" sz="360">
                      <a:solidFill>
                        <a:srgbClr val="666666"/>
                      </a:solidFill>
                    </a:endParaRPr>
                  </a:p>
                </p:txBody>
              </p:sp>
            </p:grpSp>
            <p:grpSp>
              <p:nvGrpSpPr>
                <p:cNvPr id="527" name="Google Shape;527;p17"/>
                <p:cNvGrpSpPr/>
                <p:nvPr/>
              </p:nvGrpSpPr>
              <p:grpSpPr>
                <a:xfrm>
                  <a:off x="4056895" y="4208337"/>
                  <a:ext cx="1928164" cy="543415"/>
                  <a:chOff x="4257757" y="4208337"/>
                  <a:chExt cx="1928164" cy="543415"/>
                </a:xfrm>
              </p:grpSpPr>
              <p:sp>
                <p:nvSpPr>
                  <p:cNvPr id="528" name="Google Shape;528;p17"/>
                  <p:cNvSpPr txBox="1"/>
                  <p:nvPr/>
                </p:nvSpPr>
                <p:spPr>
                  <a:xfrm>
                    <a:off x="4257757" y="4241453"/>
                    <a:ext cx="1269300" cy="510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156000" lIns="156000" spcFirstLastPara="1" rIns="156000" wrap="square" tIns="1560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761">
                        <a:solidFill>
                          <a:srgbClr val="999999"/>
                        </a:solidFill>
                      </a:rPr>
                      <a:t>Sankey diagram</a:t>
                    </a:r>
                    <a:endParaRPr sz="761">
                      <a:solidFill>
                        <a:srgbClr val="999999"/>
                      </a:solidFill>
                    </a:endParaRPr>
                  </a:p>
                </p:txBody>
              </p:sp>
              <p:grpSp>
                <p:nvGrpSpPr>
                  <p:cNvPr id="529" name="Google Shape;529;p17"/>
                  <p:cNvGrpSpPr/>
                  <p:nvPr/>
                </p:nvGrpSpPr>
                <p:grpSpPr>
                  <a:xfrm>
                    <a:off x="5383729" y="4208337"/>
                    <a:ext cx="802192" cy="433200"/>
                    <a:chOff x="5383729" y="4208337"/>
                    <a:chExt cx="802192" cy="433200"/>
                  </a:xfrm>
                </p:grpSpPr>
                <p:grpSp>
                  <p:nvGrpSpPr>
                    <p:cNvPr id="530" name="Google Shape;530;p17"/>
                    <p:cNvGrpSpPr/>
                    <p:nvPr/>
                  </p:nvGrpSpPr>
                  <p:grpSpPr>
                    <a:xfrm>
                      <a:off x="5383729" y="4365780"/>
                      <a:ext cx="764855" cy="261650"/>
                      <a:chOff x="5505854" y="4365730"/>
                      <a:chExt cx="764855" cy="261650"/>
                    </a:xfrm>
                  </p:grpSpPr>
                  <p:sp>
                    <p:nvSpPr>
                      <p:cNvPr id="531" name="Google Shape;531;p17"/>
                      <p:cNvSpPr/>
                      <p:nvPr/>
                    </p:nvSpPr>
                    <p:spPr>
                      <a:xfrm rot="-10800000">
                        <a:off x="5513034" y="4365730"/>
                        <a:ext cx="757675" cy="261650"/>
                      </a:xfrm>
                      <a:prstGeom prst="flowChartMagneticDrum">
                        <a:avLst/>
                      </a:prstGeom>
                      <a:solidFill>
                        <a:srgbClr val="CCCCCC"/>
                      </a:solidFill>
                      <a:ln cap="flat" cmpd="sng" w="10600">
                        <a:solidFill>
                          <a:schemeClr val="dk2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156000" lIns="156000" spcFirstLastPara="1" rIns="156000" wrap="square" tIns="156000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2336"/>
                      </a:p>
                    </p:txBody>
                  </p:sp>
                  <p:sp>
                    <p:nvSpPr>
                      <p:cNvPr id="532" name="Google Shape;532;p17"/>
                      <p:cNvSpPr/>
                      <p:nvPr/>
                    </p:nvSpPr>
                    <p:spPr>
                      <a:xfrm>
                        <a:off x="5505854" y="4370260"/>
                        <a:ext cx="259500" cy="252600"/>
                      </a:xfrm>
                      <a:prstGeom prst="ellipse">
                        <a:avLst/>
                      </a:prstGeom>
                      <a:solidFill>
                        <a:schemeClr val="lt1"/>
                      </a:solidFill>
                      <a:ln cap="flat" cmpd="sng" w="10600">
                        <a:solidFill>
                          <a:schemeClr val="dk2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156000" lIns="156000" spcFirstLastPara="1" rIns="156000" wrap="square" tIns="156000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2336"/>
                      </a:p>
                    </p:txBody>
                  </p:sp>
                </p:grpSp>
                <p:sp>
                  <p:nvSpPr>
                    <p:cNvPr id="533" name="Google Shape;533;p17"/>
                    <p:cNvSpPr txBox="1"/>
                    <p:nvPr/>
                  </p:nvSpPr>
                  <p:spPr>
                    <a:xfrm>
                      <a:off x="5513621" y="4208337"/>
                      <a:ext cx="672300" cy="4332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156000" lIns="156000" spcFirstLastPara="1" rIns="156000" wrap="square" tIns="1560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1">
                          <a:solidFill>
                            <a:schemeClr val="lt1"/>
                          </a:solidFill>
                        </a:rPr>
                        <a:t>Off</a:t>
                      </a:r>
                      <a:endParaRPr sz="1001">
                        <a:solidFill>
                          <a:schemeClr val="lt1"/>
                        </a:solidFill>
                      </a:endParaRPr>
                    </a:p>
                  </p:txBody>
                </p:sp>
              </p:grpSp>
            </p:grpSp>
          </p:grpSp>
          <p:pic>
            <p:nvPicPr>
              <p:cNvPr id="534" name="Google Shape;534;p17" title="download.png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8474425" y="4518577"/>
                <a:ext cx="259800" cy="259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535" name="Google Shape;535;p17"/>
            <p:cNvGrpSpPr/>
            <p:nvPr/>
          </p:nvGrpSpPr>
          <p:grpSpPr>
            <a:xfrm>
              <a:off x="8869623" y="932880"/>
              <a:ext cx="4405039" cy="2799577"/>
              <a:chOff x="8869623" y="932880"/>
              <a:chExt cx="4405039" cy="2799577"/>
            </a:xfrm>
          </p:grpSpPr>
          <p:grpSp>
            <p:nvGrpSpPr>
              <p:cNvPr id="536" name="Google Shape;536;p17"/>
              <p:cNvGrpSpPr/>
              <p:nvPr/>
            </p:nvGrpSpPr>
            <p:grpSpPr>
              <a:xfrm>
                <a:off x="8869623" y="932880"/>
                <a:ext cx="4405039" cy="2799577"/>
                <a:chOff x="4192894" y="4200054"/>
                <a:chExt cx="4405039" cy="2799577"/>
              </a:xfrm>
            </p:grpSpPr>
            <p:sp>
              <p:nvSpPr>
                <p:cNvPr id="537" name="Google Shape;537;p17"/>
                <p:cNvSpPr/>
                <p:nvPr/>
              </p:nvSpPr>
              <p:spPr>
                <a:xfrm>
                  <a:off x="4262033" y="4507108"/>
                  <a:ext cx="4335900" cy="2481000"/>
                </a:xfrm>
                <a:prstGeom prst="rect">
                  <a:avLst/>
                </a:prstGeom>
                <a:noFill/>
                <a:ln cap="flat" cmpd="sng" w="76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73200" lIns="73200" spcFirstLastPara="1" rIns="73200" wrap="square" tIns="732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120"/>
                </a:p>
              </p:txBody>
            </p:sp>
            <p:grpSp>
              <p:nvGrpSpPr>
                <p:cNvPr id="538" name="Google Shape;538;p17"/>
                <p:cNvGrpSpPr/>
                <p:nvPr/>
              </p:nvGrpSpPr>
              <p:grpSpPr>
                <a:xfrm>
                  <a:off x="4471489" y="4702363"/>
                  <a:ext cx="3847825" cy="2297269"/>
                  <a:chOff x="24110150" y="5483258"/>
                  <a:chExt cx="4709124" cy="2811490"/>
                </a:xfrm>
              </p:grpSpPr>
              <p:pic>
                <p:nvPicPr>
                  <p:cNvPr id="539" name="Google Shape;539;p17" title="Chart"/>
                  <p:cNvPicPr preferRelativeResize="0"/>
                  <p:nvPr/>
                </p:nvPicPr>
                <p:blipFill rotWithShape="1">
                  <a:blip r:embed="rId11">
                    <a:alphaModFix/>
                  </a:blip>
                  <a:srcRect b="0" l="0" r="0" t="11174"/>
                  <a:stretch/>
                </p:blipFill>
                <p:spPr>
                  <a:xfrm>
                    <a:off x="24110150" y="5483258"/>
                    <a:ext cx="4709124" cy="258647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</p:pic>
              <p:sp>
                <p:nvSpPr>
                  <p:cNvPr id="540" name="Google Shape;540;p17"/>
                  <p:cNvSpPr txBox="1"/>
                  <p:nvPr/>
                </p:nvSpPr>
                <p:spPr>
                  <a:xfrm>
                    <a:off x="25186106" y="7977648"/>
                    <a:ext cx="3000000" cy="3171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74700" lIns="74700" spcFirstLastPara="1" rIns="74700" wrap="square" tIns="74700">
                    <a:sp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702">
                        <a:solidFill>
                          <a:schemeClr val="dk1"/>
                        </a:solidFill>
                      </a:rPr>
                      <a:t>Material Cost (USD)</a:t>
                    </a:r>
                    <a:endParaRPr sz="702">
                      <a:solidFill>
                        <a:schemeClr val="dk1"/>
                      </a:solidFill>
                    </a:endParaRPr>
                  </a:p>
                </p:txBody>
              </p:sp>
            </p:grpSp>
            <p:sp>
              <p:nvSpPr>
                <p:cNvPr id="541" name="Google Shape;541;p17"/>
                <p:cNvSpPr txBox="1"/>
                <p:nvPr/>
              </p:nvSpPr>
              <p:spPr>
                <a:xfrm>
                  <a:off x="4192894" y="4200054"/>
                  <a:ext cx="3537000" cy="37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73200" lIns="73200" spcFirstLastPara="1" rIns="73200" wrap="square" tIns="73200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481">
                      <a:solidFill>
                        <a:srgbClr val="666666"/>
                      </a:solidFill>
                    </a:rPr>
                    <a:t>BASELINE MATERIAL COST</a:t>
                  </a:r>
                  <a:endParaRPr b="1" sz="360">
                    <a:solidFill>
                      <a:srgbClr val="666666"/>
                    </a:solidFill>
                  </a:endParaRPr>
                </a:p>
              </p:txBody>
            </p:sp>
          </p:grpSp>
          <p:pic>
            <p:nvPicPr>
              <p:cNvPr id="542" name="Google Shape;542;p17" title="download.png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12975775" y="1284577"/>
                <a:ext cx="259800" cy="259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pic>
        <p:nvPicPr>
          <p:cNvPr id="543" name="Google Shape;543;p17" title="Chart"/>
          <p:cNvPicPr preferRelativeResize="0"/>
          <p:nvPr/>
        </p:nvPicPr>
        <p:blipFill rotWithShape="1">
          <a:blip r:embed="rId12">
            <a:alphaModFix/>
          </a:blip>
          <a:srcRect b="0" l="17945" r="0" t="0"/>
          <a:stretch/>
        </p:blipFill>
        <p:spPr>
          <a:xfrm>
            <a:off x="7521449" y="6050600"/>
            <a:ext cx="1076499" cy="811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44" name="Google Shape;544;p17" title="Chart"/>
          <p:cNvPicPr preferRelativeResize="0"/>
          <p:nvPr/>
        </p:nvPicPr>
        <p:blipFill rotWithShape="1">
          <a:blip r:embed="rId12">
            <a:alphaModFix/>
          </a:blip>
          <a:srcRect b="0" l="17945" r="0" t="0"/>
          <a:stretch/>
        </p:blipFill>
        <p:spPr>
          <a:xfrm>
            <a:off x="7521449" y="2836275"/>
            <a:ext cx="1076499" cy="811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18"/>
          <p:cNvSpPr/>
          <p:nvPr/>
        </p:nvSpPr>
        <p:spPr>
          <a:xfrm>
            <a:off x="8938762" y="1239935"/>
            <a:ext cx="4335900" cy="2481000"/>
          </a:xfrm>
          <a:prstGeom prst="rect">
            <a:avLst/>
          </a:prstGeom>
          <a:noFill/>
          <a:ln cap="flat" cmpd="sng" w="7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00" lIns="73200" spcFirstLastPara="1" rIns="73200" wrap="square" tIns="73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20"/>
          </a:p>
        </p:txBody>
      </p:sp>
      <p:pic>
        <p:nvPicPr>
          <p:cNvPr id="550" name="Google Shape;550;p18" title="Chart"/>
          <p:cNvPicPr preferRelativeResize="0"/>
          <p:nvPr/>
        </p:nvPicPr>
        <p:blipFill rotWithShape="1">
          <a:blip r:embed="rId4">
            <a:alphaModFix/>
          </a:blip>
          <a:srcRect b="0" l="0" r="0" t="11143"/>
          <a:stretch/>
        </p:blipFill>
        <p:spPr>
          <a:xfrm>
            <a:off x="4681700" y="1506280"/>
            <a:ext cx="3723375" cy="2045050"/>
          </a:xfrm>
          <a:prstGeom prst="rect">
            <a:avLst/>
          </a:prstGeom>
          <a:noFill/>
          <a:ln>
            <a:noFill/>
          </a:ln>
        </p:spPr>
      </p:pic>
      <p:sp>
        <p:nvSpPr>
          <p:cNvPr id="551" name="Google Shape;551;p18"/>
          <p:cNvSpPr txBox="1"/>
          <p:nvPr>
            <p:ph type="ctrTitle"/>
          </p:nvPr>
        </p:nvSpPr>
        <p:spPr>
          <a:xfrm rot="-5400000">
            <a:off x="-4744350" y="3581200"/>
            <a:ext cx="8572500" cy="916200"/>
          </a:xfrm>
          <a:prstGeom prst="rect">
            <a:avLst/>
          </a:prstGeom>
        </p:spPr>
        <p:txBody>
          <a:bodyPr anchorCtr="0" anchor="b" bIns="140175" lIns="140175" spcFirstLastPara="1" rIns="140175" wrap="square" tIns="14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100"/>
              <a:t>BASELINE MATERIALS &amp; COST</a:t>
            </a:r>
            <a:endParaRPr sz="4100"/>
          </a:p>
        </p:txBody>
      </p:sp>
      <p:cxnSp>
        <p:nvCxnSpPr>
          <p:cNvPr id="552" name="Google Shape;552;p18"/>
          <p:cNvCxnSpPr>
            <a:stCxn id="553" idx="1"/>
          </p:cNvCxnSpPr>
          <p:nvPr/>
        </p:nvCxnSpPr>
        <p:spPr>
          <a:xfrm>
            <a:off x="1921100" y="232040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4" name="Google Shape;554;p18"/>
          <p:cNvSpPr/>
          <p:nvPr/>
        </p:nvSpPr>
        <p:spPr>
          <a:xfrm>
            <a:off x="322450" y="1045650"/>
            <a:ext cx="3608700" cy="43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0175" lIns="140175" spcFirstLastPara="1" rIns="140175" wrap="square" tIns="140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999999"/>
                </a:solidFill>
              </a:rPr>
              <a:t>       Ventura County, CA</a:t>
            </a:r>
            <a:endParaRPr sz="1500">
              <a:solidFill>
                <a:srgbClr val="999999"/>
              </a:solidFill>
            </a:endParaRPr>
          </a:p>
        </p:txBody>
      </p:sp>
      <p:pic>
        <p:nvPicPr>
          <p:cNvPr id="555" name="Google Shape;555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0625" y="1067100"/>
            <a:ext cx="388875" cy="38887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556" name="Google Shape;556;p18"/>
          <p:cNvSpPr/>
          <p:nvPr/>
        </p:nvSpPr>
        <p:spPr>
          <a:xfrm>
            <a:off x="2459334" y="1900354"/>
            <a:ext cx="167100" cy="101400"/>
          </a:xfrm>
          <a:prstGeom prst="triangle">
            <a:avLst>
              <a:gd fmla="val 50000" name="adj"/>
            </a:avLst>
          </a:prstGeom>
          <a:solidFill>
            <a:srgbClr val="B7B7B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0175" lIns="140175" spcFirstLastPara="1" rIns="140175" wrap="square" tIns="14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grpSp>
        <p:nvGrpSpPr>
          <p:cNvPr id="557" name="Google Shape;557;p18"/>
          <p:cNvGrpSpPr/>
          <p:nvPr/>
        </p:nvGrpSpPr>
        <p:grpSpPr>
          <a:xfrm>
            <a:off x="309438" y="1697506"/>
            <a:ext cx="4170545" cy="4407388"/>
            <a:chOff x="309438" y="1697506"/>
            <a:chExt cx="4170545" cy="4407388"/>
          </a:xfrm>
        </p:grpSpPr>
        <p:grpSp>
          <p:nvGrpSpPr>
            <p:cNvPr id="558" name="Google Shape;558;p18"/>
            <p:cNvGrpSpPr/>
            <p:nvPr/>
          </p:nvGrpSpPr>
          <p:grpSpPr>
            <a:xfrm>
              <a:off x="313773" y="4847330"/>
              <a:ext cx="4165083" cy="530564"/>
              <a:chOff x="313761" y="2357618"/>
              <a:chExt cx="4165083" cy="530564"/>
            </a:xfrm>
          </p:grpSpPr>
          <p:grpSp>
            <p:nvGrpSpPr>
              <p:cNvPr id="559" name="Google Shape;559;p18"/>
              <p:cNvGrpSpPr/>
              <p:nvPr/>
            </p:nvGrpSpPr>
            <p:grpSpPr>
              <a:xfrm>
                <a:off x="313788" y="2357618"/>
                <a:ext cx="4165056" cy="530564"/>
                <a:chOff x="314635" y="1491757"/>
                <a:chExt cx="2464093" cy="381728"/>
              </a:xfrm>
            </p:grpSpPr>
            <p:sp>
              <p:nvSpPr>
                <p:cNvPr id="560" name="Google Shape;560;p18"/>
                <p:cNvSpPr/>
                <p:nvPr/>
              </p:nvSpPr>
              <p:spPr>
                <a:xfrm>
                  <a:off x="314635" y="1532085"/>
                  <a:ext cx="2135100" cy="341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194825" lIns="194825" spcFirstLastPara="1" rIns="194825" wrap="square" tIns="1948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250">
                    <a:solidFill>
                      <a:schemeClr val="dk1"/>
                    </a:solidFill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250">
                    <a:solidFill>
                      <a:schemeClr val="dk1"/>
                    </a:solidFill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250">
                    <a:solidFill>
                      <a:schemeClr val="dk1"/>
                    </a:solidFill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250">
                    <a:solidFill>
                      <a:schemeClr val="dk1"/>
                    </a:solidFill>
                  </a:endParaRPr>
                </a:p>
              </p:txBody>
            </p:sp>
            <p:grpSp>
              <p:nvGrpSpPr>
                <p:cNvPr id="561" name="Google Shape;561;p18"/>
                <p:cNvGrpSpPr/>
                <p:nvPr/>
              </p:nvGrpSpPr>
              <p:grpSpPr>
                <a:xfrm>
                  <a:off x="1905750" y="1491757"/>
                  <a:ext cx="872978" cy="317400"/>
                  <a:chOff x="1905813" y="1491907"/>
                  <a:chExt cx="872978" cy="317400"/>
                </a:xfrm>
              </p:grpSpPr>
              <p:sp>
                <p:nvSpPr>
                  <p:cNvPr id="562" name="Google Shape;562;p18"/>
                  <p:cNvSpPr/>
                  <p:nvPr/>
                </p:nvSpPr>
                <p:spPr>
                  <a:xfrm rot="-10800000">
                    <a:off x="1905813" y="1608215"/>
                    <a:ext cx="421893" cy="181722"/>
                  </a:xfrm>
                  <a:prstGeom prst="flowChartMagneticDrum">
                    <a:avLst/>
                  </a:prstGeom>
                  <a:solidFill>
                    <a:srgbClr val="CCCCCC"/>
                  </a:solidFill>
                  <a:ln cap="flat" cmpd="sng" w="13250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194825" lIns="194825" spcFirstLastPara="1" rIns="194825" wrap="square" tIns="1948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918"/>
                  </a:p>
                </p:txBody>
              </p:sp>
              <p:sp>
                <p:nvSpPr>
                  <p:cNvPr id="563" name="Google Shape;563;p18"/>
                  <p:cNvSpPr/>
                  <p:nvPr/>
                </p:nvSpPr>
                <p:spPr>
                  <a:xfrm>
                    <a:off x="1905813" y="1605800"/>
                    <a:ext cx="153600" cy="181800"/>
                  </a:xfrm>
                  <a:prstGeom prst="ellipse">
                    <a:avLst/>
                  </a:prstGeom>
                  <a:solidFill>
                    <a:schemeClr val="lt1"/>
                  </a:solidFill>
                  <a:ln cap="flat" cmpd="sng" w="13250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194825" lIns="194825" spcFirstLastPara="1" rIns="194825" wrap="square" tIns="1948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918"/>
                  </a:p>
                </p:txBody>
              </p:sp>
              <p:sp>
                <p:nvSpPr>
                  <p:cNvPr id="564" name="Google Shape;564;p18"/>
                  <p:cNvSpPr txBox="1"/>
                  <p:nvPr/>
                </p:nvSpPr>
                <p:spPr>
                  <a:xfrm>
                    <a:off x="1962790" y="1491907"/>
                    <a:ext cx="816000" cy="317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194825" lIns="194825" spcFirstLastPara="1" rIns="194825" wrap="square" tIns="1948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1250">
                        <a:solidFill>
                          <a:schemeClr val="lt1"/>
                        </a:solidFill>
                      </a:rPr>
                      <a:t>Off</a:t>
                    </a:r>
                    <a:endParaRPr sz="1250">
                      <a:solidFill>
                        <a:schemeClr val="lt1"/>
                      </a:solidFill>
                    </a:endParaRPr>
                  </a:p>
                </p:txBody>
              </p:sp>
            </p:grpSp>
          </p:grpSp>
          <p:sp>
            <p:nvSpPr>
              <p:cNvPr id="565" name="Google Shape;565;p18"/>
              <p:cNvSpPr txBox="1"/>
              <p:nvPr/>
            </p:nvSpPr>
            <p:spPr>
              <a:xfrm>
                <a:off x="313761" y="2449239"/>
                <a:ext cx="2615400" cy="38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chemeClr val="dk1"/>
                    </a:solidFill>
                  </a:rPr>
                  <a:t>Material Availability Scenarios</a:t>
                </a:r>
                <a:endParaRPr b="1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566" name="Google Shape;566;p18"/>
            <p:cNvGrpSpPr/>
            <p:nvPr/>
          </p:nvGrpSpPr>
          <p:grpSpPr>
            <a:xfrm>
              <a:off x="309438" y="5570271"/>
              <a:ext cx="4170545" cy="534623"/>
              <a:chOff x="313750" y="2353562"/>
              <a:chExt cx="4170545" cy="534623"/>
            </a:xfrm>
          </p:grpSpPr>
          <p:grpSp>
            <p:nvGrpSpPr>
              <p:cNvPr id="567" name="Google Shape;567;p18"/>
              <p:cNvGrpSpPr/>
              <p:nvPr/>
            </p:nvGrpSpPr>
            <p:grpSpPr>
              <a:xfrm>
                <a:off x="313775" y="2353562"/>
                <a:ext cx="4170520" cy="534623"/>
                <a:chOff x="314627" y="1488838"/>
                <a:chExt cx="2467325" cy="384649"/>
              </a:xfrm>
            </p:grpSpPr>
            <p:sp>
              <p:nvSpPr>
                <p:cNvPr id="568" name="Google Shape;568;p18"/>
                <p:cNvSpPr/>
                <p:nvPr/>
              </p:nvSpPr>
              <p:spPr>
                <a:xfrm>
                  <a:off x="314627" y="1532087"/>
                  <a:ext cx="2135100" cy="341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194825" lIns="194825" spcFirstLastPara="1" rIns="194825" wrap="square" tIns="1948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250">
                    <a:solidFill>
                      <a:schemeClr val="dk1"/>
                    </a:solidFill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250">
                    <a:solidFill>
                      <a:schemeClr val="dk1"/>
                    </a:solidFill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250">
                    <a:solidFill>
                      <a:schemeClr val="dk1"/>
                    </a:solidFill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250">
                    <a:solidFill>
                      <a:schemeClr val="dk1"/>
                    </a:solidFill>
                  </a:endParaRPr>
                </a:p>
              </p:txBody>
            </p:sp>
            <p:grpSp>
              <p:nvGrpSpPr>
                <p:cNvPr id="569" name="Google Shape;569;p18"/>
                <p:cNvGrpSpPr/>
                <p:nvPr/>
              </p:nvGrpSpPr>
              <p:grpSpPr>
                <a:xfrm>
                  <a:off x="1905750" y="1488838"/>
                  <a:ext cx="876202" cy="317400"/>
                  <a:chOff x="1905813" y="1488988"/>
                  <a:chExt cx="876202" cy="317400"/>
                </a:xfrm>
              </p:grpSpPr>
              <p:sp>
                <p:nvSpPr>
                  <p:cNvPr id="570" name="Google Shape;570;p18"/>
                  <p:cNvSpPr/>
                  <p:nvPr/>
                </p:nvSpPr>
                <p:spPr>
                  <a:xfrm rot="-10800000">
                    <a:off x="1905813" y="1608215"/>
                    <a:ext cx="421893" cy="181722"/>
                  </a:xfrm>
                  <a:prstGeom prst="flowChartMagneticDrum">
                    <a:avLst/>
                  </a:prstGeom>
                  <a:solidFill>
                    <a:srgbClr val="CCCCCC"/>
                  </a:solidFill>
                  <a:ln cap="flat" cmpd="sng" w="13250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194825" lIns="194825" spcFirstLastPara="1" rIns="194825" wrap="square" tIns="1948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918"/>
                  </a:p>
                </p:txBody>
              </p:sp>
              <p:sp>
                <p:nvSpPr>
                  <p:cNvPr id="571" name="Google Shape;571;p18"/>
                  <p:cNvSpPr/>
                  <p:nvPr/>
                </p:nvSpPr>
                <p:spPr>
                  <a:xfrm>
                    <a:off x="1905813" y="1605800"/>
                    <a:ext cx="153600" cy="181800"/>
                  </a:xfrm>
                  <a:prstGeom prst="ellipse">
                    <a:avLst/>
                  </a:prstGeom>
                  <a:solidFill>
                    <a:schemeClr val="lt1"/>
                  </a:solidFill>
                  <a:ln cap="flat" cmpd="sng" w="13250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194825" lIns="194825" spcFirstLastPara="1" rIns="194825" wrap="square" tIns="1948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918"/>
                  </a:p>
                </p:txBody>
              </p:sp>
              <p:sp>
                <p:nvSpPr>
                  <p:cNvPr id="572" name="Google Shape;572;p18"/>
                  <p:cNvSpPr txBox="1"/>
                  <p:nvPr/>
                </p:nvSpPr>
                <p:spPr>
                  <a:xfrm>
                    <a:off x="1966015" y="1488988"/>
                    <a:ext cx="816000" cy="317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194825" lIns="194825" spcFirstLastPara="1" rIns="194825" wrap="square" tIns="1948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1250">
                        <a:solidFill>
                          <a:schemeClr val="lt1"/>
                        </a:solidFill>
                      </a:rPr>
                      <a:t>Off</a:t>
                    </a:r>
                    <a:endParaRPr sz="1250">
                      <a:solidFill>
                        <a:schemeClr val="lt1"/>
                      </a:solidFill>
                    </a:endParaRPr>
                  </a:p>
                </p:txBody>
              </p:sp>
            </p:grpSp>
          </p:grpSp>
          <p:sp>
            <p:nvSpPr>
              <p:cNvPr id="573" name="Google Shape;573;p18"/>
              <p:cNvSpPr txBox="1"/>
              <p:nvPr/>
            </p:nvSpPr>
            <p:spPr>
              <a:xfrm>
                <a:off x="313750" y="2449250"/>
                <a:ext cx="30000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solidFill>
                      <a:schemeClr val="dk1"/>
                    </a:solidFill>
                  </a:rPr>
                  <a:t>Alternative Materials</a:t>
                </a:r>
                <a:endParaRPr b="1">
                  <a:solidFill>
                    <a:schemeClr val="dk1"/>
                  </a:solidFill>
                </a:endParaRPr>
              </a:p>
            </p:txBody>
          </p:sp>
        </p:grpSp>
        <p:sp>
          <p:nvSpPr>
            <p:cNvPr id="574" name="Google Shape;574;p18"/>
            <p:cNvSpPr/>
            <p:nvPr/>
          </p:nvSpPr>
          <p:spPr>
            <a:xfrm>
              <a:off x="319850" y="1697506"/>
              <a:ext cx="3608700" cy="29298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40175" lIns="140175" spcFirstLastPara="1" rIns="140175" wrap="square" tIns="1401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Building Specifications</a:t>
              </a:r>
              <a:endParaRPr b="1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666666"/>
                  </a:solidFill>
                </a:rPr>
                <a:t>         </a:t>
              </a:r>
              <a:endParaRPr sz="13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666666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1300">
                <a:solidFill>
                  <a:srgbClr val="666666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13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13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666666"/>
                </a:solidFill>
              </a:endParaRPr>
            </a:p>
          </p:txBody>
        </p:sp>
        <p:sp>
          <p:nvSpPr>
            <p:cNvPr id="575" name="Google Shape;575;p18"/>
            <p:cNvSpPr/>
            <p:nvPr/>
          </p:nvSpPr>
          <p:spPr>
            <a:xfrm>
              <a:off x="501850" y="4122119"/>
              <a:ext cx="3249900" cy="332100"/>
            </a:xfrm>
            <a:prstGeom prst="roundRect">
              <a:avLst>
                <a:gd fmla="val 16667" name="adj"/>
              </a:avLst>
            </a:prstGeom>
            <a:solidFill>
              <a:srgbClr val="AAD3E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300">
                  <a:solidFill>
                    <a:srgbClr val="666666"/>
                  </a:solidFill>
                </a:rPr>
                <a:t>Estimate material demands and cost</a:t>
              </a:r>
              <a:endParaRPr/>
            </a:p>
          </p:txBody>
        </p:sp>
        <p:sp>
          <p:nvSpPr>
            <p:cNvPr id="576" name="Google Shape;576;p18"/>
            <p:cNvSpPr/>
            <p:nvPr/>
          </p:nvSpPr>
          <p:spPr>
            <a:xfrm>
              <a:off x="2975093" y="2085491"/>
              <a:ext cx="738600" cy="25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666666"/>
                  </a:solidFill>
                </a:rPr>
                <a:t>Reuse </a:t>
              </a:r>
              <a:endParaRPr sz="900">
                <a:solidFill>
                  <a:srgbClr val="666666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666666"/>
                  </a:solidFill>
                </a:rPr>
                <a:t>materials?</a:t>
              </a:r>
              <a:endParaRPr sz="900">
                <a:solidFill>
                  <a:srgbClr val="666666"/>
                </a:solidFill>
              </a:endParaRPr>
            </a:p>
          </p:txBody>
        </p:sp>
        <p:grpSp>
          <p:nvGrpSpPr>
            <p:cNvPr id="577" name="Google Shape;577;p18"/>
            <p:cNvGrpSpPr/>
            <p:nvPr/>
          </p:nvGrpSpPr>
          <p:grpSpPr>
            <a:xfrm>
              <a:off x="697213" y="2405891"/>
              <a:ext cx="3106838" cy="610955"/>
              <a:chOff x="697213" y="2331245"/>
              <a:chExt cx="3106838" cy="610955"/>
            </a:xfrm>
          </p:grpSpPr>
          <p:grpSp>
            <p:nvGrpSpPr>
              <p:cNvPr id="578" name="Google Shape;578;p18"/>
              <p:cNvGrpSpPr/>
              <p:nvPr/>
            </p:nvGrpSpPr>
            <p:grpSpPr>
              <a:xfrm>
                <a:off x="3587150" y="2696772"/>
                <a:ext cx="216900" cy="218100"/>
                <a:chOff x="3592625" y="2190625"/>
                <a:chExt cx="216900" cy="218100"/>
              </a:xfrm>
            </p:grpSpPr>
            <p:cxnSp>
              <p:nvCxnSpPr>
                <p:cNvPr id="579" name="Google Shape;579;p18"/>
                <p:cNvCxnSpPr/>
                <p:nvPr/>
              </p:nvCxnSpPr>
              <p:spPr>
                <a:xfrm flipH="1">
                  <a:off x="3700925" y="2190625"/>
                  <a:ext cx="300" cy="218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80" name="Google Shape;580;p18"/>
                <p:cNvCxnSpPr/>
                <p:nvPr/>
              </p:nvCxnSpPr>
              <p:spPr>
                <a:xfrm>
                  <a:off x="3592625" y="2297875"/>
                  <a:ext cx="216900" cy="36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581" name="Google Shape;581;p18"/>
              <p:cNvSpPr/>
              <p:nvPr/>
            </p:nvSpPr>
            <p:spPr>
              <a:xfrm>
                <a:off x="697213" y="2331250"/>
                <a:ext cx="1276800" cy="2556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666666"/>
                    </a:solidFill>
                  </a:rPr>
                  <a:t>Health services</a:t>
                </a:r>
                <a:endParaRPr sz="1000">
                  <a:solidFill>
                    <a:srgbClr val="666666"/>
                  </a:solidFill>
                </a:endParaRPr>
              </a:p>
            </p:txBody>
          </p:sp>
          <p:sp>
            <p:nvSpPr>
              <p:cNvPr id="582" name="Google Shape;582;p18"/>
              <p:cNvSpPr/>
              <p:nvPr/>
            </p:nvSpPr>
            <p:spPr>
              <a:xfrm>
                <a:off x="2041578" y="2331281"/>
                <a:ext cx="1002600" cy="2556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666666"/>
                    </a:solidFill>
                  </a:rPr>
                  <a:t>10,000</a:t>
                </a:r>
                <a:endParaRPr sz="1000">
                  <a:solidFill>
                    <a:srgbClr val="666666"/>
                  </a:solidFill>
                </a:endParaRPr>
              </a:p>
            </p:txBody>
          </p:sp>
          <p:sp>
            <p:nvSpPr>
              <p:cNvPr id="583" name="Google Shape;583;p18"/>
              <p:cNvSpPr/>
              <p:nvPr/>
            </p:nvSpPr>
            <p:spPr>
              <a:xfrm>
                <a:off x="3209350" y="2331245"/>
                <a:ext cx="259800" cy="2556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4" name="Google Shape;584;p18"/>
              <p:cNvSpPr/>
              <p:nvPr/>
            </p:nvSpPr>
            <p:spPr>
              <a:xfrm>
                <a:off x="697213" y="2686600"/>
                <a:ext cx="1276800" cy="2556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666666"/>
                    </a:solidFill>
                  </a:rPr>
                  <a:t>Laboratory</a:t>
                </a:r>
                <a:endParaRPr sz="1000">
                  <a:solidFill>
                    <a:srgbClr val="666666"/>
                  </a:solidFill>
                </a:endParaRPr>
              </a:p>
            </p:txBody>
          </p:sp>
          <p:sp>
            <p:nvSpPr>
              <p:cNvPr id="585" name="Google Shape;585;p18"/>
              <p:cNvSpPr/>
              <p:nvPr/>
            </p:nvSpPr>
            <p:spPr>
              <a:xfrm>
                <a:off x="2041578" y="2681179"/>
                <a:ext cx="1002600" cy="2556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666666"/>
                    </a:solidFill>
                  </a:rPr>
                  <a:t>20,000</a:t>
                </a:r>
                <a:endParaRPr sz="1000">
                  <a:solidFill>
                    <a:srgbClr val="666666"/>
                  </a:solidFill>
                </a:endParaRPr>
              </a:p>
            </p:txBody>
          </p:sp>
          <p:sp>
            <p:nvSpPr>
              <p:cNvPr id="586" name="Google Shape;586;p18"/>
              <p:cNvSpPr/>
              <p:nvPr/>
            </p:nvSpPr>
            <p:spPr>
              <a:xfrm>
                <a:off x="3209350" y="2678019"/>
                <a:ext cx="259800" cy="2556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" name="Google Shape;587;p18"/>
              <p:cNvSpPr/>
              <p:nvPr/>
            </p:nvSpPr>
            <p:spPr>
              <a:xfrm>
                <a:off x="3255692" y="2597665"/>
                <a:ext cx="332096" cy="255602"/>
              </a:xfrm>
              <a:custGeom>
                <a:rect b="b" l="l" r="r" t="t"/>
                <a:pathLst>
                  <a:path extrusionOk="0" h="4557" w="7125">
                    <a:moveTo>
                      <a:pt x="0" y="4027"/>
                    </a:moveTo>
                    <a:cubicBezTo>
                      <a:pt x="1930" y="5955"/>
                      <a:pt x="5196" y="1929"/>
                      <a:pt x="7125" y="0"/>
                    </a:cubicBezTo>
                  </a:path>
                </a:pathLst>
              </a:cu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588" name="Google Shape;588;p18"/>
              <p:cNvSpPr/>
              <p:nvPr/>
            </p:nvSpPr>
            <p:spPr>
              <a:xfrm rot="10800000">
                <a:off x="1757782" y="2416703"/>
                <a:ext cx="167100" cy="101400"/>
              </a:xfrm>
              <a:prstGeom prst="triangle">
                <a:avLst>
                  <a:gd fmla="val 50000" name="adj"/>
                </a:avLst>
              </a:prstGeom>
              <a:solidFill>
                <a:srgbClr val="B7B7B7"/>
              </a:solidFill>
              <a:ln cap="flat" cmpd="sng" w="952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40175" lIns="140175" spcFirstLastPara="1" rIns="140175" wrap="square" tIns="1401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0"/>
              </a:p>
            </p:txBody>
          </p:sp>
          <p:sp>
            <p:nvSpPr>
              <p:cNvPr id="589" name="Google Shape;589;p18"/>
              <p:cNvSpPr/>
              <p:nvPr/>
            </p:nvSpPr>
            <p:spPr>
              <a:xfrm rot="10800000">
                <a:off x="1757782" y="2774054"/>
                <a:ext cx="167100" cy="101400"/>
              </a:xfrm>
              <a:prstGeom prst="triangle">
                <a:avLst>
                  <a:gd fmla="val 50000" name="adj"/>
                </a:avLst>
              </a:prstGeom>
              <a:solidFill>
                <a:srgbClr val="B7B7B7"/>
              </a:solidFill>
              <a:ln cap="flat" cmpd="sng" w="952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40175" lIns="140175" spcFirstLastPara="1" rIns="140175" wrap="square" tIns="1401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0"/>
              </a:p>
            </p:txBody>
          </p:sp>
        </p:grpSp>
        <p:sp>
          <p:nvSpPr>
            <p:cNvPr id="590" name="Google Shape;590;p18"/>
            <p:cNvSpPr/>
            <p:nvPr/>
          </p:nvSpPr>
          <p:spPr>
            <a:xfrm>
              <a:off x="370627" y="2085481"/>
              <a:ext cx="1469400" cy="25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200">
                  <a:solidFill>
                    <a:srgbClr val="666666"/>
                  </a:solidFill>
                </a:rPr>
                <a:t>New buildings</a:t>
              </a:r>
              <a:endParaRPr i="1" sz="1200">
                <a:solidFill>
                  <a:srgbClr val="666666"/>
                </a:solidFill>
              </a:endParaRPr>
            </a:p>
          </p:txBody>
        </p:sp>
        <p:sp>
          <p:nvSpPr>
            <p:cNvPr id="591" name="Google Shape;591;p18"/>
            <p:cNvSpPr/>
            <p:nvPr/>
          </p:nvSpPr>
          <p:spPr>
            <a:xfrm>
              <a:off x="370625" y="3350145"/>
              <a:ext cx="1785900" cy="25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200">
                  <a:solidFill>
                    <a:srgbClr val="666666"/>
                  </a:solidFill>
                </a:rPr>
                <a:t>Demolished buildings</a:t>
              </a:r>
              <a:endParaRPr i="1" sz="1200">
                <a:solidFill>
                  <a:srgbClr val="666666"/>
                </a:solidFill>
              </a:endParaRPr>
            </a:p>
          </p:txBody>
        </p:sp>
        <p:cxnSp>
          <p:nvCxnSpPr>
            <p:cNvPr id="592" name="Google Shape;592;p18"/>
            <p:cNvCxnSpPr/>
            <p:nvPr/>
          </p:nvCxnSpPr>
          <p:spPr>
            <a:xfrm>
              <a:off x="493000" y="3256804"/>
              <a:ext cx="3267600" cy="11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593" name="Google Shape;593;p18"/>
            <p:cNvGrpSpPr/>
            <p:nvPr/>
          </p:nvGrpSpPr>
          <p:grpSpPr>
            <a:xfrm>
              <a:off x="697217" y="3687384"/>
              <a:ext cx="2619425" cy="255631"/>
              <a:chOff x="697213" y="2331250"/>
              <a:chExt cx="2619425" cy="255631"/>
            </a:xfrm>
          </p:grpSpPr>
          <p:grpSp>
            <p:nvGrpSpPr>
              <p:cNvPr id="594" name="Google Shape;594;p18"/>
              <p:cNvGrpSpPr/>
              <p:nvPr/>
            </p:nvGrpSpPr>
            <p:grpSpPr>
              <a:xfrm>
                <a:off x="3099738" y="2352810"/>
                <a:ext cx="216900" cy="218100"/>
                <a:chOff x="3105213" y="1846663"/>
                <a:chExt cx="216900" cy="218100"/>
              </a:xfrm>
            </p:grpSpPr>
            <p:cxnSp>
              <p:nvCxnSpPr>
                <p:cNvPr id="595" name="Google Shape;595;p18"/>
                <p:cNvCxnSpPr/>
                <p:nvPr/>
              </p:nvCxnSpPr>
              <p:spPr>
                <a:xfrm flipH="1">
                  <a:off x="3213513" y="1846663"/>
                  <a:ext cx="300" cy="218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96" name="Google Shape;596;p18"/>
                <p:cNvCxnSpPr/>
                <p:nvPr/>
              </p:nvCxnSpPr>
              <p:spPr>
                <a:xfrm>
                  <a:off x="3105213" y="1953913"/>
                  <a:ext cx="216900" cy="36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597" name="Google Shape;597;p18"/>
              <p:cNvSpPr/>
              <p:nvPr/>
            </p:nvSpPr>
            <p:spPr>
              <a:xfrm>
                <a:off x="697213" y="2331250"/>
                <a:ext cx="1276800" cy="2556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666666"/>
                    </a:solidFill>
                  </a:rPr>
                  <a:t>Barracks</a:t>
                </a:r>
                <a:endParaRPr sz="1000">
                  <a:solidFill>
                    <a:srgbClr val="666666"/>
                  </a:solidFill>
                </a:endParaRPr>
              </a:p>
            </p:txBody>
          </p:sp>
          <p:sp>
            <p:nvSpPr>
              <p:cNvPr id="598" name="Google Shape;598;p18"/>
              <p:cNvSpPr/>
              <p:nvPr/>
            </p:nvSpPr>
            <p:spPr>
              <a:xfrm>
                <a:off x="2041578" y="2331281"/>
                <a:ext cx="1002600" cy="2556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666666"/>
                    </a:solidFill>
                  </a:rPr>
                  <a:t>50,000</a:t>
                </a:r>
                <a:endParaRPr sz="1000">
                  <a:solidFill>
                    <a:srgbClr val="666666"/>
                  </a:solidFill>
                </a:endParaRPr>
              </a:p>
            </p:txBody>
          </p:sp>
          <p:sp>
            <p:nvSpPr>
              <p:cNvPr id="599" name="Google Shape;599;p18"/>
              <p:cNvSpPr/>
              <p:nvPr/>
            </p:nvSpPr>
            <p:spPr>
              <a:xfrm rot="10800000">
                <a:off x="1757782" y="2416703"/>
                <a:ext cx="167100" cy="101400"/>
              </a:xfrm>
              <a:prstGeom prst="triangle">
                <a:avLst>
                  <a:gd fmla="val 50000" name="adj"/>
                </a:avLst>
              </a:prstGeom>
              <a:solidFill>
                <a:srgbClr val="B7B7B7"/>
              </a:solidFill>
              <a:ln cap="flat" cmpd="sng" w="952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40175" lIns="140175" spcFirstLastPara="1" rIns="140175" wrap="square" tIns="1401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0"/>
              </a:p>
            </p:txBody>
          </p:sp>
        </p:grpSp>
      </p:grpSp>
      <p:sp>
        <p:nvSpPr>
          <p:cNvPr id="600" name="Google Shape;600;p18"/>
          <p:cNvSpPr/>
          <p:nvPr/>
        </p:nvSpPr>
        <p:spPr>
          <a:xfrm>
            <a:off x="-3678" y="-1570"/>
            <a:ext cx="13725900" cy="811200"/>
          </a:xfrm>
          <a:prstGeom prst="rect">
            <a:avLst/>
          </a:prstGeom>
          <a:solidFill>
            <a:srgbClr val="EDF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01" name="Google Shape;601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1400" y="140109"/>
            <a:ext cx="672433" cy="510249"/>
          </a:xfrm>
          <a:prstGeom prst="rect">
            <a:avLst/>
          </a:prstGeom>
          <a:noFill/>
          <a:ln>
            <a:noFill/>
          </a:ln>
        </p:spPr>
      </p:pic>
      <p:sp>
        <p:nvSpPr>
          <p:cNvPr id="602" name="Google Shape;602;p18"/>
          <p:cNvSpPr txBox="1"/>
          <p:nvPr>
            <p:ph idx="1" type="subTitle"/>
          </p:nvPr>
        </p:nvSpPr>
        <p:spPr>
          <a:xfrm>
            <a:off x="761825" y="140088"/>
            <a:ext cx="12825300" cy="510300"/>
          </a:xfrm>
          <a:prstGeom prst="rect">
            <a:avLst/>
          </a:prstGeom>
          <a:ln>
            <a:noFill/>
          </a:ln>
        </p:spPr>
        <p:txBody>
          <a:bodyPr anchorCtr="0" anchor="t" bIns="140175" lIns="140175" spcFirstLastPara="1" rIns="140175" wrap="square" tIns="140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Merriweather"/>
                <a:ea typeface="Merriweather"/>
                <a:cs typeface="Merriweather"/>
                <a:sym typeface="Merriweather"/>
              </a:rPr>
              <a:t>Building Supply chain Material Analysis and Risk Trade-off Tool (BuildSMART v1)</a:t>
            </a:r>
            <a:r>
              <a:rPr b="1" lang="en" sz="1700"/>
              <a:t>           </a:t>
            </a:r>
            <a:r>
              <a:rPr b="1" lang="en" sz="1700">
                <a:solidFill>
                  <a:srgbClr val="999999"/>
                </a:solidFill>
              </a:rPr>
              <a:t>Main Page         </a:t>
            </a:r>
            <a:r>
              <a:rPr b="1" lang="en" sz="1700">
                <a:solidFill>
                  <a:srgbClr val="999999"/>
                </a:solidFill>
              </a:rPr>
              <a:t>About</a:t>
            </a:r>
            <a:r>
              <a:rPr b="1" lang="en" sz="1700">
                <a:solidFill>
                  <a:srgbClr val="999999"/>
                </a:solidFill>
              </a:rPr>
              <a:t>          Contact</a:t>
            </a:r>
            <a:endParaRPr b="1" sz="1700">
              <a:solidFill>
                <a:srgbClr val="999999"/>
              </a:solidFill>
            </a:endParaRPr>
          </a:p>
        </p:txBody>
      </p:sp>
      <p:pic>
        <p:nvPicPr>
          <p:cNvPr id="603" name="Google Shape;603;p18" title="Chart"/>
          <p:cNvPicPr preferRelativeResize="0"/>
          <p:nvPr/>
        </p:nvPicPr>
        <p:blipFill rotWithShape="1">
          <a:blip r:embed="rId7">
            <a:alphaModFix/>
          </a:blip>
          <a:srcRect b="0" l="0" r="0" t="11174"/>
          <a:stretch/>
        </p:blipFill>
        <p:spPr>
          <a:xfrm>
            <a:off x="9117399" y="1378293"/>
            <a:ext cx="3909465" cy="21472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04" name="Google Shape;604;p18"/>
          <p:cNvGrpSpPr/>
          <p:nvPr/>
        </p:nvGrpSpPr>
        <p:grpSpPr>
          <a:xfrm>
            <a:off x="4340597" y="7083175"/>
            <a:ext cx="4557232" cy="618331"/>
            <a:chOff x="4268193" y="552116"/>
            <a:chExt cx="6213843" cy="697025"/>
          </a:xfrm>
        </p:grpSpPr>
        <p:sp>
          <p:nvSpPr>
            <p:cNvPr id="605" name="Google Shape;605;p18"/>
            <p:cNvSpPr/>
            <p:nvPr/>
          </p:nvSpPr>
          <p:spPr>
            <a:xfrm>
              <a:off x="6760562" y="609015"/>
              <a:ext cx="3546300" cy="255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8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1100" lIns="81100" spcFirstLastPara="1" rIns="81100" wrap="square" tIns="811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41"/>
            </a:p>
          </p:txBody>
        </p:sp>
        <p:sp>
          <p:nvSpPr>
            <p:cNvPr id="606" name="Google Shape;606;p18"/>
            <p:cNvSpPr txBox="1"/>
            <p:nvPr/>
          </p:nvSpPr>
          <p:spPr>
            <a:xfrm>
              <a:off x="4268193" y="552116"/>
              <a:ext cx="28551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100" lIns="81100" spcFirstLastPara="1" rIns="81100" wrap="square" tIns="8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86">
                  <a:solidFill>
                    <a:srgbClr val="B7B7B7"/>
                  </a:solidFill>
                </a:rPr>
                <a:t>CONSTRUCTION YEAR</a:t>
              </a:r>
              <a:endParaRPr b="1" sz="1186">
                <a:solidFill>
                  <a:srgbClr val="B7B7B7"/>
                </a:solidFill>
              </a:endParaRPr>
            </a:p>
          </p:txBody>
        </p:sp>
        <p:sp>
          <p:nvSpPr>
            <p:cNvPr id="607" name="Google Shape;607;p18"/>
            <p:cNvSpPr txBox="1"/>
            <p:nvPr/>
          </p:nvSpPr>
          <p:spPr>
            <a:xfrm>
              <a:off x="6732035" y="810841"/>
              <a:ext cx="37500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100" lIns="81100" spcFirstLastPara="1" rIns="81100" wrap="square" tIns="8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20">
                  <a:solidFill>
                    <a:schemeClr val="dk2"/>
                  </a:solidFill>
                </a:rPr>
                <a:t>2020	2030	2040	2050	2060	2070</a:t>
              </a:r>
              <a:endParaRPr sz="620">
                <a:solidFill>
                  <a:schemeClr val="dk2"/>
                </a:solidFill>
              </a:endParaRPr>
            </a:p>
          </p:txBody>
        </p:sp>
        <p:sp>
          <p:nvSpPr>
            <p:cNvPr id="608" name="Google Shape;608;p18"/>
            <p:cNvSpPr/>
            <p:nvPr/>
          </p:nvSpPr>
          <p:spPr>
            <a:xfrm>
              <a:off x="6766092" y="605847"/>
              <a:ext cx="202200" cy="2556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 cap="flat" cmpd="sng" w="8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1100" lIns="81100" spcFirstLastPara="1" rIns="81100" wrap="square" tIns="811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41"/>
            </a:p>
          </p:txBody>
        </p:sp>
      </p:grpSp>
      <p:grpSp>
        <p:nvGrpSpPr>
          <p:cNvPr id="609" name="Google Shape;609;p18"/>
          <p:cNvGrpSpPr/>
          <p:nvPr/>
        </p:nvGrpSpPr>
        <p:grpSpPr>
          <a:xfrm>
            <a:off x="8869612" y="4172248"/>
            <a:ext cx="4405034" cy="2794775"/>
            <a:chOff x="9037729" y="4704523"/>
            <a:chExt cx="4405034" cy="2794775"/>
          </a:xfrm>
        </p:grpSpPr>
        <p:grpSp>
          <p:nvGrpSpPr>
            <p:cNvPr id="610" name="Google Shape;610;p18"/>
            <p:cNvGrpSpPr/>
            <p:nvPr/>
          </p:nvGrpSpPr>
          <p:grpSpPr>
            <a:xfrm>
              <a:off x="9037729" y="4704523"/>
              <a:ext cx="4405034" cy="2794775"/>
              <a:chOff x="9079752" y="3946051"/>
              <a:chExt cx="4405034" cy="2794775"/>
            </a:xfrm>
          </p:grpSpPr>
          <p:sp>
            <p:nvSpPr>
              <p:cNvPr id="611" name="Google Shape;611;p18"/>
              <p:cNvSpPr txBox="1"/>
              <p:nvPr/>
            </p:nvSpPr>
            <p:spPr>
              <a:xfrm>
                <a:off x="9079752" y="3946051"/>
                <a:ext cx="40734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73200" lIns="73200" spcFirstLastPara="1" rIns="73200" wrap="square" tIns="732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81">
                    <a:solidFill>
                      <a:srgbClr val="666666"/>
                    </a:solidFill>
                  </a:rPr>
                  <a:t>PROJECTED MATERIAL AVAILABILITY</a:t>
                </a:r>
                <a:endParaRPr b="1" sz="360">
                  <a:solidFill>
                    <a:srgbClr val="666666"/>
                  </a:solidFill>
                </a:endParaRPr>
              </a:p>
            </p:txBody>
          </p:sp>
          <p:sp>
            <p:nvSpPr>
              <p:cNvPr id="612" name="Google Shape;612;p18"/>
              <p:cNvSpPr/>
              <p:nvPr/>
            </p:nvSpPr>
            <p:spPr>
              <a:xfrm>
                <a:off x="9148885" y="4259825"/>
                <a:ext cx="4335900" cy="2481000"/>
              </a:xfrm>
              <a:prstGeom prst="rect">
                <a:avLst/>
              </a:prstGeom>
              <a:noFill/>
              <a:ln cap="flat" cmpd="sng" w="7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3200" lIns="73200" spcFirstLastPara="1" rIns="73200" wrap="square" tIns="732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120"/>
              </a:p>
            </p:txBody>
          </p:sp>
          <p:pic>
            <p:nvPicPr>
              <p:cNvPr id="613" name="Google Shape;613;p18" title="Screenshot 2026-02-19 at 10.15.05 AM.png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-281" t="0"/>
              <a:stretch/>
            </p:blipFill>
            <p:spPr>
              <a:xfrm>
                <a:off x="9286250" y="4386900"/>
                <a:ext cx="4073401" cy="2226850"/>
              </a:xfrm>
              <a:prstGeom prst="rect">
                <a:avLst/>
              </a:prstGeom>
              <a:noFill/>
              <a:ln cap="flat" cmpd="sng" w="9525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</p:pic>
        </p:grpSp>
        <p:pic>
          <p:nvPicPr>
            <p:cNvPr id="614" name="Google Shape;614;p18" title="expand-icon-symbol-design-illustration-vector.jpg"/>
            <p:cNvPicPr preferRelativeResize="0"/>
            <p:nvPr/>
          </p:nvPicPr>
          <p:blipFill rotWithShape="1">
            <a:blip r:embed="rId9">
              <a:alphaModFix/>
            </a:blip>
            <a:srcRect b="11143" l="12219" r="0" t="0"/>
            <a:stretch/>
          </p:blipFill>
          <p:spPr>
            <a:xfrm>
              <a:off x="13211244" y="5054337"/>
              <a:ext cx="224376" cy="22712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615" name="Google Shape;615;p18"/>
          <p:cNvCxnSpPr/>
          <p:nvPr/>
        </p:nvCxnSpPr>
        <p:spPr>
          <a:xfrm>
            <a:off x="4426782" y="4027001"/>
            <a:ext cx="8858100" cy="6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616" name="Google Shape;616;p18"/>
          <p:cNvGrpSpPr/>
          <p:nvPr/>
        </p:nvGrpSpPr>
        <p:grpSpPr>
          <a:xfrm>
            <a:off x="8846180" y="7077437"/>
            <a:ext cx="4557232" cy="618331"/>
            <a:chOff x="4268193" y="552116"/>
            <a:chExt cx="6213843" cy="697025"/>
          </a:xfrm>
        </p:grpSpPr>
        <p:sp>
          <p:nvSpPr>
            <p:cNvPr id="617" name="Google Shape;617;p18"/>
            <p:cNvSpPr/>
            <p:nvPr/>
          </p:nvSpPr>
          <p:spPr>
            <a:xfrm>
              <a:off x="6760562" y="609015"/>
              <a:ext cx="3546300" cy="255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8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1100" lIns="81100" spcFirstLastPara="1" rIns="81100" wrap="square" tIns="811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41"/>
            </a:p>
          </p:txBody>
        </p:sp>
        <p:sp>
          <p:nvSpPr>
            <p:cNvPr id="618" name="Google Shape;618;p18"/>
            <p:cNvSpPr txBox="1"/>
            <p:nvPr/>
          </p:nvSpPr>
          <p:spPr>
            <a:xfrm>
              <a:off x="4268193" y="552116"/>
              <a:ext cx="28551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100" lIns="81100" spcFirstLastPara="1" rIns="81100" wrap="square" tIns="8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86">
                  <a:solidFill>
                    <a:srgbClr val="B7B7B7"/>
                  </a:solidFill>
                </a:rPr>
                <a:t>CONSTRUCTION YEAR</a:t>
              </a:r>
              <a:endParaRPr b="1" sz="1186">
                <a:solidFill>
                  <a:srgbClr val="B7B7B7"/>
                </a:solidFill>
              </a:endParaRPr>
            </a:p>
          </p:txBody>
        </p:sp>
        <p:sp>
          <p:nvSpPr>
            <p:cNvPr id="619" name="Google Shape;619;p18"/>
            <p:cNvSpPr txBox="1"/>
            <p:nvPr/>
          </p:nvSpPr>
          <p:spPr>
            <a:xfrm>
              <a:off x="6732035" y="810841"/>
              <a:ext cx="37500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100" lIns="81100" spcFirstLastPara="1" rIns="81100" wrap="square" tIns="8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20">
                  <a:solidFill>
                    <a:schemeClr val="dk2"/>
                  </a:solidFill>
                </a:rPr>
                <a:t>2020	2030	2040	2050	2060	2070</a:t>
              </a:r>
              <a:endParaRPr sz="620">
                <a:solidFill>
                  <a:schemeClr val="dk2"/>
                </a:solidFill>
              </a:endParaRPr>
            </a:p>
          </p:txBody>
        </p:sp>
        <p:sp>
          <p:nvSpPr>
            <p:cNvPr id="620" name="Google Shape;620;p18"/>
            <p:cNvSpPr/>
            <p:nvPr/>
          </p:nvSpPr>
          <p:spPr>
            <a:xfrm>
              <a:off x="6766092" y="605847"/>
              <a:ext cx="202200" cy="2556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 cap="flat" cmpd="sng" w="8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1100" lIns="81100" spcFirstLastPara="1" rIns="81100" wrap="square" tIns="811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41"/>
            </a:p>
          </p:txBody>
        </p:sp>
      </p:grpSp>
      <p:grpSp>
        <p:nvGrpSpPr>
          <p:cNvPr id="621" name="Google Shape;621;p18"/>
          <p:cNvGrpSpPr/>
          <p:nvPr/>
        </p:nvGrpSpPr>
        <p:grpSpPr>
          <a:xfrm>
            <a:off x="4349911" y="934411"/>
            <a:ext cx="4421103" cy="2819555"/>
            <a:chOff x="4349911" y="934411"/>
            <a:chExt cx="4421103" cy="2819555"/>
          </a:xfrm>
        </p:grpSpPr>
        <p:grpSp>
          <p:nvGrpSpPr>
            <p:cNvPr id="622" name="Google Shape;622;p18"/>
            <p:cNvGrpSpPr/>
            <p:nvPr/>
          </p:nvGrpSpPr>
          <p:grpSpPr>
            <a:xfrm>
              <a:off x="4349911" y="934411"/>
              <a:ext cx="4421103" cy="2819555"/>
              <a:chOff x="4043712" y="1229950"/>
              <a:chExt cx="5522238" cy="3521803"/>
            </a:xfrm>
          </p:grpSpPr>
          <p:sp>
            <p:nvSpPr>
              <p:cNvPr id="623" name="Google Shape;623;p18"/>
              <p:cNvSpPr/>
              <p:nvPr/>
            </p:nvSpPr>
            <p:spPr>
              <a:xfrm>
                <a:off x="4150050" y="1612488"/>
                <a:ext cx="5415900" cy="3099000"/>
              </a:xfrm>
              <a:prstGeom prst="rect">
                <a:avLst/>
              </a:prstGeom>
              <a:noFill/>
              <a:ln cap="flat" cmpd="sng" w="7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3200" lIns="73200" spcFirstLastPara="1" rIns="73200" wrap="square" tIns="732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120"/>
              </a:p>
            </p:txBody>
          </p:sp>
          <p:sp>
            <p:nvSpPr>
              <p:cNvPr id="624" name="Google Shape;624;p18"/>
              <p:cNvSpPr txBox="1"/>
              <p:nvPr/>
            </p:nvSpPr>
            <p:spPr>
              <a:xfrm>
                <a:off x="4043712" y="1229950"/>
                <a:ext cx="4417800" cy="469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73200" lIns="73200" spcFirstLastPara="1" rIns="73200" wrap="square" tIns="732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81">
                    <a:solidFill>
                      <a:srgbClr val="666666"/>
                    </a:solidFill>
                  </a:rPr>
                  <a:t>BASELINE MATERIAL DEMAND</a:t>
                </a:r>
                <a:endParaRPr b="1" sz="360">
                  <a:solidFill>
                    <a:srgbClr val="666666"/>
                  </a:solidFill>
                </a:endParaRPr>
              </a:p>
            </p:txBody>
          </p:sp>
          <p:grpSp>
            <p:nvGrpSpPr>
              <p:cNvPr id="625" name="Google Shape;625;p18"/>
              <p:cNvGrpSpPr/>
              <p:nvPr/>
            </p:nvGrpSpPr>
            <p:grpSpPr>
              <a:xfrm>
                <a:off x="4056895" y="4214633"/>
                <a:ext cx="1890827" cy="537120"/>
                <a:chOff x="4257757" y="4214633"/>
                <a:chExt cx="1890827" cy="537120"/>
              </a:xfrm>
            </p:grpSpPr>
            <p:sp>
              <p:nvSpPr>
                <p:cNvPr id="626" name="Google Shape;626;p18"/>
                <p:cNvSpPr txBox="1"/>
                <p:nvPr/>
              </p:nvSpPr>
              <p:spPr>
                <a:xfrm>
                  <a:off x="4257757" y="4241453"/>
                  <a:ext cx="1269300" cy="510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56000" lIns="156000" spcFirstLastPara="1" rIns="156000" wrap="square" tIns="1560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761">
                      <a:solidFill>
                        <a:srgbClr val="999999"/>
                      </a:solidFill>
                    </a:rPr>
                    <a:t>Sankey diagram</a:t>
                  </a:r>
                  <a:endParaRPr sz="761">
                    <a:solidFill>
                      <a:srgbClr val="999999"/>
                    </a:solidFill>
                  </a:endParaRPr>
                </a:p>
              </p:txBody>
            </p:sp>
            <p:grpSp>
              <p:nvGrpSpPr>
                <p:cNvPr id="627" name="Google Shape;627;p18"/>
                <p:cNvGrpSpPr/>
                <p:nvPr/>
              </p:nvGrpSpPr>
              <p:grpSpPr>
                <a:xfrm>
                  <a:off x="5358113" y="4214633"/>
                  <a:ext cx="790471" cy="433200"/>
                  <a:chOff x="5358113" y="4214633"/>
                  <a:chExt cx="790471" cy="433200"/>
                </a:xfrm>
              </p:grpSpPr>
              <p:grpSp>
                <p:nvGrpSpPr>
                  <p:cNvPr id="628" name="Google Shape;628;p18"/>
                  <p:cNvGrpSpPr/>
                  <p:nvPr/>
                </p:nvGrpSpPr>
                <p:grpSpPr>
                  <a:xfrm>
                    <a:off x="5390909" y="4365780"/>
                    <a:ext cx="757675" cy="261650"/>
                    <a:chOff x="5513034" y="4365730"/>
                    <a:chExt cx="757675" cy="261650"/>
                  </a:xfrm>
                </p:grpSpPr>
                <p:sp>
                  <p:nvSpPr>
                    <p:cNvPr id="629" name="Google Shape;629;p18"/>
                    <p:cNvSpPr/>
                    <p:nvPr/>
                  </p:nvSpPr>
                  <p:spPr>
                    <a:xfrm>
                      <a:off x="5513034" y="4365730"/>
                      <a:ext cx="757675" cy="261650"/>
                    </a:xfrm>
                    <a:prstGeom prst="flowChartMagneticDrum">
                      <a:avLst/>
                    </a:prstGeom>
                    <a:solidFill>
                      <a:srgbClr val="AAD3E0"/>
                    </a:solidFill>
                    <a:ln cap="flat" cmpd="sng" w="106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156000" lIns="156000" spcFirstLastPara="1" rIns="156000" wrap="square" tIns="156000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36"/>
                    </a:p>
                  </p:txBody>
                </p:sp>
                <p:sp>
                  <p:nvSpPr>
                    <p:cNvPr id="630" name="Google Shape;630;p18"/>
                    <p:cNvSpPr/>
                    <p:nvPr/>
                  </p:nvSpPr>
                  <p:spPr>
                    <a:xfrm>
                      <a:off x="6011193" y="4370260"/>
                      <a:ext cx="259500" cy="252600"/>
                    </a:xfrm>
                    <a:prstGeom prst="ellipse">
                      <a:avLst/>
                    </a:prstGeom>
                    <a:solidFill>
                      <a:schemeClr val="lt1"/>
                    </a:solidFill>
                    <a:ln cap="flat" cmpd="sng" w="106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156000" lIns="156000" spcFirstLastPara="1" rIns="156000" wrap="square" tIns="156000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36"/>
                    </a:p>
                  </p:txBody>
                </p:sp>
              </p:grpSp>
              <p:sp>
                <p:nvSpPr>
                  <p:cNvPr id="631" name="Google Shape;631;p18"/>
                  <p:cNvSpPr txBox="1"/>
                  <p:nvPr/>
                </p:nvSpPr>
                <p:spPr>
                  <a:xfrm>
                    <a:off x="5358113" y="4214633"/>
                    <a:ext cx="672300" cy="433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156000" lIns="156000" spcFirstLastPara="1" rIns="156000" wrap="square" tIns="1560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1001">
                        <a:solidFill>
                          <a:schemeClr val="lt1"/>
                        </a:solidFill>
                      </a:rPr>
                      <a:t>On</a:t>
                    </a:r>
                    <a:endParaRPr sz="1001">
                      <a:solidFill>
                        <a:schemeClr val="lt1"/>
                      </a:solidFill>
                    </a:endParaRPr>
                  </a:p>
                </p:txBody>
              </p:sp>
            </p:grpSp>
          </p:grpSp>
        </p:grpSp>
        <p:pic>
          <p:nvPicPr>
            <p:cNvPr id="632" name="Google Shape;632;p18" title="download.png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8474425" y="1284577"/>
              <a:ext cx="259800" cy="259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633" name="Google Shape;633;p18"/>
          <p:cNvGrpSpPr/>
          <p:nvPr/>
        </p:nvGrpSpPr>
        <p:grpSpPr>
          <a:xfrm>
            <a:off x="4349911" y="4181419"/>
            <a:ext cx="4421103" cy="2819555"/>
            <a:chOff x="4349911" y="4181419"/>
            <a:chExt cx="4421103" cy="2819555"/>
          </a:xfrm>
        </p:grpSpPr>
        <p:grpSp>
          <p:nvGrpSpPr>
            <p:cNvPr id="634" name="Google Shape;634;p18"/>
            <p:cNvGrpSpPr/>
            <p:nvPr/>
          </p:nvGrpSpPr>
          <p:grpSpPr>
            <a:xfrm>
              <a:off x="4349911" y="4181419"/>
              <a:ext cx="4421103" cy="2819555"/>
              <a:chOff x="4043712" y="1229950"/>
              <a:chExt cx="5522238" cy="3521803"/>
            </a:xfrm>
          </p:grpSpPr>
          <p:sp>
            <p:nvSpPr>
              <p:cNvPr id="635" name="Google Shape;635;p18"/>
              <p:cNvSpPr/>
              <p:nvPr/>
            </p:nvSpPr>
            <p:spPr>
              <a:xfrm>
                <a:off x="4150050" y="1612488"/>
                <a:ext cx="5415900" cy="3099000"/>
              </a:xfrm>
              <a:prstGeom prst="rect">
                <a:avLst/>
              </a:prstGeom>
              <a:noFill/>
              <a:ln cap="flat" cmpd="sng" w="7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3200" lIns="73200" spcFirstLastPara="1" rIns="73200" wrap="square" tIns="732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120"/>
              </a:p>
            </p:txBody>
          </p:sp>
          <p:grpSp>
            <p:nvGrpSpPr>
              <p:cNvPr id="636" name="Google Shape;636;p18"/>
              <p:cNvGrpSpPr/>
              <p:nvPr/>
            </p:nvGrpSpPr>
            <p:grpSpPr>
              <a:xfrm>
                <a:off x="4043712" y="1229950"/>
                <a:ext cx="5157113" cy="3421454"/>
                <a:chOff x="4205837" y="1005375"/>
                <a:chExt cx="5157113" cy="3421454"/>
              </a:xfrm>
            </p:grpSpPr>
            <p:pic>
              <p:nvPicPr>
                <p:cNvPr id="637" name="Google Shape;637;p18" title="Chart"/>
                <p:cNvPicPr preferRelativeResize="0"/>
                <p:nvPr/>
              </p:nvPicPr>
              <p:blipFill rotWithShape="1">
                <a:blip r:embed="rId11">
                  <a:alphaModFix/>
                </a:blip>
                <a:srcRect b="0" l="0" r="0" t="11143"/>
                <a:stretch/>
              </p:blipFill>
              <p:spPr>
                <a:xfrm>
                  <a:off x="4479975" y="1744863"/>
                  <a:ext cx="4882975" cy="26819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638" name="Google Shape;638;p18"/>
                <p:cNvSpPr txBox="1"/>
                <p:nvPr/>
              </p:nvSpPr>
              <p:spPr>
                <a:xfrm>
                  <a:off x="4205837" y="1005375"/>
                  <a:ext cx="4417800" cy="469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73200" lIns="73200" spcFirstLastPara="1" rIns="73200" wrap="square" tIns="73200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481">
                      <a:solidFill>
                        <a:srgbClr val="666666"/>
                      </a:solidFill>
                    </a:rPr>
                    <a:t>PROJECTED MATERIAL DEMAND</a:t>
                  </a:r>
                  <a:endParaRPr b="1" sz="360">
                    <a:solidFill>
                      <a:srgbClr val="666666"/>
                    </a:solidFill>
                  </a:endParaRPr>
                </a:p>
              </p:txBody>
            </p:sp>
          </p:grpSp>
          <p:grpSp>
            <p:nvGrpSpPr>
              <p:cNvPr id="639" name="Google Shape;639;p18"/>
              <p:cNvGrpSpPr/>
              <p:nvPr/>
            </p:nvGrpSpPr>
            <p:grpSpPr>
              <a:xfrm>
                <a:off x="4056895" y="4208337"/>
                <a:ext cx="1928164" cy="543415"/>
                <a:chOff x="4257757" y="4208337"/>
                <a:chExt cx="1928164" cy="543415"/>
              </a:xfrm>
            </p:grpSpPr>
            <p:sp>
              <p:nvSpPr>
                <p:cNvPr id="640" name="Google Shape;640;p18"/>
                <p:cNvSpPr txBox="1"/>
                <p:nvPr/>
              </p:nvSpPr>
              <p:spPr>
                <a:xfrm>
                  <a:off x="4257757" y="4241453"/>
                  <a:ext cx="1269300" cy="510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56000" lIns="156000" spcFirstLastPara="1" rIns="156000" wrap="square" tIns="1560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761">
                      <a:solidFill>
                        <a:srgbClr val="999999"/>
                      </a:solidFill>
                    </a:rPr>
                    <a:t>Sankey diagram</a:t>
                  </a:r>
                  <a:endParaRPr sz="761">
                    <a:solidFill>
                      <a:srgbClr val="999999"/>
                    </a:solidFill>
                  </a:endParaRPr>
                </a:p>
              </p:txBody>
            </p:sp>
            <p:grpSp>
              <p:nvGrpSpPr>
                <p:cNvPr id="641" name="Google Shape;641;p18"/>
                <p:cNvGrpSpPr/>
                <p:nvPr/>
              </p:nvGrpSpPr>
              <p:grpSpPr>
                <a:xfrm>
                  <a:off x="5383729" y="4208337"/>
                  <a:ext cx="802192" cy="433200"/>
                  <a:chOff x="5383729" y="4208337"/>
                  <a:chExt cx="802192" cy="433200"/>
                </a:xfrm>
              </p:grpSpPr>
              <p:grpSp>
                <p:nvGrpSpPr>
                  <p:cNvPr id="642" name="Google Shape;642;p18"/>
                  <p:cNvGrpSpPr/>
                  <p:nvPr/>
                </p:nvGrpSpPr>
                <p:grpSpPr>
                  <a:xfrm>
                    <a:off x="5383729" y="4365780"/>
                    <a:ext cx="764855" cy="261650"/>
                    <a:chOff x="5505854" y="4365730"/>
                    <a:chExt cx="764855" cy="261650"/>
                  </a:xfrm>
                </p:grpSpPr>
                <p:sp>
                  <p:nvSpPr>
                    <p:cNvPr id="643" name="Google Shape;643;p18"/>
                    <p:cNvSpPr/>
                    <p:nvPr/>
                  </p:nvSpPr>
                  <p:spPr>
                    <a:xfrm rot="-10800000">
                      <a:off x="5513034" y="4365730"/>
                      <a:ext cx="757675" cy="261650"/>
                    </a:xfrm>
                    <a:prstGeom prst="flowChartMagneticDrum">
                      <a:avLst/>
                    </a:prstGeom>
                    <a:solidFill>
                      <a:srgbClr val="CCCCCC"/>
                    </a:solidFill>
                    <a:ln cap="flat" cmpd="sng" w="106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156000" lIns="156000" spcFirstLastPara="1" rIns="156000" wrap="square" tIns="156000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36"/>
                    </a:p>
                  </p:txBody>
                </p:sp>
                <p:sp>
                  <p:nvSpPr>
                    <p:cNvPr id="644" name="Google Shape;644;p18"/>
                    <p:cNvSpPr/>
                    <p:nvPr/>
                  </p:nvSpPr>
                  <p:spPr>
                    <a:xfrm>
                      <a:off x="5505854" y="4370260"/>
                      <a:ext cx="259500" cy="252600"/>
                    </a:xfrm>
                    <a:prstGeom prst="ellipse">
                      <a:avLst/>
                    </a:prstGeom>
                    <a:solidFill>
                      <a:schemeClr val="lt1"/>
                    </a:solidFill>
                    <a:ln cap="flat" cmpd="sng" w="106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156000" lIns="156000" spcFirstLastPara="1" rIns="156000" wrap="square" tIns="156000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36"/>
                    </a:p>
                  </p:txBody>
                </p:sp>
              </p:grpSp>
              <p:sp>
                <p:nvSpPr>
                  <p:cNvPr id="645" name="Google Shape;645;p18"/>
                  <p:cNvSpPr txBox="1"/>
                  <p:nvPr/>
                </p:nvSpPr>
                <p:spPr>
                  <a:xfrm>
                    <a:off x="5513621" y="4208337"/>
                    <a:ext cx="672300" cy="433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156000" lIns="156000" spcFirstLastPara="1" rIns="156000" wrap="square" tIns="1560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1001">
                        <a:solidFill>
                          <a:schemeClr val="lt1"/>
                        </a:solidFill>
                      </a:rPr>
                      <a:t>Off</a:t>
                    </a:r>
                    <a:endParaRPr sz="1001">
                      <a:solidFill>
                        <a:schemeClr val="lt1"/>
                      </a:solidFill>
                    </a:endParaRPr>
                  </a:p>
                </p:txBody>
              </p:sp>
            </p:grpSp>
          </p:grpSp>
        </p:grpSp>
        <p:pic>
          <p:nvPicPr>
            <p:cNvPr id="646" name="Google Shape;646;p18" title="download.png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8474425" y="4518577"/>
              <a:ext cx="259800" cy="259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647" name="Google Shape;647;p18"/>
          <p:cNvSpPr txBox="1"/>
          <p:nvPr/>
        </p:nvSpPr>
        <p:spPr>
          <a:xfrm>
            <a:off x="10027381" y="3473355"/>
            <a:ext cx="2451300" cy="259102"/>
          </a:xfrm>
          <a:prstGeom prst="rect">
            <a:avLst/>
          </a:prstGeom>
          <a:noFill/>
          <a:ln>
            <a:noFill/>
          </a:ln>
        </p:spPr>
        <p:txBody>
          <a:bodyPr anchorCtr="0" anchor="t" bIns="74700" lIns="74700" spcFirstLastPara="1" rIns="74700" wrap="square" tIns="74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2">
                <a:solidFill>
                  <a:schemeClr val="dk1"/>
                </a:solidFill>
              </a:rPr>
              <a:t>Material Cost (USD)</a:t>
            </a:r>
            <a:endParaRPr sz="702">
              <a:solidFill>
                <a:schemeClr val="dk1"/>
              </a:solidFill>
            </a:endParaRPr>
          </a:p>
        </p:txBody>
      </p:sp>
      <p:sp>
        <p:nvSpPr>
          <p:cNvPr id="648" name="Google Shape;648;p18"/>
          <p:cNvSpPr txBox="1"/>
          <p:nvPr/>
        </p:nvSpPr>
        <p:spPr>
          <a:xfrm>
            <a:off x="8869623" y="932880"/>
            <a:ext cx="3537000" cy="3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200" lIns="73200" spcFirstLastPara="1" rIns="73200" wrap="square" tIns="732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81">
                <a:solidFill>
                  <a:srgbClr val="666666"/>
                </a:solidFill>
              </a:rPr>
              <a:t>BASELINE MATERIAL COST</a:t>
            </a:r>
            <a:endParaRPr b="1" sz="360">
              <a:solidFill>
                <a:srgbClr val="666666"/>
              </a:solidFill>
            </a:endParaRPr>
          </a:p>
        </p:txBody>
      </p:sp>
      <p:pic>
        <p:nvPicPr>
          <p:cNvPr id="649" name="Google Shape;649;p18" title="download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2975775" y="1284577"/>
            <a:ext cx="259800" cy="25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0" name="Google Shape;650;p18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0472075" y="6294275"/>
            <a:ext cx="332100" cy="332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51" name="Google Shape;651;p18"/>
          <p:cNvGrpSpPr/>
          <p:nvPr/>
        </p:nvGrpSpPr>
        <p:grpSpPr>
          <a:xfrm rot="-7747678">
            <a:off x="6731768" y="2298973"/>
            <a:ext cx="917135" cy="927853"/>
            <a:chOff x="5893568" y="3081812"/>
            <a:chExt cx="1184774" cy="1198522"/>
          </a:xfrm>
        </p:grpSpPr>
        <p:grpSp>
          <p:nvGrpSpPr>
            <p:cNvPr id="652" name="Google Shape;652;p18"/>
            <p:cNvGrpSpPr/>
            <p:nvPr/>
          </p:nvGrpSpPr>
          <p:grpSpPr>
            <a:xfrm rot="-2553858">
              <a:off x="6121452" y="3202192"/>
              <a:ext cx="729006" cy="957763"/>
              <a:chOff x="6057691" y="2542624"/>
              <a:chExt cx="729025" cy="957787"/>
            </a:xfrm>
          </p:grpSpPr>
          <p:cxnSp>
            <p:nvCxnSpPr>
              <p:cNvPr id="653" name="Google Shape;653;p18"/>
              <p:cNvCxnSpPr/>
              <p:nvPr/>
            </p:nvCxnSpPr>
            <p:spPr>
              <a:xfrm flipH="1" rot="-8246357">
                <a:off x="6228918" y="2725045"/>
                <a:ext cx="588139" cy="125058"/>
              </a:xfrm>
              <a:prstGeom prst="straightConnector1">
                <a:avLst/>
              </a:prstGeom>
              <a:noFill/>
              <a:ln cap="flat" cmpd="sng" w="22125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54" name="Google Shape;654;p18"/>
              <p:cNvCxnSpPr/>
              <p:nvPr/>
            </p:nvCxnSpPr>
            <p:spPr>
              <a:xfrm flipH="1" rot="10800000">
                <a:off x="6097647" y="3383711"/>
                <a:ext cx="594300" cy="116700"/>
              </a:xfrm>
              <a:prstGeom prst="straightConnector1">
                <a:avLst/>
              </a:prstGeom>
              <a:noFill/>
              <a:ln cap="flat" cmpd="sng" w="22125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55" name="Google Shape;655;p18"/>
              <p:cNvSpPr/>
              <p:nvPr/>
            </p:nvSpPr>
            <p:spPr>
              <a:xfrm>
                <a:off x="6057691" y="2616591"/>
                <a:ext cx="202398" cy="870834"/>
              </a:xfrm>
              <a:custGeom>
                <a:rect b="b" l="l" r="r" t="t"/>
                <a:pathLst>
                  <a:path extrusionOk="0" h="29905" w="4740">
                    <a:moveTo>
                      <a:pt x="1229" y="29905"/>
                    </a:moveTo>
                    <a:cubicBezTo>
                      <a:pt x="-1533" y="20256"/>
                      <a:pt x="780" y="9222"/>
                      <a:pt x="4741" y="0"/>
                    </a:cubicBezTo>
                  </a:path>
                </a:pathLst>
              </a:custGeom>
              <a:noFill/>
              <a:ln cap="flat" cmpd="sng" w="22125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656" name="Google Shape;656;p18"/>
              <p:cNvSpPr/>
              <p:nvPr/>
            </p:nvSpPr>
            <p:spPr>
              <a:xfrm>
                <a:off x="6679189" y="2926345"/>
                <a:ext cx="107527" cy="463154"/>
              </a:xfrm>
              <a:custGeom>
                <a:rect b="b" l="l" r="r" t="t"/>
                <a:pathLst>
                  <a:path extrusionOk="0" h="29905" w="4740">
                    <a:moveTo>
                      <a:pt x="1229" y="29905"/>
                    </a:moveTo>
                    <a:cubicBezTo>
                      <a:pt x="-1533" y="20256"/>
                      <a:pt x="780" y="9222"/>
                      <a:pt x="4741" y="0"/>
                    </a:cubicBezTo>
                  </a:path>
                </a:pathLst>
              </a:custGeom>
              <a:noFill/>
              <a:ln cap="flat" cmpd="sng" w="22125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cxnSp>
          <p:nvCxnSpPr>
            <p:cNvPr id="657" name="Google Shape;657;p18"/>
            <p:cNvCxnSpPr/>
            <p:nvPr/>
          </p:nvCxnSpPr>
          <p:spPr>
            <a:xfrm flipH="1" rot="10800000">
              <a:off x="6147225" y="3487550"/>
              <a:ext cx="109200" cy="1746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8" name="Google Shape;658;p18"/>
            <p:cNvCxnSpPr/>
            <p:nvPr/>
          </p:nvCxnSpPr>
          <p:spPr>
            <a:xfrm flipH="1" rot="10800000">
              <a:off x="6173600" y="3466000"/>
              <a:ext cx="183000" cy="2856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59" name="Google Shape;659;p18"/>
            <p:cNvCxnSpPr/>
            <p:nvPr/>
          </p:nvCxnSpPr>
          <p:spPr>
            <a:xfrm flipH="1" rot="10800000">
              <a:off x="6209650" y="3456063"/>
              <a:ext cx="228600" cy="3618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0" name="Google Shape;660;p18"/>
            <p:cNvCxnSpPr/>
            <p:nvPr/>
          </p:nvCxnSpPr>
          <p:spPr>
            <a:xfrm flipH="1" rot="10800000">
              <a:off x="6241950" y="3433763"/>
              <a:ext cx="283500" cy="4476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1" name="Google Shape;661;p18"/>
            <p:cNvCxnSpPr/>
            <p:nvPr/>
          </p:nvCxnSpPr>
          <p:spPr>
            <a:xfrm flipH="1" rot="10800000">
              <a:off x="6283850" y="3414388"/>
              <a:ext cx="331200" cy="5382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2" name="Google Shape;662;p18"/>
            <p:cNvCxnSpPr/>
            <p:nvPr/>
          </p:nvCxnSpPr>
          <p:spPr>
            <a:xfrm flipH="1" rot="10800000">
              <a:off x="6322550" y="3425213"/>
              <a:ext cx="367500" cy="5910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3" name="Google Shape;663;p18"/>
            <p:cNvCxnSpPr/>
            <p:nvPr/>
          </p:nvCxnSpPr>
          <p:spPr>
            <a:xfrm flipH="1" rot="10800000">
              <a:off x="6367875" y="3522238"/>
              <a:ext cx="351600" cy="5487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4" name="Google Shape;664;p18"/>
            <p:cNvCxnSpPr/>
            <p:nvPr/>
          </p:nvCxnSpPr>
          <p:spPr>
            <a:xfrm flipH="1" rot="10800000">
              <a:off x="6414850" y="3600463"/>
              <a:ext cx="346500" cy="5229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5" name="Google Shape;665;p18"/>
            <p:cNvCxnSpPr/>
            <p:nvPr/>
          </p:nvCxnSpPr>
          <p:spPr>
            <a:xfrm flipH="1" rot="10800000">
              <a:off x="6474550" y="3673138"/>
              <a:ext cx="328800" cy="4863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66" name="Google Shape;666;p18"/>
            <p:cNvCxnSpPr/>
            <p:nvPr/>
          </p:nvCxnSpPr>
          <p:spPr>
            <a:xfrm flipH="1" rot="10800000">
              <a:off x="6525450" y="3712838"/>
              <a:ext cx="328800" cy="4863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667" name="Google Shape;667;p18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5722163" y="3525580"/>
            <a:ext cx="259800" cy="38889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68" name="Google Shape;668;p18"/>
          <p:cNvGrpSpPr/>
          <p:nvPr/>
        </p:nvGrpSpPr>
        <p:grpSpPr>
          <a:xfrm>
            <a:off x="7438542" y="1829965"/>
            <a:ext cx="1435621" cy="519947"/>
            <a:chOff x="8548175" y="2668550"/>
            <a:chExt cx="1435621" cy="519947"/>
          </a:xfrm>
        </p:grpSpPr>
        <p:sp>
          <p:nvSpPr>
            <p:cNvPr id="669" name="Google Shape;669;p18"/>
            <p:cNvSpPr txBox="1"/>
            <p:nvPr/>
          </p:nvSpPr>
          <p:spPr>
            <a:xfrm>
              <a:off x="8548175" y="2668550"/>
              <a:ext cx="672300" cy="29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60">
                  <a:solidFill>
                    <a:schemeClr val="dk2"/>
                  </a:solidFill>
                </a:rPr>
                <a:t>Legend</a:t>
              </a:r>
              <a:endParaRPr b="1" sz="860">
                <a:solidFill>
                  <a:schemeClr val="dk2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0">
                <a:solidFill>
                  <a:schemeClr val="dk2"/>
                </a:solidFill>
              </a:endParaRPr>
            </a:p>
          </p:txBody>
        </p:sp>
        <p:sp>
          <p:nvSpPr>
            <p:cNvPr id="670" name="Google Shape;670;p18"/>
            <p:cNvSpPr/>
            <p:nvPr/>
          </p:nvSpPr>
          <p:spPr>
            <a:xfrm>
              <a:off x="8698150" y="2959475"/>
              <a:ext cx="146700" cy="141900"/>
            </a:xfrm>
            <a:prstGeom prst="rect">
              <a:avLst/>
            </a:prstGeom>
            <a:noFill/>
            <a:ln cap="flat" cmpd="sng" w="9525">
              <a:solidFill>
                <a:srgbClr val="93C4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18"/>
            <p:cNvSpPr txBox="1"/>
            <p:nvPr/>
          </p:nvSpPr>
          <p:spPr>
            <a:xfrm>
              <a:off x="8795496" y="2871397"/>
              <a:ext cx="1188300" cy="3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60">
                  <a:solidFill>
                    <a:schemeClr val="dk2"/>
                  </a:solidFill>
                </a:rPr>
                <a:t>Reused material</a:t>
              </a:r>
              <a:endParaRPr sz="860">
                <a:solidFill>
                  <a:schemeClr val="dk2"/>
                </a:solidFill>
              </a:endParaRPr>
            </a:p>
          </p:txBody>
        </p:sp>
        <p:cxnSp>
          <p:nvCxnSpPr>
            <p:cNvPr id="672" name="Google Shape;672;p18"/>
            <p:cNvCxnSpPr>
              <a:stCxn id="670" idx="1"/>
            </p:cNvCxnSpPr>
            <p:nvPr/>
          </p:nvCxnSpPr>
          <p:spPr>
            <a:xfrm flipH="1" rot="10800000">
              <a:off x="8698150" y="2959625"/>
              <a:ext cx="73500" cy="70800"/>
            </a:xfrm>
            <a:prstGeom prst="straightConnector1">
              <a:avLst/>
            </a:prstGeom>
            <a:noFill/>
            <a:ln cap="flat" cmpd="sng" w="9525">
              <a:solidFill>
                <a:srgbClr val="93C47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3" name="Google Shape;673;p18"/>
            <p:cNvCxnSpPr/>
            <p:nvPr/>
          </p:nvCxnSpPr>
          <p:spPr>
            <a:xfrm flipH="1" rot="10800000">
              <a:off x="8698150" y="2963225"/>
              <a:ext cx="146400" cy="138000"/>
            </a:xfrm>
            <a:prstGeom prst="straightConnector1">
              <a:avLst/>
            </a:prstGeom>
            <a:noFill/>
            <a:ln cap="flat" cmpd="sng" w="9525">
              <a:solidFill>
                <a:srgbClr val="93C47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74" name="Google Shape;674;p18"/>
            <p:cNvCxnSpPr/>
            <p:nvPr/>
          </p:nvCxnSpPr>
          <p:spPr>
            <a:xfrm flipH="1" rot="10800000">
              <a:off x="8771650" y="3030425"/>
              <a:ext cx="73500" cy="70800"/>
            </a:xfrm>
            <a:prstGeom prst="straightConnector1">
              <a:avLst/>
            </a:prstGeom>
            <a:noFill/>
            <a:ln cap="flat" cmpd="sng" w="9525">
              <a:solidFill>
                <a:srgbClr val="93C47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675" name="Google Shape;675;p18" title="Chart"/>
          <p:cNvPicPr preferRelativeResize="0"/>
          <p:nvPr/>
        </p:nvPicPr>
        <p:blipFill rotWithShape="1">
          <a:blip r:embed="rId14">
            <a:alphaModFix/>
          </a:blip>
          <a:srcRect b="0" l="17945" r="0" t="0"/>
          <a:stretch/>
        </p:blipFill>
        <p:spPr>
          <a:xfrm>
            <a:off x="7521449" y="6050600"/>
            <a:ext cx="1076499" cy="811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676" name="Google Shape;676;p18" title="Chart"/>
          <p:cNvPicPr preferRelativeResize="0"/>
          <p:nvPr/>
        </p:nvPicPr>
        <p:blipFill rotWithShape="1">
          <a:blip r:embed="rId15">
            <a:alphaModFix/>
          </a:blip>
          <a:srcRect b="0" l="17945" r="0" t="0"/>
          <a:stretch/>
        </p:blipFill>
        <p:spPr>
          <a:xfrm>
            <a:off x="7521449" y="2836275"/>
            <a:ext cx="1076499" cy="811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0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19"/>
          <p:cNvSpPr/>
          <p:nvPr/>
        </p:nvSpPr>
        <p:spPr>
          <a:xfrm>
            <a:off x="-3678" y="-1570"/>
            <a:ext cx="13725900" cy="811200"/>
          </a:xfrm>
          <a:prstGeom prst="rect">
            <a:avLst/>
          </a:prstGeom>
          <a:solidFill>
            <a:srgbClr val="EDF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682" name="Google Shape;68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400" y="140109"/>
            <a:ext cx="672433" cy="510249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19"/>
          <p:cNvSpPr txBox="1"/>
          <p:nvPr>
            <p:ph idx="1" type="subTitle"/>
          </p:nvPr>
        </p:nvSpPr>
        <p:spPr>
          <a:xfrm>
            <a:off x="761825" y="140088"/>
            <a:ext cx="12825300" cy="510300"/>
          </a:xfrm>
          <a:prstGeom prst="rect">
            <a:avLst/>
          </a:prstGeom>
          <a:ln>
            <a:noFill/>
          </a:ln>
        </p:spPr>
        <p:txBody>
          <a:bodyPr anchorCtr="0" anchor="t" bIns="140175" lIns="140175" spcFirstLastPara="1" rIns="140175" wrap="square" tIns="140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Merriweather"/>
                <a:ea typeface="Merriweather"/>
                <a:cs typeface="Merriweather"/>
                <a:sym typeface="Merriweather"/>
              </a:rPr>
              <a:t>Building Supply chain Material Analysis and Risk Trade-off Tool (BuildSMART v1)</a:t>
            </a:r>
            <a:r>
              <a:rPr b="1" lang="en" sz="1700"/>
              <a:t>           </a:t>
            </a:r>
            <a:r>
              <a:rPr b="1" lang="en" sz="1700">
                <a:solidFill>
                  <a:srgbClr val="999999"/>
                </a:solidFill>
              </a:rPr>
              <a:t>Main Page         </a:t>
            </a:r>
            <a:r>
              <a:rPr b="1" lang="en" sz="1700">
                <a:solidFill>
                  <a:srgbClr val="999999"/>
                </a:solidFill>
              </a:rPr>
              <a:t>About</a:t>
            </a:r>
            <a:r>
              <a:rPr b="1" lang="en" sz="1700">
                <a:solidFill>
                  <a:srgbClr val="999999"/>
                </a:solidFill>
              </a:rPr>
              <a:t>          Contact</a:t>
            </a:r>
            <a:endParaRPr b="1" sz="1700">
              <a:solidFill>
                <a:srgbClr val="999999"/>
              </a:solidFill>
            </a:endParaRPr>
          </a:p>
        </p:txBody>
      </p:sp>
      <p:pic>
        <p:nvPicPr>
          <p:cNvPr id="684" name="Google Shape;684;p19"/>
          <p:cNvPicPr preferRelativeResize="0"/>
          <p:nvPr/>
        </p:nvPicPr>
        <p:blipFill rotWithShape="1">
          <a:blip r:embed="rId5">
            <a:alphaModFix/>
          </a:blip>
          <a:srcRect b="0" l="11316" r="61869" t="0"/>
          <a:stretch/>
        </p:blipFill>
        <p:spPr>
          <a:xfrm>
            <a:off x="9978350" y="815500"/>
            <a:ext cx="3608776" cy="7289701"/>
          </a:xfrm>
          <a:prstGeom prst="rect">
            <a:avLst/>
          </a:prstGeom>
          <a:noFill/>
          <a:ln>
            <a:noFill/>
          </a:ln>
        </p:spPr>
      </p:pic>
      <p:sp>
        <p:nvSpPr>
          <p:cNvPr id="685" name="Google Shape;685;p19"/>
          <p:cNvSpPr/>
          <p:nvPr/>
        </p:nvSpPr>
        <p:spPr>
          <a:xfrm>
            <a:off x="129000" y="815500"/>
            <a:ext cx="13458000" cy="72897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0175" lIns="140175" spcFirstLastPara="1" rIns="140175" wrap="square" tIns="14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100"/>
          </a:p>
        </p:txBody>
      </p:sp>
      <p:sp>
        <p:nvSpPr>
          <p:cNvPr id="686" name="Google Shape;686;p19"/>
          <p:cNvSpPr txBox="1"/>
          <p:nvPr>
            <p:ph type="ctrTitle"/>
          </p:nvPr>
        </p:nvSpPr>
        <p:spPr>
          <a:xfrm rot="-5400000">
            <a:off x="-4744350" y="3581200"/>
            <a:ext cx="8572500" cy="916200"/>
          </a:xfrm>
          <a:prstGeom prst="rect">
            <a:avLst/>
          </a:prstGeom>
        </p:spPr>
        <p:txBody>
          <a:bodyPr anchorCtr="0" anchor="b" bIns="140175" lIns="140175" spcFirstLastPara="1" rIns="140175" wrap="square" tIns="14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100"/>
              <a:t>SANKEY DIAGRAM</a:t>
            </a:r>
            <a:endParaRPr sz="4100"/>
          </a:p>
        </p:txBody>
      </p:sp>
      <p:cxnSp>
        <p:nvCxnSpPr>
          <p:cNvPr id="687" name="Google Shape;687;p19"/>
          <p:cNvCxnSpPr>
            <a:stCxn id="688" idx="1"/>
          </p:cNvCxnSpPr>
          <p:nvPr/>
        </p:nvCxnSpPr>
        <p:spPr>
          <a:xfrm>
            <a:off x="1921100" y="232040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89" name="Google Shape;689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233400" y="5314800"/>
            <a:ext cx="332100" cy="332100"/>
          </a:xfrm>
          <a:prstGeom prst="rect">
            <a:avLst/>
          </a:prstGeom>
          <a:noFill/>
          <a:ln>
            <a:noFill/>
          </a:ln>
        </p:spPr>
      </p:pic>
      <p:sp>
        <p:nvSpPr>
          <p:cNvPr id="690" name="Google Shape;690;p19"/>
          <p:cNvSpPr/>
          <p:nvPr/>
        </p:nvSpPr>
        <p:spPr>
          <a:xfrm>
            <a:off x="322450" y="1045650"/>
            <a:ext cx="3608700" cy="43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0175" lIns="140175" spcFirstLastPara="1" rIns="140175" wrap="square" tIns="140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999999"/>
                </a:solidFill>
              </a:rPr>
              <a:t>       Ventura County, CA</a:t>
            </a:r>
            <a:endParaRPr sz="1500">
              <a:solidFill>
                <a:srgbClr val="999999"/>
              </a:solidFill>
            </a:endParaRPr>
          </a:p>
        </p:txBody>
      </p:sp>
      <p:pic>
        <p:nvPicPr>
          <p:cNvPr id="691" name="Google Shape;691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70625" y="1067100"/>
            <a:ext cx="388875" cy="38887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692" name="Google Shape;692;p19"/>
          <p:cNvSpPr/>
          <p:nvPr/>
        </p:nvSpPr>
        <p:spPr>
          <a:xfrm>
            <a:off x="2459334" y="1900354"/>
            <a:ext cx="167100" cy="101400"/>
          </a:xfrm>
          <a:prstGeom prst="triangle">
            <a:avLst>
              <a:gd fmla="val 50000" name="adj"/>
            </a:avLst>
          </a:prstGeom>
          <a:solidFill>
            <a:srgbClr val="B7B7B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0175" lIns="140175" spcFirstLastPara="1" rIns="140175" wrap="square" tIns="14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grpSp>
        <p:nvGrpSpPr>
          <p:cNvPr id="693" name="Google Shape;693;p19"/>
          <p:cNvGrpSpPr/>
          <p:nvPr/>
        </p:nvGrpSpPr>
        <p:grpSpPr>
          <a:xfrm>
            <a:off x="309438" y="1697506"/>
            <a:ext cx="4170545" cy="4407388"/>
            <a:chOff x="309438" y="1697506"/>
            <a:chExt cx="4170545" cy="4407388"/>
          </a:xfrm>
        </p:grpSpPr>
        <p:grpSp>
          <p:nvGrpSpPr>
            <p:cNvPr id="694" name="Google Shape;694;p19"/>
            <p:cNvGrpSpPr/>
            <p:nvPr/>
          </p:nvGrpSpPr>
          <p:grpSpPr>
            <a:xfrm>
              <a:off x="313763" y="4853763"/>
              <a:ext cx="4161881" cy="524131"/>
              <a:chOff x="313750" y="2364051"/>
              <a:chExt cx="4161881" cy="524131"/>
            </a:xfrm>
          </p:grpSpPr>
          <p:grpSp>
            <p:nvGrpSpPr>
              <p:cNvPr id="695" name="Google Shape;695;p19"/>
              <p:cNvGrpSpPr/>
              <p:nvPr/>
            </p:nvGrpSpPr>
            <p:grpSpPr>
              <a:xfrm>
                <a:off x="313788" y="2364051"/>
                <a:ext cx="4161843" cy="524131"/>
                <a:chOff x="314635" y="1496385"/>
                <a:chExt cx="2462192" cy="377100"/>
              </a:xfrm>
            </p:grpSpPr>
            <p:sp>
              <p:nvSpPr>
                <p:cNvPr id="696" name="Google Shape;696;p19"/>
                <p:cNvSpPr/>
                <p:nvPr/>
              </p:nvSpPr>
              <p:spPr>
                <a:xfrm>
                  <a:off x="314635" y="1532085"/>
                  <a:ext cx="2135100" cy="341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194825" lIns="194825" spcFirstLastPara="1" rIns="194825" wrap="square" tIns="1948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250">
                    <a:solidFill>
                      <a:schemeClr val="dk1"/>
                    </a:solidFill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250">
                    <a:solidFill>
                      <a:schemeClr val="dk1"/>
                    </a:solidFill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250">
                    <a:solidFill>
                      <a:schemeClr val="dk1"/>
                    </a:solidFill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250">
                    <a:solidFill>
                      <a:schemeClr val="dk1"/>
                    </a:solidFill>
                  </a:endParaRPr>
                </a:p>
              </p:txBody>
            </p:sp>
            <p:grpSp>
              <p:nvGrpSpPr>
                <p:cNvPr id="697" name="Google Shape;697;p19"/>
                <p:cNvGrpSpPr/>
                <p:nvPr/>
              </p:nvGrpSpPr>
              <p:grpSpPr>
                <a:xfrm>
                  <a:off x="1905750" y="1496385"/>
                  <a:ext cx="871077" cy="317400"/>
                  <a:chOff x="1905813" y="1496535"/>
                  <a:chExt cx="871077" cy="317400"/>
                </a:xfrm>
              </p:grpSpPr>
              <p:sp>
                <p:nvSpPr>
                  <p:cNvPr id="698" name="Google Shape;698;p19"/>
                  <p:cNvSpPr/>
                  <p:nvPr/>
                </p:nvSpPr>
                <p:spPr>
                  <a:xfrm rot="-10800000">
                    <a:off x="1905813" y="1608215"/>
                    <a:ext cx="421893" cy="181722"/>
                  </a:xfrm>
                  <a:prstGeom prst="flowChartMagneticDrum">
                    <a:avLst/>
                  </a:prstGeom>
                  <a:solidFill>
                    <a:srgbClr val="CCCCCC"/>
                  </a:solidFill>
                  <a:ln cap="flat" cmpd="sng" w="13250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194825" lIns="194825" spcFirstLastPara="1" rIns="194825" wrap="square" tIns="1948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918"/>
                  </a:p>
                </p:txBody>
              </p:sp>
              <p:sp>
                <p:nvSpPr>
                  <p:cNvPr id="699" name="Google Shape;699;p19"/>
                  <p:cNvSpPr/>
                  <p:nvPr/>
                </p:nvSpPr>
                <p:spPr>
                  <a:xfrm>
                    <a:off x="1905813" y="1605800"/>
                    <a:ext cx="153600" cy="181800"/>
                  </a:xfrm>
                  <a:prstGeom prst="ellipse">
                    <a:avLst/>
                  </a:prstGeom>
                  <a:solidFill>
                    <a:schemeClr val="lt1"/>
                  </a:solidFill>
                  <a:ln cap="flat" cmpd="sng" w="13250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194825" lIns="194825" spcFirstLastPara="1" rIns="194825" wrap="square" tIns="1948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918"/>
                  </a:p>
                </p:txBody>
              </p:sp>
              <p:sp>
                <p:nvSpPr>
                  <p:cNvPr id="700" name="Google Shape;700;p19"/>
                  <p:cNvSpPr txBox="1"/>
                  <p:nvPr/>
                </p:nvSpPr>
                <p:spPr>
                  <a:xfrm>
                    <a:off x="1960890" y="1496535"/>
                    <a:ext cx="816000" cy="317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194825" lIns="194825" spcFirstLastPara="1" rIns="194825" wrap="square" tIns="1948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1250">
                        <a:solidFill>
                          <a:schemeClr val="lt1"/>
                        </a:solidFill>
                      </a:rPr>
                      <a:t>Off</a:t>
                    </a:r>
                    <a:endParaRPr sz="1250">
                      <a:solidFill>
                        <a:schemeClr val="lt1"/>
                      </a:solidFill>
                    </a:endParaRPr>
                  </a:p>
                </p:txBody>
              </p:sp>
            </p:grpSp>
          </p:grpSp>
          <p:sp>
            <p:nvSpPr>
              <p:cNvPr id="701" name="Google Shape;701;p19"/>
              <p:cNvSpPr txBox="1"/>
              <p:nvPr/>
            </p:nvSpPr>
            <p:spPr>
              <a:xfrm>
                <a:off x="313750" y="2449250"/>
                <a:ext cx="3000000" cy="38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chemeClr val="dk1"/>
                    </a:solidFill>
                  </a:rPr>
                  <a:t>Material Availability Scenarios</a:t>
                </a:r>
                <a:endParaRPr b="1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702" name="Google Shape;702;p19"/>
            <p:cNvGrpSpPr/>
            <p:nvPr/>
          </p:nvGrpSpPr>
          <p:grpSpPr>
            <a:xfrm>
              <a:off x="309438" y="5570271"/>
              <a:ext cx="4170545" cy="534623"/>
              <a:chOff x="313750" y="2353562"/>
              <a:chExt cx="4170545" cy="534623"/>
            </a:xfrm>
          </p:grpSpPr>
          <p:grpSp>
            <p:nvGrpSpPr>
              <p:cNvPr id="703" name="Google Shape;703;p19"/>
              <p:cNvGrpSpPr/>
              <p:nvPr/>
            </p:nvGrpSpPr>
            <p:grpSpPr>
              <a:xfrm>
                <a:off x="313775" y="2353562"/>
                <a:ext cx="4170520" cy="534623"/>
                <a:chOff x="314627" y="1488838"/>
                <a:chExt cx="2467325" cy="384649"/>
              </a:xfrm>
            </p:grpSpPr>
            <p:sp>
              <p:nvSpPr>
                <p:cNvPr id="704" name="Google Shape;704;p19"/>
                <p:cNvSpPr/>
                <p:nvPr/>
              </p:nvSpPr>
              <p:spPr>
                <a:xfrm>
                  <a:off x="314627" y="1532087"/>
                  <a:ext cx="2135100" cy="341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194825" lIns="194825" spcFirstLastPara="1" rIns="194825" wrap="square" tIns="1948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250">
                    <a:solidFill>
                      <a:schemeClr val="dk1"/>
                    </a:solidFill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250">
                    <a:solidFill>
                      <a:schemeClr val="dk1"/>
                    </a:solidFill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250">
                    <a:solidFill>
                      <a:schemeClr val="dk1"/>
                    </a:solidFill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250">
                    <a:solidFill>
                      <a:schemeClr val="dk1"/>
                    </a:solidFill>
                  </a:endParaRPr>
                </a:p>
              </p:txBody>
            </p:sp>
            <p:grpSp>
              <p:nvGrpSpPr>
                <p:cNvPr id="705" name="Google Shape;705;p19"/>
                <p:cNvGrpSpPr/>
                <p:nvPr/>
              </p:nvGrpSpPr>
              <p:grpSpPr>
                <a:xfrm>
                  <a:off x="1905750" y="1488838"/>
                  <a:ext cx="876202" cy="317400"/>
                  <a:chOff x="1905813" y="1488988"/>
                  <a:chExt cx="876202" cy="317400"/>
                </a:xfrm>
              </p:grpSpPr>
              <p:sp>
                <p:nvSpPr>
                  <p:cNvPr id="706" name="Google Shape;706;p19"/>
                  <p:cNvSpPr/>
                  <p:nvPr/>
                </p:nvSpPr>
                <p:spPr>
                  <a:xfrm rot="-10800000">
                    <a:off x="1905813" y="1608215"/>
                    <a:ext cx="421893" cy="181722"/>
                  </a:xfrm>
                  <a:prstGeom prst="flowChartMagneticDrum">
                    <a:avLst/>
                  </a:prstGeom>
                  <a:solidFill>
                    <a:srgbClr val="CCCCCC"/>
                  </a:solidFill>
                  <a:ln cap="flat" cmpd="sng" w="13250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194825" lIns="194825" spcFirstLastPara="1" rIns="194825" wrap="square" tIns="1948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918"/>
                  </a:p>
                </p:txBody>
              </p:sp>
              <p:sp>
                <p:nvSpPr>
                  <p:cNvPr id="707" name="Google Shape;707;p19"/>
                  <p:cNvSpPr/>
                  <p:nvPr/>
                </p:nvSpPr>
                <p:spPr>
                  <a:xfrm>
                    <a:off x="1905813" y="1605800"/>
                    <a:ext cx="153600" cy="181800"/>
                  </a:xfrm>
                  <a:prstGeom prst="ellipse">
                    <a:avLst/>
                  </a:prstGeom>
                  <a:solidFill>
                    <a:schemeClr val="lt1"/>
                  </a:solidFill>
                  <a:ln cap="flat" cmpd="sng" w="13250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194825" lIns="194825" spcFirstLastPara="1" rIns="194825" wrap="square" tIns="1948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918"/>
                  </a:p>
                </p:txBody>
              </p:sp>
              <p:sp>
                <p:nvSpPr>
                  <p:cNvPr id="708" name="Google Shape;708;p19"/>
                  <p:cNvSpPr txBox="1"/>
                  <p:nvPr/>
                </p:nvSpPr>
                <p:spPr>
                  <a:xfrm>
                    <a:off x="1966015" y="1488988"/>
                    <a:ext cx="816000" cy="317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194825" lIns="194825" spcFirstLastPara="1" rIns="194825" wrap="square" tIns="1948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1250">
                        <a:solidFill>
                          <a:schemeClr val="lt1"/>
                        </a:solidFill>
                      </a:rPr>
                      <a:t>Off</a:t>
                    </a:r>
                    <a:endParaRPr sz="1250">
                      <a:solidFill>
                        <a:schemeClr val="lt1"/>
                      </a:solidFill>
                    </a:endParaRPr>
                  </a:p>
                </p:txBody>
              </p:sp>
            </p:grpSp>
          </p:grpSp>
          <p:sp>
            <p:nvSpPr>
              <p:cNvPr id="709" name="Google Shape;709;p19"/>
              <p:cNvSpPr txBox="1"/>
              <p:nvPr/>
            </p:nvSpPr>
            <p:spPr>
              <a:xfrm>
                <a:off x="313750" y="2449250"/>
                <a:ext cx="30000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solidFill>
                      <a:schemeClr val="dk1"/>
                    </a:solidFill>
                  </a:rPr>
                  <a:t>Alternative Materials</a:t>
                </a:r>
                <a:endParaRPr b="1">
                  <a:solidFill>
                    <a:schemeClr val="dk1"/>
                  </a:solidFill>
                </a:endParaRPr>
              </a:p>
            </p:txBody>
          </p:sp>
        </p:grpSp>
        <p:sp>
          <p:nvSpPr>
            <p:cNvPr id="710" name="Google Shape;710;p19"/>
            <p:cNvSpPr/>
            <p:nvPr/>
          </p:nvSpPr>
          <p:spPr>
            <a:xfrm>
              <a:off x="319850" y="1697506"/>
              <a:ext cx="3608700" cy="29298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40175" lIns="140175" spcFirstLastPara="1" rIns="140175" wrap="square" tIns="1401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Building Specifications</a:t>
              </a:r>
              <a:endParaRPr b="1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666666"/>
                  </a:solidFill>
                </a:rPr>
                <a:t>         </a:t>
              </a:r>
              <a:endParaRPr sz="13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666666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1300">
                <a:solidFill>
                  <a:srgbClr val="666666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13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13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666666"/>
                </a:solidFill>
              </a:endParaRPr>
            </a:p>
          </p:txBody>
        </p:sp>
        <p:sp>
          <p:nvSpPr>
            <p:cNvPr id="711" name="Google Shape;711;p19"/>
            <p:cNvSpPr/>
            <p:nvPr/>
          </p:nvSpPr>
          <p:spPr>
            <a:xfrm>
              <a:off x="501850" y="4122119"/>
              <a:ext cx="3249900" cy="332100"/>
            </a:xfrm>
            <a:prstGeom prst="roundRect">
              <a:avLst>
                <a:gd fmla="val 16667" name="adj"/>
              </a:avLst>
            </a:prstGeom>
            <a:solidFill>
              <a:srgbClr val="AAD3E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300">
                  <a:solidFill>
                    <a:srgbClr val="666666"/>
                  </a:solidFill>
                </a:rPr>
                <a:t>Estimate material demands and cost</a:t>
              </a:r>
              <a:endParaRPr/>
            </a:p>
          </p:txBody>
        </p:sp>
        <p:sp>
          <p:nvSpPr>
            <p:cNvPr id="712" name="Google Shape;712;p19"/>
            <p:cNvSpPr/>
            <p:nvPr/>
          </p:nvSpPr>
          <p:spPr>
            <a:xfrm>
              <a:off x="2975093" y="2085491"/>
              <a:ext cx="738600" cy="25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666666"/>
                  </a:solidFill>
                </a:rPr>
                <a:t>Reuse </a:t>
              </a:r>
              <a:endParaRPr sz="900">
                <a:solidFill>
                  <a:srgbClr val="666666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666666"/>
                  </a:solidFill>
                </a:rPr>
                <a:t>materials?</a:t>
              </a:r>
              <a:endParaRPr sz="900">
                <a:solidFill>
                  <a:srgbClr val="666666"/>
                </a:solidFill>
              </a:endParaRPr>
            </a:p>
          </p:txBody>
        </p:sp>
        <p:grpSp>
          <p:nvGrpSpPr>
            <p:cNvPr id="713" name="Google Shape;713;p19"/>
            <p:cNvGrpSpPr/>
            <p:nvPr/>
          </p:nvGrpSpPr>
          <p:grpSpPr>
            <a:xfrm>
              <a:off x="697213" y="2405891"/>
              <a:ext cx="3106838" cy="610955"/>
              <a:chOff x="697213" y="2331245"/>
              <a:chExt cx="3106838" cy="610955"/>
            </a:xfrm>
          </p:grpSpPr>
          <p:grpSp>
            <p:nvGrpSpPr>
              <p:cNvPr id="714" name="Google Shape;714;p19"/>
              <p:cNvGrpSpPr/>
              <p:nvPr/>
            </p:nvGrpSpPr>
            <p:grpSpPr>
              <a:xfrm>
                <a:off x="3587150" y="2696772"/>
                <a:ext cx="216900" cy="218100"/>
                <a:chOff x="3592625" y="2190625"/>
                <a:chExt cx="216900" cy="218100"/>
              </a:xfrm>
            </p:grpSpPr>
            <p:cxnSp>
              <p:nvCxnSpPr>
                <p:cNvPr id="715" name="Google Shape;715;p19"/>
                <p:cNvCxnSpPr/>
                <p:nvPr/>
              </p:nvCxnSpPr>
              <p:spPr>
                <a:xfrm flipH="1">
                  <a:off x="3700925" y="2190625"/>
                  <a:ext cx="300" cy="218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16" name="Google Shape;716;p19"/>
                <p:cNvCxnSpPr/>
                <p:nvPr/>
              </p:nvCxnSpPr>
              <p:spPr>
                <a:xfrm>
                  <a:off x="3592625" y="2297875"/>
                  <a:ext cx="216900" cy="36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717" name="Google Shape;717;p19"/>
              <p:cNvSpPr/>
              <p:nvPr/>
            </p:nvSpPr>
            <p:spPr>
              <a:xfrm>
                <a:off x="697213" y="2331250"/>
                <a:ext cx="1276800" cy="2556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666666"/>
                    </a:solidFill>
                  </a:rPr>
                  <a:t>Health services</a:t>
                </a:r>
                <a:endParaRPr sz="1000">
                  <a:solidFill>
                    <a:srgbClr val="666666"/>
                  </a:solidFill>
                </a:endParaRPr>
              </a:p>
            </p:txBody>
          </p:sp>
          <p:sp>
            <p:nvSpPr>
              <p:cNvPr id="718" name="Google Shape;718;p19"/>
              <p:cNvSpPr/>
              <p:nvPr/>
            </p:nvSpPr>
            <p:spPr>
              <a:xfrm>
                <a:off x="2041578" y="2331281"/>
                <a:ext cx="1002600" cy="2556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666666"/>
                    </a:solidFill>
                  </a:rPr>
                  <a:t>10,000</a:t>
                </a:r>
                <a:endParaRPr sz="1000">
                  <a:solidFill>
                    <a:srgbClr val="666666"/>
                  </a:solidFill>
                </a:endParaRPr>
              </a:p>
            </p:txBody>
          </p:sp>
          <p:sp>
            <p:nvSpPr>
              <p:cNvPr id="719" name="Google Shape;719;p19"/>
              <p:cNvSpPr/>
              <p:nvPr/>
            </p:nvSpPr>
            <p:spPr>
              <a:xfrm>
                <a:off x="3209350" y="2331245"/>
                <a:ext cx="259800" cy="2556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0" name="Google Shape;720;p19"/>
              <p:cNvSpPr/>
              <p:nvPr/>
            </p:nvSpPr>
            <p:spPr>
              <a:xfrm>
                <a:off x="697213" y="2686600"/>
                <a:ext cx="1276800" cy="2556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666666"/>
                    </a:solidFill>
                  </a:rPr>
                  <a:t>Laboratory</a:t>
                </a:r>
                <a:endParaRPr sz="1000">
                  <a:solidFill>
                    <a:srgbClr val="666666"/>
                  </a:solidFill>
                </a:endParaRPr>
              </a:p>
            </p:txBody>
          </p:sp>
          <p:sp>
            <p:nvSpPr>
              <p:cNvPr id="721" name="Google Shape;721;p19"/>
              <p:cNvSpPr/>
              <p:nvPr/>
            </p:nvSpPr>
            <p:spPr>
              <a:xfrm>
                <a:off x="2041578" y="2681179"/>
                <a:ext cx="1002600" cy="2556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666666"/>
                    </a:solidFill>
                  </a:rPr>
                  <a:t>20,000</a:t>
                </a:r>
                <a:endParaRPr sz="1000">
                  <a:solidFill>
                    <a:srgbClr val="666666"/>
                  </a:solidFill>
                </a:endParaRPr>
              </a:p>
            </p:txBody>
          </p:sp>
          <p:sp>
            <p:nvSpPr>
              <p:cNvPr id="722" name="Google Shape;722;p19"/>
              <p:cNvSpPr/>
              <p:nvPr/>
            </p:nvSpPr>
            <p:spPr>
              <a:xfrm>
                <a:off x="3209350" y="2678019"/>
                <a:ext cx="259800" cy="2556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3" name="Google Shape;723;p19"/>
              <p:cNvSpPr/>
              <p:nvPr/>
            </p:nvSpPr>
            <p:spPr>
              <a:xfrm>
                <a:off x="3255692" y="2597665"/>
                <a:ext cx="332096" cy="255602"/>
              </a:xfrm>
              <a:custGeom>
                <a:rect b="b" l="l" r="r" t="t"/>
                <a:pathLst>
                  <a:path extrusionOk="0" h="4557" w="7125">
                    <a:moveTo>
                      <a:pt x="0" y="4027"/>
                    </a:moveTo>
                    <a:cubicBezTo>
                      <a:pt x="1930" y="5955"/>
                      <a:pt x="5196" y="1929"/>
                      <a:pt x="7125" y="0"/>
                    </a:cubicBezTo>
                  </a:path>
                </a:pathLst>
              </a:cu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24" name="Google Shape;724;p19"/>
              <p:cNvSpPr/>
              <p:nvPr/>
            </p:nvSpPr>
            <p:spPr>
              <a:xfrm rot="10800000">
                <a:off x="1757782" y="2416703"/>
                <a:ext cx="167100" cy="101400"/>
              </a:xfrm>
              <a:prstGeom prst="triangle">
                <a:avLst>
                  <a:gd fmla="val 50000" name="adj"/>
                </a:avLst>
              </a:prstGeom>
              <a:solidFill>
                <a:srgbClr val="B7B7B7"/>
              </a:solidFill>
              <a:ln cap="flat" cmpd="sng" w="952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40175" lIns="140175" spcFirstLastPara="1" rIns="140175" wrap="square" tIns="1401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0"/>
              </a:p>
            </p:txBody>
          </p:sp>
          <p:sp>
            <p:nvSpPr>
              <p:cNvPr id="725" name="Google Shape;725;p19"/>
              <p:cNvSpPr/>
              <p:nvPr/>
            </p:nvSpPr>
            <p:spPr>
              <a:xfrm rot="10800000">
                <a:off x="1757782" y="2774054"/>
                <a:ext cx="167100" cy="101400"/>
              </a:xfrm>
              <a:prstGeom prst="triangle">
                <a:avLst>
                  <a:gd fmla="val 50000" name="adj"/>
                </a:avLst>
              </a:prstGeom>
              <a:solidFill>
                <a:srgbClr val="B7B7B7"/>
              </a:solidFill>
              <a:ln cap="flat" cmpd="sng" w="952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40175" lIns="140175" spcFirstLastPara="1" rIns="140175" wrap="square" tIns="1401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0"/>
              </a:p>
            </p:txBody>
          </p:sp>
        </p:grpSp>
        <p:sp>
          <p:nvSpPr>
            <p:cNvPr id="726" name="Google Shape;726;p19"/>
            <p:cNvSpPr/>
            <p:nvPr/>
          </p:nvSpPr>
          <p:spPr>
            <a:xfrm>
              <a:off x="370627" y="2085481"/>
              <a:ext cx="1469400" cy="25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200">
                  <a:solidFill>
                    <a:srgbClr val="666666"/>
                  </a:solidFill>
                </a:rPr>
                <a:t>New buildings</a:t>
              </a:r>
              <a:endParaRPr i="1" sz="1200">
                <a:solidFill>
                  <a:srgbClr val="666666"/>
                </a:solidFill>
              </a:endParaRPr>
            </a:p>
          </p:txBody>
        </p:sp>
        <p:sp>
          <p:nvSpPr>
            <p:cNvPr id="727" name="Google Shape;727;p19"/>
            <p:cNvSpPr/>
            <p:nvPr/>
          </p:nvSpPr>
          <p:spPr>
            <a:xfrm>
              <a:off x="370625" y="3350145"/>
              <a:ext cx="1785900" cy="25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200">
                  <a:solidFill>
                    <a:srgbClr val="666666"/>
                  </a:solidFill>
                </a:rPr>
                <a:t>Demolished buildings</a:t>
              </a:r>
              <a:endParaRPr i="1" sz="1200">
                <a:solidFill>
                  <a:srgbClr val="666666"/>
                </a:solidFill>
              </a:endParaRPr>
            </a:p>
          </p:txBody>
        </p:sp>
        <p:cxnSp>
          <p:nvCxnSpPr>
            <p:cNvPr id="728" name="Google Shape;728;p19"/>
            <p:cNvCxnSpPr/>
            <p:nvPr/>
          </p:nvCxnSpPr>
          <p:spPr>
            <a:xfrm>
              <a:off x="493000" y="3256804"/>
              <a:ext cx="3267600" cy="11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729" name="Google Shape;729;p19"/>
            <p:cNvGrpSpPr/>
            <p:nvPr/>
          </p:nvGrpSpPr>
          <p:grpSpPr>
            <a:xfrm>
              <a:off x="697217" y="3687384"/>
              <a:ext cx="2619425" cy="255631"/>
              <a:chOff x="697213" y="2331250"/>
              <a:chExt cx="2619425" cy="255631"/>
            </a:xfrm>
          </p:grpSpPr>
          <p:grpSp>
            <p:nvGrpSpPr>
              <p:cNvPr id="730" name="Google Shape;730;p19"/>
              <p:cNvGrpSpPr/>
              <p:nvPr/>
            </p:nvGrpSpPr>
            <p:grpSpPr>
              <a:xfrm>
                <a:off x="3099738" y="2352810"/>
                <a:ext cx="216900" cy="218100"/>
                <a:chOff x="3105213" y="1846663"/>
                <a:chExt cx="216900" cy="218100"/>
              </a:xfrm>
            </p:grpSpPr>
            <p:cxnSp>
              <p:nvCxnSpPr>
                <p:cNvPr id="731" name="Google Shape;731;p19"/>
                <p:cNvCxnSpPr/>
                <p:nvPr/>
              </p:nvCxnSpPr>
              <p:spPr>
                <a:xfrm flipH="1">
                  <a:off x="3213513" y="1846663"/>
                  <a:ext cx="300" cy="218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732" name="Google Shape;732;p19"/>
                <p:cNvCxnSpPr/>
                <p:nvPr/>
              </p:nvCxnSpPr>
              <p:spPr>
                <a:xfrm>
                  <a:off x="3105213" y="1953913"/>
                  <a:ext cx="216900" cy="36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733" name="Google Shape;733;p19"/>
              <p:cNvSpPr/>
              <p:nvPr/>
            </p:nvSpPr>
            <p:spPr>
              <a:xfrm>
                <a:off x="697213" y="2331250"/>
                <a:ext cx="1276800" cy="2556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666666"/>
                    </a:solidFill>
                  </a:rPr>
                  <a:t>Barracks</a:t>
                </a:r>
                <a:endParaRPr sz="1000">
                  <a:solidFill>
                    <a:srgbClr val="666666"/>
                  </a:solidFill>
                </a:endParaRPr>
              </a:p>
            </p:txBody>
          </p:sp>
          <p:sp>
            <p:nvSpPr>
              <p:cNvPr id="734" name="Google Shape;734;p19"/>
              <p:cNvSpPr/>
              <p:nvPr/>
            </p:nvSpPr>
            <p:spPr>
              <a:xfrm>
                <a:off x="2041578" y="2331281"/>
                <a:ext cx="1002600" cy="2556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666666"/>
                    </a:solidFill>
                  </a:rPr>
                  <a:t>50,000</a:t>
                </a:r>
                <a:endParaRPr sz="1000">
                  <a:solidFill>
                    <a:srgbClr val="666666"/>
                  </a:solidFill>
                </a:endParaRPr>
              </a:p>
            </p:txBody>
          </p:sp>
          <p:sp>
            <p:nvSpPr>
              <p:cNvPr id="735" name="Google Shape;735;p19"/>
              <p:cNvSpPr/>
              <p:nvPr/>
            </p:nvSpPr>
            <p:spPr>
              <a:xfrm rot="10800000">
                <a:off x="1757782" y="2416703"/>
                <a:ext cx="167100" cy="101400"/>
              </a:xfrm>
              <a:prstGeom prst="triangle">
                <a:avLst>
                  <a:gd fmla="val 50000" name="adj"/>
                </a:avLst>
              </a:prstGeom>
              <a:solidFill>
                <a:srgbClr val="B7B7B7"/>
              </a:solidFill>
              <a:ln cap="flat" cmpd="sng" w="952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40175" lIns="140175" spcFirstLastPara="1" rIns="140175" wrap="square" tIns="1401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0"/>
              </a:p>
            </p:txBody>
          </p:sp>
        </p:grpSp>
      </p:grpSp>
      <p:grpSp>
        <p:nvGrpSpPr>
          <p:cNvPr id="736" name="Google Shape;736;p19"/>
          <p:cNvGrpSpPr/>
          <p:nvPr/>
        </p:nvGrpSpPr>
        <p:grpSpPr>
          <a:xfrm>
            <a:off x="4468263" y="1067138"/>
            <a:ext cx="5176913" cy="6673893"/>
            <a:chOff x="4468263" y="1067138"/>
            <a:chExt cx="5176913" cy="6673893"/>
          </a:xfrm>
        </p:grpSpPr>
        <p:sp>
          <p:nvSpPr>
            <p:cNvPr id="737" name="Google Shape;737;p19"/>
            <p:cNvSpPr/>
            <p:nvPr/>
          </p:nvSpPr>
          <p:spPr>
            <a:xfrm>
              <a:off x="6463875" y="1101575"/>
              <a:ext cx="3125400" cy="3102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19"/>
            <p:cNvSpPr txBox="1"/>
            <p:nvPr/>
          </p:nvSpPr>
          <p:spPr>
            <a:xfrm>
              <a:off x="4479967" y="1067138"/>
              <a:ext cx="2210100" cy="388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999999"/>
                  </a:solidFill>
                </a:rPr>
                <a:t>CONSTRUCTION YEAR</a:t>
              </a:r>
              <a:endParaRPr b="1" sz="1200">
                <a:solidFill>
                  <a:srgbClr val="999999"/>
                </a:solidFill>
              </a:endParaRPr>
            </a:p>
          </p:txBody>
        </p:sp>
        <p:sp>
          <p:nvSpPr>
            <p:cNvPr id="739" name="Google Shape;739;p19"/>
            <p:cNvSpPr txBox="1"/>
            <p:nvPr/>
          </p:nvSpPr>
          <p:spPr>
            <a:xfrm>
              <a:off x="6458329" y="1388083"/>
              <a:ext cx="3125400" cy="433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solidFill>
                    <a:schemeClr val="dk2"/>
                  </a:solidFill>
                </a:rPr>
                <a:t>2020	2030	2040	2050	2060	2070	2080</a:t>
              </a:r>
              <a:endParaRPr sz="700">
                <a:solidFill>
                  <a:schemeClr val="dk2"/>
                </a:solidFill>
              </a:endParaRPr>
            </a:p>
          </p:txBody>
        </p:sp>
        <p:sp>
          <p:nvSpPr>
            <p:cNvPr id="740" name="Google Shape;740;p19"/>
            <p:cNvSpPr/>
            <p:nvPr/>
          </p:nvSpPr>
          <p:spPr>
            <a:xfrm>
              <a:off x="6463875" y="1101575"/>
              <a:ext cx="200400" cy="310200"/>
            </a:xfrm>
            <a:prstGeom prst="roundRect">
              <a:avLst>
                <a:gd fmla="val 16667" name="adj"/>
              </a:avLst>
            </a:prstGeom>
            <a:solidFill>
              <a:srgbClr val="AAD3E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41" name="Google Shape;741;p19"/>
            <p:cNvGrpSpPr/>
            <p:nvPr/>
          </p:nvGrpSpPr>
          <p:grpSpPr>
            <a:xfrm>
              <a:off x="4468263" y="1529860"/>
              <a:ext cx="5176913" cy="3181800"/>
              <a:chOff x="4468263" y="1453660"/>
              <a:chExt cx="5176913" cy="3181800"/>
            </a:xfrm>
          </p:grpSpPr>
          <p:pic>
            <p:nvPicPr>
              <p:cNvPr id="742" name="Google Shape;742;p19" title="Chart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11143"/>
              <a:stretch/>
            </p:blipFill>
            <p:spPr>
              <a:xfrm>
                <a:off x="4936050" y="1910774"/>
                <a:ext cx="4709126" cy="258647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743" name="Google Shape;743;p19"/>
              <p:cNvSpPr txBox="1"/>
              <p:nvPr/>
            </p:nvSpPr>
            <p:spPr>
              <a:xfrm rot="-5400000">
                <a:off x="3115863" y="2806060"/>
                <a:ext cx="3181800" cy="47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900">
                    <a:solidFill>
                      <a:srgbClr val="B7B7B7"/>
                    </a:solidFill>
                  </a:rPr>
                  <a:t>MATERIAL DEMAND</a:t>
                </a:r>
                <a:endParaRPr b="1" sz="500">
                  <a:solidFill>
                    <a:srgbClr val="B7B7B7"/>
                  </a:solidFill>
                </a:endParaRPr>
              </a:p>
            </p:txBody>
          </p:sp>
        </p:grpSp>
        <p:grpSp>
          <p:nvGrpSpPr>
            <p:cNvPr id="744" name="Google Shape;744;p19"/>
            <p:cNvGrpSpPr/>
            <p:nvPr/>
          </p:nvGrpSpPr>
          <p:grpSpPr>
            <a:xfrm>
              <a:off x="4468275" y="4961625"/>
              <a:ext cx="5115449" cy="2779405"/>
              <a:chOff x="4468275" y="4675875"/>
              <a:chExt cx="5115449" cy="2779405"/>
            </a:xfrm>
          </p:grpSpPr>
          <p:grpSp>
            <p:nvGrpSpPr>
              <p:cNvPr id="745" name="Google Shape;745;p19"/>
              <p:cNvGrpSpPr/>
              <p:nvPr/>
            </p:nvGrpSpPr>
            <p:grpSpPr>
              <a:xfrm>
                <a:off x="4874600" y="4675875"/>
                <a:ext cx="4709124" cy="2779405"/>
                <a:chOff x="4874600" y="4675875"/>
                <a:chExt cx="4709124" cy="2779405"/>
              </a:xfrm>
            </p:grpSpPr>
            <p:pic>
              <p:nvPicPr>
                <p:cNvPr id="746" name="Google Shape;746;p19" title="Chart"/>
                <p:cNvPicPr preferRelativeResize="0"/>
                <p:nvPr/>
              </p:nvPicPr>
              <p:blipFill rotWithShape="1">
                <a:blip r:embed="rId9">
                  <a:alphaModFix/>
                </a:blip>
                <a:srcRect b="0" l="0" r="0" t="11174"/>
                <a:stretch/>
              </p:blipFill>
              <p:spPr>
                <a:xfrm>
                  <a:off x="4874600" y="4675875"/>
                  <a:ext cx="4709124" cy="258647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747" name="Google Shape;747;p19"/>
                <p:cNvSpPr txBox="1"/>
                <p:nvPr/>
              </p:nvSpPr>
              <p:spPr>
                <a:xfrm>
                  <a:off x="6220475" y="7138180"/>
                  <a:ext cx="3000000" cy="317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860">
                      <a:solidFill>
                        <a:schemeClr val="dk1"/>
                      </a:solidFill>
                    </a:rPr>
                    <a:t>Material Cost (USD)</a:t>
                  </a:r>
                  <a:endParaRPr sz="860">
                    <a:solidFill>
                      <a:schemeClr val="dk1"/>
                    </a:solidFill>
                  </a:endParaRPr>
                </a:p>
              </p:txBody>
            </p:sp>
          </p:grpSp>
          <p:sp>
            <p:nvSpPr>
              <p:cNvPr id="748" name="Google Shape;748;p19"/>
              <p:cNvSpPr txBox="1"/>
              <p:nvPr/>
            </p:nvSpPr>
            <p:spPr>
              <a:xfrm rot="-5400000">
                <a:off x="3510375" y="5730625"/>
                <a:ext cx="2392800" cy="477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900">
                    <a:solidFill>
                      <a:srgbClr val="B7B7B7"/>
                    </a:solidFill>
                  </a:rPr>
                  <a:t>MATERIAL COST</a:t>
                </a:r>
                <a:endParaRPr b="1" sz="500">
                  <a:solidFill>
                    <a:srgbClr val="B7B7B7"/>
                  </a:solidFill>
                </a:endParaRPr>
              </a:p>
            </p:txBody>
          </p:sp>
        </p:grpSp>
      </p:grpSp>
      <p:grpSp>
        <p:nvGrpSpPr>
          <p:cNvPr id="749" name="Google Shape;749;p19"/>
          <p:cNvGrpSpPr/>
          <p:nvPr/>
        </p:nvGrpSpPr>
        <p:grpSpPr>
          <a:xfrm rot="-7701173">
            <a:off x="7502138" y="3009967"/>
            <a:ext cx="1184768" cy="1198516"/>
            <a:chOff x="5893568" y="3081812"/>
            <a:chExt cx="1184774" cy="1198522"/>
          </a:xfrm>
        </p:grpSpPr>
        <p:grpSp>
          <p:nvGrpSpPr>
            <p:cNvPr id="750" name="Google Shape;750;p19"/>
            <p:cNvGrpSpPr/>
            <p:nvPr/>
          </p:nvGrpSpPr>
          <p:grpSpPr>
            <a:xfrm rot="-2553858">
              <a:off x="6121452" y="3202192"/>
              <a:ext cx="729006" cy="957763"/>
              <a:chOff x="6057691" y="2542624"/>
              <a:chExt cx="729025" cy="957787"/>
            </a:xfrm>
          </p:grpSpPr>
          <p:cxnSp>
            <p:nvCxnSpPr>
              <p:cNvPr id="751" name="Google Shape;751;p19"/>
              <p:cNvCxnSpPr/>
              <p:nvPr/>
            </p:nvCxnSpPr>
            <p:spPr>
              <a:xfrm flipH="1" rot="-8246357">
                <a:off x="6228918" y="2725045"/>
                <a:ext cx="588139" cy="125058"/>
              </a:xfrm>
              <a:prstGeom prst="straightConnector1">
                <a:avLst/>
              </a:prstGeom>
              <a:noFill/>
              <a:ln cap="flat" cmpd="sng" w="28575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52" name="Google Shape;752;p19"/>
              <p:cNvCxnSpPr/>
              <p:nvPr/>
            </p:nvCxnSpPr>
            <p:spPr>
              <a:xfrm flipH="1" rot="10800000">
                <a:off x="6097647" y="3383711"/>
                <a:ext cx="594300" cy="11670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53" name="Google Shape;753;p19"/>
              <p:cNvSpPr/>
              <p:nvPr/>
            </p:nvSpPr>
            <p:spPr>
              <a:xfrm>
                <a:off x="6057691" y="2616591"/>
                <a:ext cx="202398" cy="870834"/>
              </a:xfrm>
              <a:custGeom>
                <a:rect b="b" l="l" r="r" t="t"/>
                <a:pathLst>
                  <a:path extrusionOk="0" h="29905" w="4740">
                    <a:moveTo>
                      <a:pt x="1229" y="29905"/>
                    </a:moveTo>
                    <a:cubicBezTo>
                      <a:pt x="-1533" y="20256"/>
                      <a:pt x="780" y="9222"/>
                      <a:pt x="4741" y="0"/>
                    </a:cubicBezTo>
                  </a:path>
                </a:pathLst>
              </a:custGeom>
              <a:noFill/>
              <a:ln cap="flat" cmpd="sng" w="28575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754" name="Google Shape;754;p19"/>
              <p:cNvSpPr/>
              <p:nvPr/>
            </p:nvSpPr>
            <p:spPr>
              <a:xfrm>
                <a:off x="6679189" y="2926345"/>
                <a:ext cx="107527" cy="463154"/>
              </a:xfrm>
              <a:custGeom>
                <a:rect b="b" l="l" r="r" t="t"/>
                <a:pathLst>
                  <a:path extrusionOk="0" h="29905" w="4740">
                    <a:moveTo>
                      <a:pt x="1229" y="29905"/>
                    </a:moveTo>
                    <a:cubicBezTo>
                      <a:pt x="-1533" y="20256"/>
                      <a:pt x="780" y="9222"/>
                      <a:pt x="4741" y="0"/>
                    </a:cubicBezTo>
                  </a:path>
                </a:pathLst>
              </a:custGeom>
              <a:noFill/>
              <a:ln cap="flat" cmpd="sng" w="28575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cxnSp>
          <p:nvCxnSpPr>
            <p:cNvPr id="755" name="Google Shape;755;p19"/>
            <p:cNvCxnSpPr/>
            <p:nvPr/>
          </p:nvCxnSpPr>
          <p:spPr>
            <a:xfrm flipH="1" rot="10800000">
              <a:off x="6147225" y="3487550"/>
              <a:ext cx="109200" cy="174600"/>
            </a:xfrm>
            <a:prstGeom prst="straightConnector1">
              <a:avLst/>
            </a:prstGeom>
            <a:noFill/>
            <a:ln cap="flat" cmpd="sng" w="9525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6" name="Google Shape;756;p19"/>
            <p:cNvCxnSpPr/>
            <p:nvPr/>
          </p:nvCxnSpPr>
          <p:spPr>
            <a:xfrm flipH="1" rot="10800000">
              <a:off x="6173600" y="3466000"/>
              <a:ext cx="183000" cy="285600"/>
            </a:xfrm>
            <a:prstGeom prst="straightConnector1">
              <a:avLst/>
            </a:prstGeom>
            <a:noFill/>
            <a:ln cap="flat" cmpd="sng" w="9525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7" name="Google Shape;757;p19"/>
            <p:cNvCxnSpPr/>
            <p:nvPr/>
          </p:nvCxnSpPr>
          <p:spPr>
            <a:xfrm flipH="1" rot="10800000">
              <a:off x="6209650" y="3456063"/>
              <a:ext cx="228600" cy="361800"/>
            </a:xfrm>
            <a:prstGeom prst="straightConnector1">
              <a:avLst/>
            </a:prstGeom>
            <a:noFill/>
            <a:ln cap="flat" cmpd="sng" w="9525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8" name="Google Shape;758;p19"/>
            <p:cNvCxnSpPr/>
            <p:nvPr/>
          </p:nvCxnSpPr>
          <p:spPr>
            <a:xfrm flipH="1" rot="10800000">
              <a:off x="6241950" y="3433763"/>
              <a:ext cx="283500" cy="447600"/>
            </a:xfrm>
            <a:prstGeom prst="straightConnector1">
              <a:avLst/>
            </a:prstGeom>
            <a:noFill/>
            <a:ln cap="flat" cmpd="sng" w="9525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9" name="Google Shape;759;p19"/>
            <p:cNvCxnSpPr/>
            <p:nvPr/>
          </p:nvCxnSpPr>
          <p:spPr>
            <a:xfrm flipH="1" rot="10800000">
              <a:off x="6283850" y="3414388"/>
              <a:ext cx="331200" cy="538200"/>
            </a:xfrm>
            <a:prstGeom prst="straightConnector1">
              <a:avLst/>
            </a:prstGeom>
            <a:noFill/>
            <a:ln cap="flat" cmpd="sng" w="9525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0" name="Google Shape;760;p19"/>
            <p:cNvCxnSpPr/>
            <p:nvPr/>
          </p:nvCxnSpPr>
          <p:spPr>
            <a:xfrm flipH="1" rot="10800000">
              <a:off x="6322550" y="3425213"/>
              <a:ext cx="367500" cy="591000"/>
            </a:xfrm>
            <a:prstGeom prst="straightConnector1">
              <a:avLst/>
            </a:prstGeom>
            <a:noFill/>
            <a:ln cap="flat" cmpd="sng" w="9525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1" name="Google Shape;761;p19"/>
            <p:cNvCxnSpPr/>
            <p:nvPr/>
          </p:nvCxnSpPr>
          <p:spPr>
            <a:xfrm flipH="1" rot="10800000">
              <a:off x="6367875" y="3522238"/>
              <a:ext cx="351600" cy="548700"/>
            </a:xfrm>
            <a:prstGeom prst="straightConnector1">
              <a:avLst/>
            </a:prstGeom>
            <a:noFill/>
            <a:ln cap="flat" cmpd="sng" w="9525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2" name="Google Shape;762;p19"/>
            <p:cNvCxnSpPr/>
            <p:nvPr/>
          </p:nvCxnSpPr>
          <p:spPr>
            <a:xfrm flipH="1" rot="10800000">
              <a:off x="6414850" y="3600463"/>
              <a:ext cx="346500" cy="522900"/>
            </a:xfrm>
            <a:prstGeom prst="straightConnector1">
              <a:avLst/>
            </a:prstGeom>
            <a:noFill/>
            <a:ln cap="flat" cmpd="sng" w="9525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3" name="Google Shape;763;p19"/>
            <p:cNvCxnSpPr/>
            <p:nvPr/>
          </p:nvCxnSpPr>
          <p:spPr>
            <a:xfrm flipH="1" rot="10800000">
              <a:off x="6474550" y="3673138"/>
              <a:ext cx="328800" cy="486300"/>
            </a:xfrm>
            <a:prstGeom prst="straightConnector1">
              <a:avLst/>
            </a:prstGeom>
            <a:noFill/>
            <a:ln cap="flat" cmpd="sng" w="9525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64" name="Google Shape;764;p19"/>
            <p:cNvCxnSpPr/>
            <p:nvPr/>
          </p:nvCxnSpPr>
          <p:spPr>
            <a:xfrm flipH="1" rot="10800000">
              <a:off x="6525450" y="3712838"/>
              <a:ext cx="328800" cy="486300"/>
            </a:xfrm>
            <a:prstGeom prst="straightConnector1">
              <a:avLst/>
            </a:prstGeom>
            <a:noFill/>
            <a:ln cap="flat" cmpd="sng" w="9525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765" name="Google Shape;765;p19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536825" y="1323730"/>
            <a:ext cx="259800" cy="38889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66" name="Google Shape;766;p19"/>
          <p:cNvGrpSpPr/>
          <p:nvPr/>
        </p:nvGrpSpPr>
        <p:grpSpPr>
          <a:xfrm>
            <a:off x="8469271" y="2427032"/>
            <a:ext cx="1464268" cy="528086"/>
            <a:chOff x="8548175" y="2668550"/>
            <a:chExt cx="1464268" cy="528086"/>
          </a:xfrm>
        </p:grpSpPr>
        <p:sp>
          <p:nvSpPr>
            <p:cNvPr id="767" name="Google Shape;767;p19"/>
            <p:cNvSpPr txBox="1"/>
            <p:nvPr/>
          </p:nvSpPr>
          <p:spPr>
            <a:xfrm>
              <a:off x="8548175" y="2668550"/>
              <a:ext cx="672300" cy="29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960">
                  <a:solidFill>
                    <a:schemeClr val="dk2"/>
                  </a:solidFill>
                </a:rPr>
                <a:t>Legend</a:t>
              </a:r>
              <a:endParaRPr b="1" sz="960">
                <a:solidFill>
                  <a:schemeClr val="dk2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60">
                <a:solidFill>
                  <a:schemeClr val="dk2"/>
                </a:solidFill>
              </a:endParaRPr>
            </a:p>
          </p:txBody>
        </p:sp>
        <p:sp>
          <p:nvSpPr>
            <p:cNvPr id="768" name="Google Shape;768;p19"/>
            <p:cNvSpPr/>
            <p:nvPr/>
          </p:nvSpPr>
          <p:spPr>
            <a:xfrm>
              <a:off x="8698150" y="2959475"/>
              <a:ext cx="146700" cy="141900"/>
            </a:xfrm>
            <a:prstGeom prst="rect">
              <a:avLst/>
            </a:prstGeom>
            <a:noFill/>
            <a:ln cap="flat" cmpd="sng" w="9525">
              <a:solidFill>
                <a:srgbClr val="93C4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19"/>
            <p:cNvSpPr txBox="1"/>
            <p:nvPr/>
          </p:nvSpPr>
          <p:spPr>
            <a:xfrm>
              <a:off x="8824143" y="2864236"/>
              <a:ext cx="1188300" cy="33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60">
                  <a:solidFill>
                    <a:schemeClr val="dk2"/>
                  </a:solidFill>
                </a:rPr>
                <a:t>Reused material</a:t>
              </a:r>
              <a:endParaRPr sz="960">
                <a:solidFill>
                  <a:schemeClr val="dk2"/>
                </a:solidFill>
              </a:endParaRPr>
            </a:p>
          </p:txBody>
        </p:sp>
        <p:cxnSp>
          <p:nvCxnSpPr>
            <p:cNvPr id="770" name="Google Shape;770;p19"/>
            <p:cNvCxnSpPr>
              <a:stCxn id="768" idx="1"/>
            </p:cNvCxnSpPr>
            <p:nvPr/>
          </p:nvCxnSpPr>
          <p:spPr>
            <a:xfrm flipH="1" rot="10800000">
              <a:off x="8698150" y="2959625"/>
              <a:ext cx="73500" cy="70800"/>
            </a:xfrm>
            <a:prstGeom prst="straightConnector1">
              <a:avLst/>
            </a:prstGeom>
            <a:noFill/>
            <a:ln cap="flat" cmpd="sng" w="9525">
              <a:solidFill>
                <a:srgbClr val="93C47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1" name="Google Shape;771;p19"/>
            <p:cNvCxnSpPr/>
            <p:nvPr/>
          </p:nvCxnSpPr>
          <p:spPr>
            <a:xfrm flipH="1" rot="10800000">
              <a:off x="8698150" y="2963225"/>
              <a:ext cx="146400" cy="138000"/>
            </a:xfrm>
            <a:prstGeom prst="straightConnector1">
              <a:avLst/>
            </a:prstGeom>
            <a:noFill/>
            <a:ln cap="flat" cmpd="sng" w="9525">
              <a:solidFill>
                <a:srgbClr val="93C47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72" name="Google Shape;772;p19"/>
            <p:cNvCxnSpPr/>
            <p:nvPr/>
          </p:nvCxnSpPr>
          <p:spPr>
            <a:xfrm flipH="1" rot="10800000">
              <a:off x="8771650" y="3030425"/>
              <a:ext cx="73500" cy="70800"/>
            </a:xfrm>
            <a:prstGeom prst="straightConnector1">
              <a:avLst/>
            </a:prstGeom>
            <a:noFill/>
            <a:ln cap="flat" cmpd="sng" w="9525">
              <a:solidFill>
                <a:srgbClr val="93C47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73" name="Google Shape;773;p19"/>
          <p:cNvGrpSpPr/>
          <p:nvPr/>
        </p:nvGrpSpPr>
        <p:grpSpPr>
          <a:xfrm>
            <a:off x="7711096" y="1655167"/>
            <a:ext cx="1928164" cy="538822"/>
            <a:chOff x="7711096" y="1655167"/>
            <a:chExt cx="1928164" cy="538822"/>
          </a:xfrm>
        </p:grpSpPr>
        <p:sp>
          <p:nvSpPr>
            <p:cNvPr id="774" name="Google Shape;774;p19"/>
            <p:cNvSpPr txBox="1"/>
            <p:nvPr/>
          </p:nvSpPr>
          <p:spPr>
            <a:xfrm>
              <a:off x="7711096" y="1683688"/>
              <a:ext cx="1269300" cy="510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4825" lIns="194825" spcFirstLastPara="1" rIns="194825" wrap="square" tIns="19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50">
                  <a:solidFill>
                    <a:srgbClr val="999999"/>
                  </a:solidFill>
                </a:rPr>
                <a:t>Sankey diagram</a:t>
              </a:r>
              <a:endParaRPr sz="950">
                <a:solidFill>
                  <a:srgbClr val="999999"/>
                </a:solidFill>
              </a:endParaRPr>
            </a:p>
          </p:txBody>
        </p:sp>
        <p:grpSp>
          <p:nvGrpSpPr>
            <p:cNvPr id="775" name="Google Shape;775;p19"/>
            <p:cNvGrpSpPr/>
            <p:nvPr/>
          </p:nvGrpSpPr>
          <p:grpSpPr>
            <a:xfrm>
              <a:off x="8852588" y="1655167"/>
              <a:ext cx="786673" cy="433200"/>
              <a:chOff x="8852588" y="1655167"/>
              <a:chExt cx="786673" cy="433200"/>
            </a:xfrm>
          </p:grpSpPr>
          <p:grpSp>
            <p:nvGrpSpPr>
              <p:cNvPr id="776" name="Google Shape;776;p19"/>
              <p:cNvGrpSpPr/>
              <p:nvPr/>
            </p:nvGrpSpPr>
            <p:grpSpPr>
              <a:xfrm>
                <a:off x="8852588" y="1820225"/>
                <a:ext cx="757688" cy="261650"/>
                <a:chOff x="8974713" y="1820175"/>
                <a:chExt cx="757688" cy="261650"/>
              </a:xfrm>
            </p:grpSpPr>
            <p:sp>
              <p:nvSpPr>
                <p:cNvPr id="777" name="Google Shape;777;p19"/>
                <p:cNvSpPr/>
                <p:nvPr/>
              </p:nvSpPr>
              <p:spPr>
                <a:xfrm rot="-10800000">
                  <a:off x="8974726" y="1820175"/>
                  <a:ext cx="757675" cy="261650"/>
                </a:xfrm>
                <a:prstGeom prst="flowChartMagneticDrum">
                  <a:avLst/>
                </a:prstGeom>
                <a:solidFill>
                  <a:srgbClr val="CCCCCC"/>
                </a:solidFill>
                <a:ln cap="flat" cmpd="sng" w="132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194825" lIns="194825" spcFirstLastPara="1" rIns="194825" wrap="square" tIns="1948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918"/>
                </a:p>
              </p:txBody>
            </p:sp>
            <p:sp>
              <p:nvSpPr>
                <p:cNvPr id="778" name="Google Shape;778;p19"/>
                <p:cNvSpPr/>
                <p:nvPr/>
              </p:nvSpPr>
              <p:spPr>
                <a:xfrm>
                  <a:off x="8974713" y="1824705"/>
                  <a:ext cx="259500" cy="252600"/>
                </a:xfrm>
                <a:prstGeom prst="ellipse">
                  <a:avLst/>
                </a:prstGeom>
                <a:solidFill>
                  <a:schemeClr val="lt1"/>
                </a:solidFill>
                <a:ln cap="flat" cmpd="sng" w="132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194825" lIns="194825" spcFirstLastPara="1" rIns="194825" wrap="square" tIns="1948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918"/>
                </a:p>
              </p:txBody>
            </p:sp>
          </p:grpSp>
          <p:sp>
            <p:nvSpPr>
              <p:cNvPr id="779" name="Google Shape;779;p19"/>
              <p:cNvSpPr txBox="1"/>
              <p:nvPr/>
            </p:nvSpPr>
            <p:spPr>
              <a:xfrm>
                <a:off x="8966960" y="1655167"/>
                <a:ext cx="672300" cy="433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94825" lIns="194825" spcFirstLastPara="1" rIns="194825" wrap="square" tIns="1948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250">
                    <a:solidFill>
                      <a:schemeClr val="lt1"/>
                    </a:solidFill>
                  </a:rPr>
                  <a:t>Off</a:t>
                </a:r>
                <a:endParaRPr sz="1250">
                  <a:solidFill>
                    <a:schemeClr val="lt1"/>
                  </a:solidFill>
                </a:endParaRPr>
              </a:p>
            </p:txBody>
          </p:sp>
        </p:grpSp>
      </p:grpSp>
      <p:pic>
        <p:nvPicPr>
          <p:cNvPr id="780" name="Google Shape;780;p19"/>
          <p:cNvPicPr preferRelativeResize="0"/>
          <p:nvPr/>
        </p:nvPicPr>
        <p:blipFill>
          <a:blip r:embed="rId11">
            <a:alphaModFix amt="65000"/>
          </a:blip>
          <a:stretch>
            <a:fillRect/>
          </a:stretch>
        </p:blipFill>
        <p:spPr>
          <a:xfrm>
            <a:off x="1275" y="-30925"/>
            <a:ext cx="13715999" cy="829145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81" name="Google Shape;781;p19"/>
          <p:cNvGrpSpPr/>
          <p:nvPr/>
        </p:nvGrpSpPr>
        <p:grpSpPr>
          <a:xfrm>
            <a:off x="128989" y="815475"/>
            <a:ext cx="13457638" cy="7266656"/>
            <a:chOff x="128989" y="815475"/>
            <a:chExt cx="13457638" cy="7266656"/>
          </a:xfrm>
        </p:grpSpPr>
        <p:grpSp>
          <p:nvGrpSpPr>
            <p:cNvPr id="782" name="Google Shape;782;p19"/>
            <p:cNvGrpSpPr/>
            <p:nvPr/>
          </p:nvGrpSpPr>
          <p:grpSpPr>
            <a:xfrm>
              <a:off x="128989" y="815475"/>
              <a:ext cx="13457638" cy="7266656"/>
              <a:chOff x="389225" y="911175"/>
              <a:chExt cx="12937549" cy="6985825"/>
            </a:xfrm>
          </p:grpSpPr>
          <p:pic>
            <p:nvPicPr>
              <p:cNvPr id="783" name="Google Shape;783;p19" title="Screenshot 2026-01-21 at 12.43.24 PM.png"/>
              <p:cNvPicPr preferRelativeResize="0"/>
              <p:nvPr/>
            </p:nvPicPr>
            <p:blipFill rotWithShape="1">
              <a:blip r:embed="rId12">
                <a:alphaModFix/>
              </a:blip>
              <a:srcRect b="4814" l="2842" r="3067" t="9840"/>
              <a:stretch/>
            </p:blipFill>
            <p:spPr>
              <a:xfrm>
                <a:off x="389225" y="911175"/>
                <a:ext cx="12937549" cy="6985825"/>
              </a:xfrm>
              <a:prstGeom prst="rect">
                <a:avLst/>
              </a:prstGeom>
              <a:noFill/>
              <a:ln cap="flat" cmpd="sng" w="990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</p:pic>
          <p:sp>
            <p:nvSpPr>
              <p:cNvPr id="784" name="Google Shape;784;p19"/>
              <p:cNvSpPr/>
              <p:nvPr/>
            </p:nvSpPr>
            <p:spPr>
              <a:xfrm>
                <a:off x="12382500" y="1074625"/>
                <a:ext cx="916200" cy="388800"/>
              </a:xfrm>
              <a:prstGeom prst="rect">
                <a:avLst/>
              </a:prstGeom>
              <a:solidFill>
                <a:srgbClr val="F9F9F9"/>
              </a:solidFill>
              <a:ln>
                <a:noFill/>
              </a:ln>
            </p:spPr>
            <p:txBody>
              <a:bodyPr anchorCtr="0" anchor="ctr" bIns="95100" lIns="95100" spcFirstLastPara="1" rIns="95100" wrap="square" tIns="951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56"/>
              </a:p>
            </p:txBody>
          </p:sp>
        </p:grpSp>
        <p:pic>
          <p:nvPicPr>
            <p:cNvPr id="785" name="Google Shape;785;p19" title="download.png"/>
            <p:cNvPicPr preferRelativeResize="0"/>
            <p:nvPr/>
          </p:nvPicPr>
          <p:blipFill>
            <a:blip r:embed="rId13">
              <a:alphaModFix/>
            </a:blip>
            <a:stretch>
              <a:fillRect/>
            </a:stretch>
          </p:blipFill>
          <p:spPr>
            <a:xfrm>
              <a:off x="12640449" y="991636"/>
              <a:ext cx="332100" cy="332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6" name="Google Shape;786;p19"/>
            <p:cNvSpPr/>
            <p:nvPr/>
          </p:nvSpPr>
          <p:spPr>
            <a:xfrm>
              <a:off x="13144850" y="1035413"/>
              <a:ext cx="259800" cy="244500"/>
            </a:xfrm>
            <a:prstGeom prst="flowChartSummingJunction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787" name="Google Shape;787;p19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13295634" y="1207097"/>
              <a:ext cx="259800" cy="38889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p20"/>
          <p:cNvSpPr/>
          <p:nvPr/>
        </p:nvSpPr>
        <p:spPr>
          <a:xfrm>
            <a:off x="8938762" y="1239935"/>
            <a:ext cx="4335900" cy="2481000"/>
          </a:xfrm>
          <a:prstGeom prst="rect">
            <a:avLst/>
          </a:prstGeom>
          <a:noFill/>
          <a:ln cap="flat" cmpd="sng" w="7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00" lIns="73200" spcFirstLastPara="1" rIns="73200" wrap="square" tIns="73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20"/>
          </a:p>
        </p:txBody>
      </p:sp>
      <p:pic>
        <p:nvPicPr>
          <p:cNvPr id="793" name="Google Shape;793;p20" title="Chart"/>
          <p:cNvPicPr preferRelativeResize="0"/>
          <p:nvPr/>
        </p:nvPicPr>
        <p:blipFill rotWithShape="1">
          <a:blip r:embed="rId4">
            <a:alphaModFix/>
          </a:blip>
          <a:srcRect b="0" l="0" r="0" t="11143"/>
          <a:stretch/>
        </p:blipFill>
        <p:spPr>
          <a:xfrm>
            <a:off x="4681700" y="1506280"/>
            <a:ext cx="3723375" cy="2045050"/>
          </a:xfrm>
          <a:prstGeom prst="rect">
            <a:avLst/>
          </a:prstGeom>
          <a:noFill/>
          <a:ln>
            <a:noFill/>
          </a:ln>
        </p:spPr>
      </p:pic>
      <p:sp>
        <p:nvSpPr>
          <p:cNvPr id="794" name="Google Shape;794;p20"/>
          <p:cNvSpPr txBox="1"/>
          <p:nvPr>
            <p:ph type="ctrTitle"/>
          </p:nvPr>
        </p:nvSpPr>
        <p:spPr>
          <a:xfrm rot="-5400000">
            <a:off x="-4744350" y="3581200"/>
            <a:ext cx="8572500" cy="916200"/>
          </a:xfrm>
          <a:prstGeom prst="rect">
            <a:avLst/>
          </a:prstGeom>
        </p:spPr>
        <p:txBody>
          <a:bodyPr anchorCtr="0" anchor="b" bIns="140175" lIns="140175" spcFirstLastPara="1" rIns="140175" wrap="square" tIns="14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100"/>
              <a:t>BASELINE MATERIALS &amp; COST</a:t>
            </a:r>
            <a:endParaRPr sz="4100"/>
          </a:p>
        </p:txBody>
      </p:sp>
      <p:cxnSp>
        <p:nvCxnSpPr>
          <p:cNvPr id="795" name="Google Shape;795;p20"/>
          <p:cNvCxnSpPr>
            <a:stCxn id="796" idx="1"/>
          </p:cNvCxnSpPr>
          <p:nvPr/>
        </p:nvCxnSpPr>
        <p:spPr>
          <a:xfrm>
            <a:off x="1921100" y="232040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97" name="Google Shape;797;p20"/>
          <p:cNvSpPr/>
          <p:nvPr/>
        </p:nvSpPr>
        <p:spPr>
          <a:xfrm>
            <a:off x="322450" y="1045650"/>
            <a:ext cx="3608700" cy="43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0175" lIns="140175" spcFirstLastPara="1" rIns="140175" wrap="square" tIns="140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999999"/>
                </a:solidFill>
              </a:rPr>
              <a:t>       Ventura County, CA</a:t>
            </a:r>
            <a:endParaRPr sz="1500">
              <a:solidFill>
                <a:srgbClr val="999999"/>
              </a:solidFill>
            </a:endParaRPr>
          </a:p>
        </p:txBody>
      </p:sp>
      <p:pic>
        <p:nvPicPr>
          <p:cNvPr id="798" name="Google Shape;79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0625" y="1067100"/>
            <a:ext cx="388875" cy="38887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799" name="Google Shape;799;p20"/>
          <p:cNvSpPr/>
          <p:nvPr/>
        </p:nvSpPr>
        <p:spPr>
          <a:xfrm>
            <a:off x="2459334" y="1900354"/>
            <a:ext cx="167100" cy="101400"/>
          </a:xfrm>
          <a:prstGeom prst="triangle">
            <a:avLst>
              <a:gd fmla="val 50000" name="adj"/>
            </a:avLst>
          </a:prstGeom>
          <a:solidFill>
            <a:srgbClr val="B7B7B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0175" lIns="140175" spcFirstLastPara="1" rIns="140175" wrap="square" tIns="14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grpSp>
        <p:nvGrpSpPr>
          <p:cNvPr id="800" name="Google Shape;800;p20"/>
          <p:cNvGrpSpPr/>
          <p:nvPr/>
        </p:nvGrpSpPr>
        <p:grpSpPr>
          <a:xfrm>
            <a:off x="309438" y="1697506"/>
            <a:ext cx="4170545" cy="4407388"/>
            <a:chOff x="309438" y="1697506"/>
            <a:chExt cx="4170545" cy="4407388"/>
          </a:xfrm>
        </p:grpSpPr>
        <p:grpSp>
          <p:nvGrpSpPr>
            <p:cNvPr id="801" name="Google Shape;801;p20"/>
            <p:cNvGrpSpPr/>
            <p:nvPr/>
          </p:nvGrpSpPr>
          <p:grpSpPr>
            <a:xfrm>
              <a:off x="313773" y="4847330"/>
              <a:ext cx="4165083" cy="530564"/>
              <a:chOff x="313761" y="2357618"/>
              <a:chExt cx="4165083" cy="530564"/>
            </a:xfrm>
          </p:grpSpPr>
          <p:grpSp>
            <p:nvGrpSpPr>
              <p:cNvPr id="802" name="Google Shape;802;p20"/>
              <p:cNvGrpSpPr/>
              <p:nvPr/>
            </p:nvGrpSpPr>
            <p:grpSpPr>
              <a:xfrm>
                <a:off x="313788" y="2357618"/>
                <a:ext cx="4165056" cy="530564"/>
                <a:chOff x="314635" y="1491757"/>
                <a:chExt cx="2464093" cy="381728"/>
              </a:xfrm>
            </p:grpSpPr>
            <p:sp>
              <p:nvSpPr>
                <p:cNvPr id="803" name="Google Shape;803;p20"/>
                <p:cNvSpPr/>
                <p:nvPr/>
              </p:nvSpPr>
              <p:spPr>
                <a:xfrm>
                  <a:off x="314635" y="1532085"/>
                  <a:ext cx="2135100" cy="341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194825" lIns="194825" spcFirstLastPara="1" rIns="194825" wrap="square" tIns="1948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250">
                    <a:solidFill>
                      <a:schemeClr val="dk1"/>
                    </a:solidFill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250">
                    <a:solidFill>
                      <a:schemeClr val="dk1"/>
                    </a:solidFill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250">
                    <a:solidFill>
                      <a:schemeClr val="dk1"/>
                    </a:solidFill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250">
                    <a:solidFill>
                      <a:schemeClr val="dk1"/>
                    </a:solidFill>
                  </a:endParaRPr>
                </a:p>
              </p:txBody>
            </p:sp>
            <p:grpSp>
              <p:nvGrpSpPr>
                <p:cNvPr id="804" name="Google Shape;804;p20"/>
                <p:cNvGrpSpPr/>
                <p:nvPr/>
              </p:nvGrpSpPr>
              <p:grpSpPr>
                <a:xfrm>
                  <a:off x="1905750" y="1491757"/>
                  <a:ext cx="872978" cy="317400"/>
                  <a:chOff x="1905813" y="1491907"/>
                  <a:chExt cx="872978" cy="317400"/>
                </a:xfrm>
              </p:grpSpPr>
              <p:sp>
                <p:nvSpPr>
                  <p:cNvPr id="805" name="Google Shape;805;p20"/>
                  <p:cNvSpPr/>
                  <p:nvPr/>
                </p:nvSpPr>
                <p:spPr>
                  <a:xfrm rot="-10800000">
                    <a:off x="1905813" y="1608215"/>
                    <a:ext cx="421893" cy="181722"/>
                  </a:xfrm>
                  <a:prstGeom prst="flowChartMagneticDrum">
                    <a:avLst/>
                  </a:prstGeom>
                  <a:solidFill>
                    <a:srgbClr val="CCCCCC"/>
                  </a:solidFill>
                  <a:ln cap="flat" cmpd="sng" w="13250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194825" lIns="194825" spcFirstLastPara="1" rIns="194825" wrap="square" tIns="1948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918"/>
                  </a:p>
                </p:txBody>
              </p:sp>
              <p:sp>
                <p:nvSpPr>
                  <p:cNvPr id="806" name="Google Shape;806;p20"/>
                  <p:cNvSpPr/>
                  <p:nvPr/>
                </p:nvSpPr>
                <p:spPr>
                  <a:xfrm>
                    <a:off x="1905813" y="1605800"/>
                    <a:ext cx="153600" cy="181800"/>
                  </a:xfrm>
                  <a:prstGeom prst="ellipse">
                    <a:avLst/>
                  </a:prstGeom>
                  <a:solidFill>
                    <a:schemeClr val="lt1"/>
                  </a:solidFill>
                  <a:ln cap="flat" cmpd="sng" w="13250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194825" lIns="194825" spcFirstLastPara="1" rIns="194825" wrap="square" tIns="1948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918"/>
                  </a:p>
                </p:txBody>
              </p:sp>
              <p:sp>
                <p:nvSpPr>
                  <p:cNvPr id="807" name="Google Shape;807;p20"/>
                  <p:cNvSpPr txBox="1"/>
                  <p:nvPr/>
                </p:nvSpPr>
                <p:spPr>
                  <a:xfrm>
                    <a:off x="1962790" y="1491907"/>
                    <a:ext cx="816000" cy="317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194825" lIns="194825" spcFirstLastPara="1" rIns="194825" wrap="square" tIns="1948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1250">
                        <a:solidFill>
                          <a:schemeClr val="lt1"/>
                        </a:solidFill>
                      </a:rPr>
                      <a:t>Off</a:t>
                    </a:r>
                    <a:endParaRPr sz="1250">
                      <a:solidFill>
                        <a:schemeClr val="lt1"/>
                      </a:solidFill>
                    </a:endParaRPr>
                  </a:p>
                </p:txBody>
              </p:sp>
            </p:grpSp>
          </p:grpSp>
          <p:sp>
            <p:nvSpPr>
              <p:cNvPr id="808" name="Google Shape;808;p20"/>
              <p:cNvSpPr txBox="1"/>
              <p:nvPr/>
            </p:nvSpPr>
            <p:spPr>
              <a:xfrm>
                <a:off x="313761" y="2449239"/>
                <a:ext cx="2615400" cy="38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chemeClr val="dk1"/>
                    </a:solidFill>
                  </a:rPr>
                  <a:t>Material Availability Scenarios</a:t>
                </a:r>
                <a:endParaRPr b="1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809" name="Google Shape;809;p20"/>
            <p:cNvGrpSpPr/>
            <p:nvPr/>
          </p:nvGrpSpPr>
          <p:grpSpPr>
            <a:xfrm>
              <a:off x="309438" y="5570271"/>
              <a:ext cx="4170545" cy="534623"/>
              <a:chOff x="313750" y="2353562"/>
              <a:chExt cx="4170545" cy="534623"/>
            </a:xfrm>
          </p:grpSpPr>
          <p:grpSp>
            <p:nvGrpSpPr>
              <p:cNvPr id="810" name="Google Shape;810;p20"/>
              <p:cNvGrpSpPr/>
              <p:nvPr/>
            </p:nvGrpSpPr>
            <p:grpSpPr>
              <a:xfrm>
                <a:off x="313775" y="2353562"/>
                <a:ext cx="4170520" cy="534623"/>
                <a:chOff x="314627" y="1488838"/>
                <a:chExt cx="2467325" cy="384649"/>
              </a:xfrm>
            </p:grpSpPr>
            <p:sp>
              <p:nvSpPr>
                <p:cNvPr id="811" name="Google Shape;811;p20"/>
                <p:cNvSpPr/>
                <p:nvPr/>
              </p:nvSpPr>
              <p:spPr>
                <a:xfrm>
                  <a:off x="314627" y="1532087"/>
                  <a:ext cx="2135100" cy="341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194825" lIns="194825" spcFirstLastPara="1" rIns="194825" wrap="square" tIns="1948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250">
                    <a:solidFill>
                      <a:schemeClr val="dk1"/>
                    </a:solidFill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250">
                    <a:solidFill>
                      <a:schemeClr val="dk1"/>
                    </a:solidFill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250">
                    <a:solidFill>
                      <a:schemeClr val="dk1"/>
                    </a:solidFill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250">
                    <a:solidFill>
                      <a:schemeClr val="dk1"/>
                    </a:solidFill>
                  </a:endParaRPr>
                </a:p>
              </p:txBody>
            </p:sp>
            <p:grpSp>
              <p:nvGrpSpPr>
                <p:cNvPr id="812" name="Google Shape;812;p20"/>
                <p:cNvGrpSpPr/>
                <p:nvPr/>
              </p:nvGrpSpPr>
              <p:grpSpPr>
                <a:xfrm>
                  <a:off x="1905750" y="1488838"/>
                  <a:ext cx="876202" cy="317400"/>
                  <a:chOff x="1905813" y="1488988"/>
                  <a:chExt cx="876202" cy="317400"/>
                </a:xfrm>
              </p:grpSpPr>
              <p:sp>
                <p:nvSpPr>
                  <p:cNvPr id="813" name="Google Shape;813;p20"/>
                  <p:cNvSpPr/>
                  <p:nvPr/>
                </p:nvSpPr>
                <p:spPr>
                  <a:xfrm rot="-10800000">
                    <a:off x="1905813" y="1608215"/>
                    <a:ext cx="421893" cy="181722"/>
                  </a:xfrm>
                  <a:prstGeom prst="flowChartMagneticDrum">
                    <a:avLst/>
                  </a:prstGeom>
                  <a:solidFill>
                    <a:srgbClr val="CCCCCC"/>
                  </a:solidFill>
                  <a:ln cap="flat" cmpd="sng" w="13250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194825" lIns="194825" spcFirstLastPara="1" rIns="194825" wrap="square" tIns="1948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918"/>
                  </a:p>
                </p:txBody>
              </p:sp>
              <p:sp>
                <p:nvSpPr>
                  <p:cNvPr id="814" name="Google Shape;814;p20"/>
                  <p:cNvSpPr/>
                  <p:nvPr/>
                </p:nvSpPr>
                <p:spPr>
                  <a:xfrm>
                    <a:off x="1905813" y="1605800"/>
                    <a:ext cx="153600" cy="181800"/>
                  </a:xfrm>
                  <a:prstGeom prst="ellipse">
                    <a:avLst/>
                  </a:prstGeom>
                  <a:solidFill>
                    <a:schemeClr val="lt1"/>
                  </a:solidFill>
                  <a:ln cap="flat" cmpd="sng" w="13250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194825" lIns="194825" spcFirstLastPara="1" rIns="194825" wrap="square" tIns="1948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918"/>
                  </a:p>
                </p:txBody>
              </p:sp>
              <p:sp>
                <p:nvSpPr>
                  <p:cNvPr id="815" name="Google Shape;815;p20"/>
                  <p:cNvSpPr txBox="1"/>
                  <p:nvPr/>
                </p:nvSpPr>
                <p:spPr>
                  <a:xfrm>
                    <a:off x="1966015" y="1488988"/>
                    <a:ext cx="816000" cy="317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194825" lIns="194825" spcFirstLastPara="1" rIns="194825" wrap="square" tIns="1948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1250">
                        <a:solidFill>
                          <a:schemeClr val="lt1"/>
                        </a:solidFill>
                      </a:rPr>
                      <a:t>Off</a:t>
                    </a:r>
                    <a:endParaRPr sz="1250">
                      <a:solidFill>
                        <a:schemeClr val="lt1"/>
                      </a:solidFill>
                    </a:endParaRPr>
                  </a:p>
                </p:txBody>
              </p:sp>
            </p:grpSp>
          </p:grpSp>
          <p:sp>
            <p:nvSpPr>
              <p:cNvPr id="816" name="Google Shape;816;p20"/>
              <p:cNvSpPr txBox="1"/>
              <p:nvPr/>
            </p:nvSpPr>
            <p:spPr>
              <a:xfrm>
                <a:off x="313750" y="2449250"/>
                <a:ext cx="30000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solidFill>
                      <a:schemeClr val="dk1"/>
                    </a:solidFill>
                  </a:rPr>
                  <a:t>Alternative Materials</a:t>
                </a:r>
                <a:endParaRPr b="1">
                  <a:solidFill>
                    <a:schemeClr val="dk1"/>
                  </a:solidFill>
                </a:endParaRPr>
              </a:p>
            </p:txBody>
          </p:sp>
        </p:grpSp>
        <p:sp>
          <p:nvSpPr>
            <p:cNvPr id="817" name="Google Shape;817;p20"/>
            <p:cNvSpPr/>
            <p:nvPr/>
          </p:nvSpPr>
          <p:spPr>
            <a:xfrm>
              <a:off x="319850" y="1697506"/>
              <a:ext cx="3608700" cy="29298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40175" lIns="140175" spcFirstLastPara="1" rIns="140175" wrap="square" tIns="1401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Building Specifications</a:t>
              </a:r>
              <a:endParaRPr b="1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666666"/>
                  </a:solidFill>
                </a:rPr>
                <a:t>         </a:t>
              </a:r>
              <a:endParaRPr sz="13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666666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1300">
                <a:solidFill>
                  <a:srgbClr val="666666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13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13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666666"/>
                </a:solidFill>
              </a:endParaRPr>
            </a:p>
          </p:txBody>
        </p:sp>
        <p:sp>
          <p:nvSpPr>
            <p:cNvPr id="818" name="Google Shape;818;p20"/>
            <p:cNvSpPr/>
            <p:nvPr/>
          </p:nvSpPr>
          <p:spPr>
            <a:xfrm>
              <a:off x="501850" y="4122119"/>
              <a:ext cx="3249900" cy="332100"/>
            </a:xfrm>
            <a:prstGeom prst="roundRect">
              <a:avLst>
                <a:gd fmla="val 16667" name="adj"/>
              </a:avLst>
            </a:prstGeom>
            <a:solidFill>
              <a:srgbClr val="AAD3E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300">
                  <a:solidFill>
                    <a:srgbClr val="666666"/>
                  </a:solidFill>
                </a:rPr>
                <a:t>Estimate material demands and cost</a:t>
              </a:r>
              <a:endParaRPr/>
            </a:p>
          </p:txBody>
        </p:sp>
        <p:sp>
          <p:nvSpPr>
            <p:cNvPr id="819" name="Google Shape;819;p20"/>
            <p:cNvSpPr/>
            <p:nvPr/>
          </p:nvSpPr>
          <p:spPr>
            <a:xfrm>
              <a:off x="2975093" y="2085491"/>
              <a:ext cx="738600" cy="25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666666"/>
                  </a:solidFill>
                </a:rPr>
                <a:t>Reuse </a:t>
              </a:r>
              <a:endParaRPr sz="900">
                <a:solidFill>
                  <a:srgbClr val="666666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666666"/>
                  </a:solidFill>
                </a:rPr>
                <a:t>materials?</a:t>
              </a:r>
              <a:endParaRPr sz="900">
                <a:solidFill>
                  <a:srgbClr val="666666"/>
                </a:solidFill>
              </a:endParaRPr>
            </a:p>
          </p:txBody>
        </p:sp>
        <p:grpSp>
          <p:nvGrpSpPr>
            <p:cNvPr id="820" name="Google Shape;820;p20"/>
            <p:cNvGrpSpPr/>
            <p:nvPr/>
          </p:nvGrpSpPr>
          <p:grpSpPr>
            <a:xfrm>
              <a:off x="697213" y="2405891"/>
              <a:ext cx="3106838" cy="610955"/>
              <a:chOff x="697213" y="2331245"/>
              <a:chExt cx="3106838" cy="610955"/>
            </a:xfrm>
          </p:grpSpPr>
          <p:grpSp>
            <p:nvGrpSpPr>
              <p:cNvPr id="821" name="Google Shape;821;p20"/>
              <p:cNvGrpSpPr/>
              <p:nvPr/>
            </p:nvGrpSpPr>
            <p:grpSpPr>
              <a:xfrm>
                <a:off x="3587150" y="2696772"/>
                <a:ext cx="216900" cy="218100"/>
                <a:chOff x="3592625" y="2190625"/>
                <a:chExt cx="216900" cy="218100"/>
              </a:xfrm>
            </p:grpSpPr>
            <p:cxnSp>
              <p:nvCxnSpPr>
                <p:cNvPr id="822" name="Google Shape;822;p20"/>
                <p:cNvCxnSpPr/>
                <p:nvPr/>
              </p:nvCxnSpPr>
              <p:spPr>
                <a:xfrm flipH="1">
                  <a:off x="3700925" y="2190625"/>
                  <a:ext cx="300" cy="218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23" name="Google Shape;823;p20"/>
                <p:cNvCxnSpPr/>
                <p:nvPr/>
              </p:nvCxnSpPr>
              <p:spPr>
                <a:xfrm>
                  <a:off x="3592625" y="2297875"/>
                  <a:ext cx="216900" cy="36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824" name="Google Shape;824;p20"/>
              <p:cNvSpPr/>
              <p:nvPr/>
            </p:nvSpPr>
            <p:spPr>
              <a:xfrm>
                <a:off x="697213" y="2331250"/>
                <a:ext cx="1276800" cy="2556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666666"/>
                    </a:solidFill>
                  </a:rPr>
                  <a:t>Health services</a:t>
                </a:r>
                <a:endParaRPr sz="1000">
                  <a:solidFill>
                    <a:srgbClr val="666666"/>
                  </a:solidFill>
                </a:endParaRPr>
              </a:p>
            </p:txBody>
          </p:sp>
          <p:sp>
            <p:nvSpPr>
              <p:cNvPr id="825" name="Google Shape;825;p20"/>
              <p:cNvSpPr/>
              <p:nvPr/>
            </p:nvSpPr>
            <p:spPr>
              <a:xfrm>
                <a:off x="2041578" y="2331281"/>
                <a:ext cx="1002600" cy="2556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666666"/>
                    </a:solidFill>
                  </a:rPr>
                  <a:t>10,000</a:t>
                </a:r>
                <a:endParaRPr sz="1000">
                  <a:solidFill>
                    <a:srgbClr val="666666"/>
                  </a:solidFill>
                </a:endParaRPr>
              </a:p>
            </p:txBody>
          </p:sp>
          <p:sp>
            <p:nvSpPr>
              <p:cNvPr id="826" name="Google Shape;826;p20"/>
              <p:cNvSpPr/>
              <p:nvPr/>
            </p:nvSpPr>
            <p:spPr>
              <a:xfrm>
                <a:off x="3209350" y="2331245"/>
                <a:ext cx="259800" cy="2556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7" name="Google Shape;827;p20"/>
              <p:cNvSpPr/>
              <p:nvPr/>
            </p:nvSpPr>
            <p:spPr>
              <a:xfrm>
                <a:off x="697213" y="2686600"/>
                <a:ext cx="1276800" cy="2556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666666"/>
                    </a:solidFill>
                  </a:rPr>
                  <a:t>Laboratory</a:t>
                </a:r>
                <a:endParaRPr sz="1000">
                  <a:solidFill>
                    <a:srgbClr val="666666"/>
                  </a:solidFill>
                </a:endParaRPr>
              </a:p>
            </p:txBody>
          </p:sp>
          <p:sp>
            <p:nvSpPr>
              <p:cNvPr id="828" name="Google Shape;828;p20"/>
              <p:cNvSpPr/>
              <p:nvPr/>
            </p:nvSpPr>
            <p:spPr>
              <a:xfrm>
                <a:off x="2041578" y="2681179"/>
                <a:ext cx="1002600" cy="2556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666666"/>
                    </a:solidFill>
                  </a:rPr>
                  <a:t>20,000</a:t>
                </a:r>
                <a:endParaRPr sz="1000">
                  <a:solidFill>
                    <a:srgbClr val="666666"/>
                  </a:solidFill>
                </a:endParaRPr>
              </a:p>
            </p:txBody>
          </p:sp>
          <p:sp>
            <p:nvSpPr>
              <p:cNvPr id="829" name="Google Shape;829;p20"/>
              <p:cNvSpPr/>
              <p:nvPr/>
            </p:nvSpPr>
            <p:spPr>
              <a:xfrm>
                <a:off x="3209350" y="2678019"/>
                <a:ext cx="259800" cy="2556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0" name="Google Shape;830;p20"/>
              <p:cNvSpPr/>
              <p:nvPr/>
            </p:nvSpPr>
            <p:spPr>
              <a:xfrm>
                <a:off x="3255692" y="2597665"/>
                <a:ext cx="332096" cy="255602"/>
              </a:xfrm>
              <a:custGeom>
                <a:rect b="b" l="l" r="r" t="t"/>
                <a:pathLst>
                  <a:path extrusionOk="0" h="4557" w="7125">
                    <a:moveTo>
                      <a:pt x="0" y="4027"/>
                    </a:moveTo>
                    <a:cubicBezTo>
                      <a:pt x="1930" y="5955"/>
                      <a:pt x="5196" y="1929"/>
                      <a:pt x="7125" y="0"/>
                    </a:cubicBezTo>
                  </a:path>
                </a:pathLst>
              </a:cu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31" name="Google Shape;831;p20"/>
              <p:cNvSpPr/>
              <p:nvPr/>
            </p:nvSpPr>
            <p:spPr>
              <a:xfrm rot="10800000">
                <a:off x="1757782" y="2416703"/>
                <a:ext cx="167100" cy="101400"/>
              </a:xfrm>
              <a:prstGeom prst="triangle">
                <a:avLst>
                  <a:gd fmla="val 50000" name="adj"/>
                </a:avLst>
              </a:prstGeom>
              <a:solidFill>
                <a:srgbClr val="B7B7B7"/>
              </a:solidFill>
              <a:ln cap="flat" cmpd="sng" w="952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40175" lIns="140175" spcFirstLastPara="1" rIns="140175" wrap="square" tIns="1401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0"/>
              </a:p>
            </p:txBody>
          </p:sp>
          <p:sp>
            <p:nvSpPr>
              <p:cNvPr id="832" name="Google Shape;832;p20"/>
              <p:cNvSpPr/>
              <p:nvPr/>
            </p:nvSpPr>
            <p:spPr>
              <a:xfrm rot="10800000">
                <a:off x="1757782" y="2774054"/>
                <a:ext cx="167100" cy="101400"/>
              </a:xfrm>
              <a:prstGeom prst="triangle">
                <a:avLst>
                  <a:gd fmla="val 50000" name="adj"/>
                </a:avLst>
              </a:prstGeom>
              <a:solidFill>
                <a:srgbClr val="B7B7B7"/>
              </a:solidFill>
              <a:ln cap="flat" cmpd="sng" w="952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40175" lIns="140175" spcFirstLastPara="1" rIns="140175" wrap="square" tIns="1401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0"/>
              </a:p>
            </p:txBody>
          </p:sp>
        </p:grpSp>
        <p:sp>
          <p:nvSpPr>
            <p:cNvPr id="833" name="Google Shape;833;p20"/>
            <p:cNvSpPr/>
            <p:nvPr/>
          </p:nvSpPr>
          <p:spPr>
            <a:xfrm>
              <a:off x="370627" y="2085481"/>
              <a:ext cx="1469400" cy="25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200">
                  <a:solidFill>
                    <a:srgbClr val="666666"/>
                  </a:solidFill>
                </a:rPr>
                <a:t>New buildings</a:t>
              </a:r>
              <a:endParaRPr i="1" sz="1200">
                <a:solidFill>
                  <a:srgbClr val="666666"/>
                </a:solidFill>
              </a:endParaRPr>
            </a:p>
          </p:txBody>
        </p:sp>
        <p:sp>
          <p:nvSpPr>
            <p:cNvPr id="834" name="Google Shape;834;p20"/>
            <p:cNvSpPr/>
            <p:nvPr/>
          </p:nvSpPr>
          <p:spPr>
            <a:xfrm>
              <a:off x="370625" y="3350145"/>
              <a:ext cx="1785900" cy="25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200">
                  <a:solidFill>
                    <a:srgbClr val="666666"/>
                  </a:solidFill>
                </a:rPr>
                <a:t>Demolished buildings</a:t>
              </a:r>
              <a:endParaRPr i="1" sz="1200">
                <a:solidFill>
                  <a:srgbClr val="666666"/>
                </a:solidFill>
              </a:endParaRPr>
            </a:p>
          </p:txBody>
        </p:sp>
        <p:cxnSp>
          <p:nvCxnSpPr>
            <p:cNvPr id="835" name="Google Shape;835;p20"/>
            <p:cNvCxnSpPr/>
            <p:nvPr/>
          </p:nvCxnSpPr>
          <p:spPr>
            <a:xfrm>
              <a:off x="493000" y="3256804"/>
              <a:ext cx="3267600" cy="11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836" name="Google Shape;836;p20"/>
            <p:cNvGrpSpPr/>
            <p:nvPr/>
          </p:nvGrpSpPr>
          <p:grpSpPr>
            <a:xfrm>
              <a:off x="697217" y="3687384"/>
              <a:ext cx="2619425" cy="255631"/>
              <a:chOff x="697213" y="2331250"/>
              <a:chExt cx="2619425" cy="255631"/>
            </a:xfrm>
          </p:grpSpPr>
          <p:grpSp>
            <p:nvGrpSpPr>
              <p:cNvPr id="837" name="Google Shape;837;p20"/>
              <p:cNvGrpSpPr/>
              <p:nvPr/>
            </p:nvGrpSpPr>
            <p:grpSpPr>
              <a:xfrm>
                <a:off x="3099738" y="2352810"/>
                <a:ext cx="216900" cy="218100"/>
                <a:chOff x="3105213" y="1846663"/>
                <a:chExt cx="216900" cy="218100"/>
              </a:xfrm>
            </p:grpSpPr>
            <p:cxnSp>
              <p:nvCxnSpPr>
                <p:cNvPr id="838" name="Google Shape;838;p20"/>
                <p:cNvCxnSpPr/>
                <p:nvPr/>
              </p:nvCxnSpPr>
              <p:spPr>
                <a:xfrm flipH="1">
                  <a:off x="3213513" y="1846663"/>
                  <a:ext cx="300" cy="218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839" name="Google Shape;839;p20"/>
                <p:cNvCxnSpPr/>
                <p:nvPr/>
              </p:nvCxnSpPr>
              <p:spPr>
                <a:xfrm>
                  <a:off x="3105213" y="1953913"/>
                  <a:ext cx="216900" cy="36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840" name="Google Shape;840;p20"/>
              <p:cNvSpPr/>
              <p:nvPr/>
            </p:nvSpPr>
            <p:spPr>
              <a:xfrm>
                <a:off x="697213" y="2331250"/>
                <a:ext cx="1276800" cy="2556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666666"/>
                    </a:solidFill>
                  </a:rPr>
                  <a:t>Barracks</a:t>
                </a:r>
                <a:endParaRPr sz="1000">
                  <a:solidFill>
                    <a:srgbClr val="666666"/>
                  </a:solidFill>
                </a:endParaRPr>
              </a:p>
            </p:txBody>
          </p:sp>
          <p:sp>
            <p:nvSpPr>
              <p:cNvPr id="841" name="Google Shape;841;p20"/>
              <p:cNvSpPr/>
              <p:nvPr/>
            </p:nvSpPr>
            <p:spPr>
              <a:xfrm>
                <a:off x="2041578" y="2331281"/>
                <a:ext cx="1002600" cy="2556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666666"/>
                    </a:solidFill>
                  </a:rPr>
                  <a:t>50,000</a:t>
                </a:r>
                <a:endParaRPr sz="1000">
                  <a:solidFill>
                    <a:srgbClr val="666666"/>
                  </a:solidFill>
                </a:endParaRPr>
              </a:p>
            </p:txBody>
          </p:sp>
          <p:sp>
            <p:nvSpPr>
              <p:cNvPr id="842" name="Google Shape;842;p20"/>
              <p:cNvSpPr/>
              <p:nvPr/>
            </p:nvSpPr>
            <p:spPr>
              <a:xfrm rot="10800000">
                <a:off x="1757782" y="2416703"/>
                <a:ext cx="167100" cy="101400"/>
              </a:xfrm>
              <a:prstGeom prst="triangle">
                <a:avLst>
                  <a:gd fmla="val 50000" name="adj"/>
                </a:avLst>
              </a:prstGeom>
              <a:solidFill>
                <a:srgbClr val="B7B7B7"/>
              </a:solidFill>
              <a:ln cap="flat" cmpd="sng" w="952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40175" lIns="140175" spcFirstLastPara="1" rIns="140175" wrap="square" tIns="1401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0"/>
              </a:p>
            </p:txBody>
          </p:sp>
        </p:grpSp>
      </p:grpSp>
      <p:sp>
        <p:nvSpPr>
          <p:cNvPr id="843" name="Google Shape;843;p20"/>
          <p:cNvSpPr/>
          <p:nvPr/>
        </p:nvSpPr>
        <p:spPr>
          <a:xfrm>
            <a:off x="-3678" y="-1570"/>
            <a:ext cx="13725900" cy="811200"/>
          </a:xfrm>
          <a:prstGeom prst="rect">
            <a:avLst/>
          </a:prstGeom>
          <a:solidFill>
            <a:srgbClr val="EDF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44" name="Google Shape;84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1400" y="140109"/>
            <a:ext cx="672433" cy="510249"/>
          </a:xfrm>
          <a:prstGeom prst="rect">
            <a:avLst/>
          </a:prstGeom>
          <a:noFill/>
          <a:ln>
            <a:noFill/>
          </a:ln>
        </p:spPr>
      </p:pic>
      <p:sp>
        <p:nvSpPr>
          <p:cNvPr id="845" name="Google Shape;845;p20"/>
          <p:cNvSpPr txBox="1"/>
          <p:nvPr>
            <p:ph idx="1" type="subTitle"/>
          </p:nvPr>
        </p:nvSpPr>
        <p:spPr>
          <a:xfrm>
            <a:off x="761825" y="140088"/>
            <a:ext cx="12825300" cy="510300"/>
          </a:xfrm>
          <a:prstGeom prst="rect">
            <a:avLst/>
          </a:prstGeom>
          <a:ln>
            <a:noFill/>
          </a:ln>
        </p:spPr>
        <p:txBody>
          <a:bodyPr anchorCtr="0" anchor="t" bIns="140175" lIns="140175" spcFirstLastPara="1" rIns="140175" wrap="square" tIns="140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Merriweather"/>
                <a:ea typeface="Merriweather"/>
                <a:cs typeface="Merriweather"/>
                <a:sym typeface="Merriweather"/>
              </a:rPr>
              <a:t>Building Supply chain Material Analysis and Risk Trade-off Tool (BuildSMART v1)</a:t>
            </a:r>
            <a:r>
              <a:rPr b="1" lang="en" sz="1700"/>
              <a:t>           </a:t>
            </a:r>
            <a:r>
              <a:rPr b="1" lang="en" sz="1700">
                <a:solidFill>
                  <a:srgbClr val="999999"/>
                </a:solidFill>
              </a:rPr>
              <a:t>Main Page         </a:t>
            </a:r>
            <a:r>
              <a:rPr b="1" lang="en" sz="1700">
                <a:solidFill>
                  <a:srgbClr val="999999"/>
                </a:solidFill>
              </a:rPr>
              <a:t>About</a:t>
            </a:r>
            <a:r>
              <a:rPr b="1" lang="en" sz="1700">
                <a:solidFill>
                  <a:srgbClr val="999999"/>
                </a:solidFill>
              </a:rPr>
              <a:t>          Contact</a:t>
            </a:r>
            <a:endParaRPr b="1" sz="1700">
              <a:solidFill>
                <a:srgbClr val="999999"/>
              </a:solidFill>
            </a:endParaRPr>
          </a:p>
        </p:txBody>
      </p:sp>
      <p:pic>
        <p:nvPicPr>
          <p:cNvPr id="846" name="Google Shape;846;p20" title="Chart"/>
          <p:cNvPicPr preferRelativeResize="0"/>
          <p:nvPr/>
        </p:nvPicPr>
        <p:blipFill rotWithShape="1">
          <a:blip r:embed="rId7">
            <a:alphaModFix/>
          </a:blip>
          <a:srcRect b="0" l="0" r="0" t="11174"/>
          <a:stretch/>
        </p:blipFill>
        <p:spPr>
          <a:xfrm>
            <a:off x="9117399" y="1378293"/>
            <a:ext cx="3909465" cy="21472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47" name="Google Shape;847;p20"/>
          <p:cNvGrpSpPr/>
          <p:nvPr/>
        </p:nvGrpSpPr>
        <p:grpSpPr>
          <a:xfrm>
            <a:off x="4340597" y="7083175"/>
            <a:ext cx="4557232" cy="618331"/>
            <a:chOff x="4268193" y="552116"/>
            <a:chExt cx="6213843" cy="697025"/>
          </a:xfrm>
        </p:grpSpPr>
        <p:sp>
          <p:nvSpPr>
            <p:cNvPr id="848" name="Google Shape;848;p20"/>
            <p:cNvSpPr/>
            <p:nvPr/>
          </p:nvSpPr>
          <p:spPr>
            <a:xfrm>
              <a:off x="6760562" y="609015"/>
              <a:ext cx="3546300" cy="255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8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1100" lIns="81100" spcFirstLastPara="1" rIns="81100" wrap="square" tIns="811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41"/>
            </a:p>
          </p:txBody>
        </p:sp>
        <p:sp>
          <p:nvSpPr>
            <p:cNvPr id="849" name="Google Shape;849;p20"/>
            <p:cNvSpPr txBox="1"/>
            <p:nvPr/>
          </p:nvSpPr>
          <p:spPr>
            <a:xfrm>
              <a:off x="4268193" y="552116"/>
              <a:ext cx="28551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100" lIns="81100" spcFirstLastPara="1" rIns="81100" wrap="square" tIns="8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86">
                  <a:solidFill>
                    <a:srgbClr val="B7B7B7"/>
                  </a:solidFill>
                </a:rPr>
                <a:t>CONSTRUCTION YEAR</a:t>
              </a:r>
              <a:endParaRPr b="1" sz="1186">
                <a:solidFill>
                  <a:srgbClr val="B7B7B7"/>
                </a:solidFill>
              </a:endParaRPr>
            </a:p>
          </p:txBody>
        </p:sp>
        <p:sp>
          <p:nvSpPr>
            <p:cNvPr id="850" name="Google Shape;850;p20"/>
            <p:cNvSpPr txBox="1"/>
            <p:nvPr/>
          </p:nvSpPr>
          <p:spPr>
            <a:xfrm>
              <a:off x="6732035" y="810841"/>
              <a:ext cx="37500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100" lIns="81100" spcFirstLastPara="1" rIns="81100" wrap="square" tIns="8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20">
                  <a:solidFill>
                    <a:schemeClr val="dk2"/>
                  </a:solidFill>
                </a:rPr>
                <a:t>2020	2030	2040	2050	2060	2070</a:t>
              </a:r>
              <a:endParaRPr sz="620">
                <a:solidFill>
                  <a:schemeClr val="dk2"/>
                </a:solidFill>
              </a:endParaRPr>
            </a:p>
          </p:txBody>
        </p:sp>
        <p:sp>
          <p:nvSpPr>
            <p:cNvPr id="851" name="Google Shape;851;p20"/>
            <p:cNvSpPr/>
            <p:nvPr/>
          </p:nvSpPr>
          <p:spPr>
            <a:xfrm>
              <a:off x="6766092" y="605847"/>
              <a:ext cx="202200" cy="2556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 cap="flat" cmpd="sng" w="8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1100" lIns="81100" spcFirstLastPara="1" rIns="81100" wrap="square" tIns="811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41"/>
            </a:p>
          </p:txBody>
        </p:sp>
      </p:grpSp>
      <p:grpSp>
        <p:nvGrpSpPr>
          <p:cNvPr id="852" name="Google Shape;852;p20"/>
          <p:cNvGrpSpPr/>
          <p:nvPr/>
        </p:nvGrpSpPr>
        <p:grpSpPr>
          <a:xfrm>
            <a:off x="8869612" y="4172248"/>
            <a:ext cx="4405034" cy="2794775"/>
            <a:chOff x="9037729" y="4704523"/>
            <a:chExt cx="4405034" cy="2794775"/>
          </a:xfrm>
        </p:grpSpPr>
        <p:grpSp>
          <p:nvGrpSpPr>
            <p:cNvPr id="853" name="Google Shape;853;p20"/>
            <p:cNvGrpSpPr/>
            <p:nvPr/>
          </p:nvGrpSpPr>
          <p:grpSpPr>
            <a:xfrm>
              <a:off x="9037729" y="4704523"/>
              <a:ext cx="4405034" cy="2794775"/>
              <a:chOff x="9079752" y="3946051"/>
              <a:chExt cx="4405034" cy="2794775"/>
            </a:xfrm>
          </p:grpSpPr>
          <p:sp>
            <p:nvSpPr>
              <p:cNvPr id="854" name="Google Shape;854;p20"/>
              <p:cNvSpPr txBox="1"/>
              <p:nvPr/>
            </p:nvSpPr>
            <p:spPr>
              <a:xfrm>
                <a:off x="9079752" y="3946051"/>
                <a:ext cx="40734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73200" lIns="73200" spcFirstLastPara="1" rIns="73200" wrap="square" tIns="732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81">
                    <a:solidFill>
                      <a:srgbClr val="666666"/>
                    </a:solidFill>
                  </a:rPr>
                  <a:t>PROJECTED MATERIAL AVAILABILITY</a:t>
                </a:r>
                <a:endParaRPr b="1" sz="360">
                  <a:solidFill>
                    <a:srgbClr val="666666"/>
                  </a:solidFill>
                </a:endParaRPr>
              </a:p>
            </p:txBody>
          </p:sp>
          <p:sp>
            <p:nvSpPr>
              <p:cNvPr id="855" name="Google Shape;855;p20"/>
              <p:cNvSpPr/>
              <p:nvPr/>
            </p:nvSpPr>
            <p:spPr>
              <a:xfrm>
                <a:off x="9148885" y="4259825"/>
                <a:ext cx="4335900" cy="2481000"/>
              </a:xfrm>
              <a:prstGeom prst="rect">
                <a:avLst/>
              </a:prstGeom>
              <a:noFill/>
              <a:ln cap="flat" cmpd="sng" w="7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3200" lIns="73200" spcFirstLastPara="1" rIns="73200" wrap="square" tIns="732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120"/>
              </a:p>
            </p:txBody>
          </p:sp>
          <p:pic>
            <p:nvPicPr>
              <p:cNvPr id="856" name="Google Shape;856;p20" title="Screenshot 2026-02-19 at 10.15.05 AM.png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-281" t="0"/>
              <a:stretch/>
            </p:blipFill>
            <p:spPr>
              <a:xfrm>
                <a:off x="9286250" y="4386900"/>
                <a:ext cx="4073401" cy="2226850"/>
              </a:xfrm>
              <a:prstGeom prst="rect">
                <a:avLst/>
              </a:prstGeom>
              <a:noFill/>
              <a:ln cap="flat" cmpd="sng" w="9525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</p:pic>
        </p:grpSp>
        <p:pic>
          <p:nvPicPr>
            <p:cNvPr id="857" name="Google Shape;857;p20" title="expand-icon-symbol-design-illustration-vector.jpg"/>
            <p:cNvPicPr preferRelativeResize="0"/>
            <p:nvPr/>
          </p:nvPicPr>
          <p:blipFill rotWithShape="1">
            <a:blip r:embed="rId9">
              <a:alphaModFix/>
            </a:blip>
            <a:srcRect b="11143" l="12219" r="0" t="0"/>
            <a:stretch/>
          </p:blipFill>
          <p:spPr>
            <a:xfrm>
              <a:off x="13211244" y="5054337"/>
              <a:ext cx="224376" cy="22712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858" name="Google Shape;858;p20"/>
          <p:cNvCxnSpPr/>
          <p:nvPr/>
        </p:nvCxnSpPr>
        <p:spPr>
          <a:xfrm>
            <a:off x="4426782" y="4027001"/>
            <a:ext cx="8858100" cy="6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859" name="Google Shape;859;p20"/>
          <p:cNvGrpSpPr/>
          <p:nvPr/>
        </p:nvGrpSpPr>
        <p:grpSpPr>
          <a:xfrm>
            <a:off x="8846180" y="7077437"/>
            <a:ext cx="4557232" cy="618331"/>
            <a:chOff x="4268193" y="552116"/>
            <a:chExt cx="6213843" cy="697025"/>
          </a:xfrm>
        </p:grpSpPr>
        <p:sp>
          <p:nvSpPr>
            <p:cNvPr id="860" name="Google Shape;860;p20"/>
            <p:cNvSpPr/>
            <p:nvPr/>
          </p:nvSpPr>
          <p:spPr>
            <a:xfrm>
              <a:off x="6760562" y="609015"/>
              <a:ext cx="3546300" cy="255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8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1100" lIns="81100" spcFirstLastPara="1" rIns="81100" wrap="square" tIns="811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41"/>
            </a:p>
          </p:txBody>
        </p:sp>
        <p:sp>
          <p:nvSpPr>
            <p:cNvPr id="861" name="Google Shape;861;p20"/>
            <p:cNvSpPr txBox="1"/>
            <p:nvPr/>
          </p:nvSpPr>
          <p:spPr>
            <a:xfrm>
              <a:off x="4268193" y="552116"/>
              <a:ext cx="28551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100" lIns="81100" spcFirstLastPara="1" rIns="81100" wrap="square" tIns="8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86">
                  <a:solidFill>
                    <a:srgbClr val="B7B7B7"/>
                  </a:solidFill>
                </a:rPr>
                <a:t>CONSTRUCTION YEAR</a:t>
              </a:r>
              <a:endParaRPr b="1" sz="1186">
                <a:solidFill>
                  <a:srgbClr val="B7B7B7"/>
                </a:solidFill>
              </a:endParaRPr>
            </a:p>
          </p:txBody>
        </p:sp>
        <p:sp>
          <p:nvSpPr>
            <p:cNvPr id="862" name="Google Shape;862;p20"/>
            <p:cNvSpPr txBox="1"/>
            <p:nvPr/>
          </p:nvSpPr>
          <p:spPr>
            <a:xfrm>
              <a:off x="6732035" y="810841"/>
              <a:ext cx="37500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100" lIns="81100" spcFirstLastPara="1" rIns="81100" wrap="square" tIns="8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20">
                  <a:solidFill>
                    <a:schemeClr val="dk2"/>
                  </a:solidFill>
                </a:rPr>
                <a:t>2020	2030	2040	2050	2060	2070</a:t>
              </a:r>
              <a:endParaRPr sz="620">
                <a:solidFill>
                  <a:schemeClr val="dk2"/>
                </a:solidFill>
              </a:endParaRPr>
            </a:p>
          </p:txBody>
        </p:sp>
        <p:sp>
          <p:nvSpPr>
            <p:cNvPr id="863" name="Google Shape;863;p20"/>
            <p:cNvSpPr/>
            <p:nvPr/>
          </p:nvSpPr>
          <p:spPr>
            <a:xfrm>
              <a:off x="6766092" y="605847"/>
              <a:ext cx="202200" cy="255600"/>
            </a:xfrm>
            <a:prstGeom prst="roundRect">
              <a:avLst>
                <a:gd fmla="val 16667" name="adj"/>
              </a:avLst>
            </a:prstGeom>
            <a:solidFill>
              <a:schemeClr val="dk2"/>
            </a:solidFill>
            <a:ln cap="flat" cmpd="sng" w="8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1100" lIns="81100" spcFirstLastPara="1" rIns="81100" wrap="square" tIns="811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41"/>
            </a:p>
          </p:txBody>
        </p:sp>
      </p:grpSp>
      <p:grpSp>
        <p:nvGrpSpPr>
          <p:cNvPr id="864" name="Google Shape;864;p20"/>
          <p:cNvGrpSpPr/>
          <p:nvPr/>
        </p:nvGrpSpPr>
        <p:grpSpPr>
          <a:xfrm>
            <a:off x="4349911" y="934411"/>
            <a:ext cx="4421103" cy="2819555"/>
            <a:chOff x="4349911" y="934411"/>
            <a:chExt cx="4421103" cy="2819555"/>
          </a:xfrm>
        </p:grpSpPr>
        <p:grpSp>
          <p:nvGrpSpPr>
            <p:cNvPr id="865" name="Google Shape;865;p20"/>
            <p:cNvGrpSpPr/>
            <p:nvPr/>
          </p:nvGrpSpPr>
          <p:grpSpPr>
            <a:xfrm>
              <a:off x="4349911" y="934411"/>
              <a:ext cx="4421103" cy="2819555"/>
              <a:chOff x="4043712" y="1229950"/>
              <a:chExt cx="5522238" cy="3521803"/>
            </a:xfrm>
          </p:grpSpPr>
          <p:sp>
            <p:nvSpPr>
              <p:cNvPr id="866" name="Google Shape;866;p20"/>
              <p:cNvSpPr/>
              <p:nvPr/>
            </p:nvSpPr>
            <p:spPr>
              <a:xfrm>
                <a:off x="4150050" y="1612488"/>
                <a:ext cx="5415900" cy="3099000"/>
              </a:xfrm>
              <a:prstGeom prst="rect">
                <a:avLst/>
              </a:prstGeom>
              <a:noFill/>
              <a:ln cap="flat" cmpd="sng" w="7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3200" lIns="73200" spcFirstLastPara="1" rIns="73200" wrap="square" tIns="732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120"/>
              </a:p>
            </p:txBody>
          </p:sp>
          <p:sp>
            <p:nvSpPr>
              <p:cNvPr id="867" name="Google Shape;867;p20"/>
              <p:cNvSpPr txBox="1"/>
              <p:nvPr/>
            </p:nvSpPr>
            <p:spPr>
              <a:xfrm>
                <a:off x="4043712" y="1229950"/>
                <a:ext cx="4417800" cy="469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73200" lIns="73200" spcFirstLastPara="1" rIns="73200" wrap="square" tIns="732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81">
                    <a:solidFill>
                      <a:srgbClr val="666666"/>
                    </a:solidFill>
                  </a:rPr>
                  <a:t>BASELINE MATERIAL DEMAND</a:t>
                </a:r>
                <a:endParaRPr b="1" sz="360">
                  <a:solidFill>
                    <a:srgbClr val="666666"/>
                  </a:solidFill>
                </a:endParaRPr>
              </a:p>
            </p:txBody>
          </p:sp>
          <p:grpSp>
            <p:nvGrpSpPr>
              <p:cNvPr id="868" name="Google Shape;868;p20"/>
              <p:cNvGrpSpPr/>
              <p:nvPr/>
            </p:nvGrpSpPr>
            <p:grpSpPr>
              <a:xfrm>
                <a:off x="4056895" y="4214633"/>
                <a:ext cx="1923164" cy="537120"/>
                <a:chOff x="4257757" y="4214633"/>
                <a:chExt cx="1923164" cy="537120"/>
              </a:xfrm>
            </p:grpSpPr>
            <p:sp>
              <p:nvSpPr>
                <p:cNvPr id="869" name="Google Shape;869;p20"/>
                <p:cNvSpPr txBox="1"/>
                <p:nvPr/>
              </p:nvSpPr>
              <p:spPr>
                <a:xfrm>
                  <a:off x="4257757" y="4241453"/>
                  <a:ext cx="1269300" cy="510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56000" lIns="156000" spcFirstLastPara="1" rIns="156000" wrap="square" tIns="1560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761">
                      <a:solidFill>
                        <a:srgbClr val="999999"/>
                      </a:solidFill>
                    </a:rPr>
                    <a:t>Sankey diagram</a:t>
                  </a:r>
                  <a:endParaRPr sz="761">
                    <a:solidFill>
                      <a:srgbClr val="999999"/>
                    </a:solidFill>
                  </a:endParaRPr>
                </a:p>
              </p:txBody>
            </p:sp>
            <p:grpSp>
              <p:nvGrpSpPr>
                <p:cNvPr id="870" name="Google Shape;870;p20"/>
                <p:cNvGrpSpPr/>
                <p:nvPr/>
              </p:nvGrpSpPr>
              <p:grpSpPr>
                <a:xfrm>
                  <a:off x="5387374" y="4214633"/>
                  <a:ext cx="793547" cy="433200"/>
                  <a:chOff x="5387374" y="4214633"/>
                  <a:chExt cx="793547" cy="433200"/>
                </a:xfrm>
              </p:grpSpPr>
              <p:grpSp>
                <p:nvGrpSpPr>
                  <p:cNvPr id="871" name="Google Shape;871;p20"/>
                  <p:cNvGrpSpPr/>
                  <p:nvPr/>
                </p:nvGrpSpPr>
                <p:grpSpPr>
                  <a:xfrm>
                    <a:off x="5387374" y="4365780"/>
                    <a:ext cx="761210" cy="261650"/>
                    <a:chOff x="5509499" y="4365730"/>
                    <a:chExt cx="761210" cy="261650"/>
                  </a:xfrm>
                </p:grpSpPr>
                <p:sp>
                  <p:nvSpPr>
                    <p:cNvPr id="872" name="Google Shape;872;p20"/>
                    <p:cNvSpPr/>
                    <p:nvPr/>
                  </p:nvSpPr>
                  <p:spPr>
                    <a:xfrm rot="-10800000">
                      <a:off x="5513034" y="4365730"/>
                      <a:ext cx="757675" cy="261650"/>
                    </a:xfrm>
                    <a:prstGeom prst="flowChartMagneticDrum">
                      <a:avLst/>
                    </a:prstGeom>
                    <a:solidFill>
                      <a:srgbClr val="CCCCCC"/>
                    </a:solidFill>
                    <a:ln cap="flat" cmpd="sng" w="106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156000" lIns="156000" spcFirstLastPara="1" rIns="156000" wrap="square" tIns="156000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36"/>
                    </a:p>
                  </p:txBody>
                </p:sp>
                <p:sp>
                  <p:nvSpPr>
                    <p:cNvPr id="873" name="Google Shape;873;p20"/>
                    <p:cNvSpPr/>
                    <p:nvPr/>
                  </p:nvSpPr>
                  <p:spPr>
                    <a:xfrm>
                      <a:off x="5509499" y="4370260"/>
                      <a:ext cx="259500" cy="252600"/>
                    </a:xfrm>
                    <a:prstGeom prst="ellipse">
                      <a:avLst/>
                    </a:prstGeom>
                    <a:solidFill>
                      <a:schemeClr val="lt1"/>
                    </a:solidFill>
                    <a:ln cap="flat" cmpd="sng" w="106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156000" lIns="156000" spcFirstLastPara="1" rIns="156000" wrap="square" tIns="156000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36"/>
                    </a:p>
                  </p:txBody>
                </p:sp>
              </p:grpSp>
              <p:sp>
                <p:nvSpPr>
                  <p:cNvPr id="874" name="Google Shape;874;p20"/>
                  <p:cNvSpPr txBox="1"/>
                  <p:nvPr/>
                </p:nvSpPr>
                <p:spPr>
                  <a:xfrm>
                    <a:off x="5508621" y="4214633"/>
                    <a:ext cx="672300" cy="433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156000" lIns="156000" spcFirstLastPara="1" rIns="156000" wrap="square" tIns="1560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1001">
                        <a:solidFill>
                          <a:schemeClr val="lt1"/>
                        </a:solidFill>
                      </a:rPr>
                      <a:t>Off</a:t>
                    </a:r>
                    <a:endParaRPr sz="1001">
                      <a:solidFill>
                        <a:schemeClr val="lt1"/>
                      </a:solidFill>
                    </a:endParaRPr>
                  </a:p>
                </p:txBody>
              </p:sp>
            </p:grpSp>
          </p:grpSp>
        </p:grpSp>
        <p:pic>
          <p:nvPicPr>
            <p:cNvPr id="875" name="Google Shape;875;p20" title="download.png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8474425" y="1284577"/>
              <a:ext cx="259800" cy="259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876" name="Google Shape;876;p20"/>
          <p:cNvGrpSpPr/>
          <p:nvPr/>
        </p:nvGrpSpPr>
        <p:grpSpPr>
          <a:xfrm>
            <a:off x="4349911" y="4181419"/>
            <a:ext cx="4421103" cy="2819555"/>
            <a:chOff x="4349911" y="4181419"/>
            <a:chExt cx="4421103" cy="2819555"/>
          </a:xfrm>
        </p:grpSpPr>
        <p:grpSp>
          <p:nvGrpSpPr>
            <p:cNvPr id="877" name="Google Shape;877;p20"/>
            <p:cNvGrpSpPr/>
            <p:nvPr/>
          </p:nvGrpSpPr>
          <p:grpSpPr>
            <a:xfrm>
              <a:off x="4349911" y="4181419"/>
              <a:ext cx="4421103" cy="2819555"/>
              <a:chOff x="4043712" y="1229950"/>
              <a:chExt cx="5522238" cy="3521803"/>
            </a:xfrm>
          </p:grpSpPr>
          <p:sp>
            <p:nvSpPr>
              <p:cNvPr id="878" name="Google Shape;878;p20"/>
              <p:cNvSpPr/>
              <p:nvPr/>
            </p:nvSpPr>
            <p:spPr>
              <a:xfrm>
                <a:off x="4150050" y="1612488"/>
                <a:ext cx="5415900" cy="3099000"/>
              </a:xfrm>
              <a:prstGeom prst="rect">
                <a:avLst/>
              </a:prstGeom>
              <a:noFill/>
              <a:ln cap="flat" cmpd="sng" w="7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3200" lIns="73200" spcFirstLastPara="1" rIns="73200" wrap="square" tIns="732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120"/>
              </a:p>
            </p:txBody>
          </p:sp>
          <p:grpSp>
            <p:nvGrpSpPr>
              <p:cNvPr id="879" name="Google Shape;879;p20"/>
              <p:cNvGrpSpPr/>
              <p:nvPr/>
            </p:nvGrpSpPr>
            <p:grpSpPr>
              <a:xfrm>
                <a:off x="4043712" y="1229950"/>
                <a:ext cx="5157113" cy="3421454"/>
                <a:chOff x="4205837" y="1005375"/>
                <a:chExt cx="5157113" cy="3421454"/>
              </a:xfrm>
            </p:grpSpPr>
            <p:pic>
              <p:nvPicPr>
                <p:cNvPr id="880" name="Google Shape;880;p20" title="Chart"/>
                <p:cNvPicPr preferRelativeResize="0"/>
                <p:nvPr/>
              </p:nvPicPr>
              <p:blipFill rotWithShape="1">
                <a:blip r:embed="rId11">
                  <a:alphaModFix/>
                </a:blip>
                <a:srcRect b="0" l="0" r="0" t="11143"/>
                <a:stretch/>
              </p:blipFill>
              <p:spPr>
                <a:xfrm>
                  <a:off x="4479975" y="1744863"/>
                  <a:ext cx="4882975" cy="2681966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881" name="Google Shape;881;p20"/>
                <p:cNvSpPr txBox="1"/>
                <p:nvPr/>
              </p:nvSpPr>
              <p:spPr>
                <a:xfrm>
                  <a:off x="4205837" y="1005375"/>
                  <a:ext cx="4417800" cy="469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73200" lIns="73200" spcFirstLastPara="1" rIns="73200" wrap="square" tIns="73200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481">
                      <a:solidFill>
                        <a:srgbClr val="666666"/>
                      </a:solidFill>
                    </a:rPr>
                    <a:t>PROJECTED MATERIAL DEMAND</a:t>
                  </a:r>
                  <a:endParaRPr b="1" sz="360">
                    <a:solidFill>
                      <a:srgbClr val="666666"/>
                    </a:solidFill>
                  </a:endParaRPr>
                </a:p>
              </p:txBody>
            </p:sp>
          </p:grpSp>
          <p:grpSp>
            <p:nvGrpSpPr>
              <p:cNvPr id="882" name="Google Shape;882;p20"/>
              <p:cNvGrpSpPr/>
              <p:nvPr/>
            </p:nvGrpSpPr>
            <p:grpSpPr>
              <a:xfrm>
                <a:off x="4056895" y="4208337"/>
                <a:ext cx="1928164" cy="543415"/>
                <a:chOff x="4257757" y="4208337"/>
                <a:chExt cx="1928164" cy="543415"/>
              </a:xfrm>
            </p:grpSpPr>
            <p:sp>
              <p:nvSpPr>
                <p:cNvPr id="883" name="Google Shape;883;p20"/>
                <p:cNvSpPr txBox="1"/>
                <p:nvPr/>
              </p:nvSpPr>
              <p:spPr>
                <a:xfrm>
                  <a:off x="4257757" y="4241453"/>
                  <a:ext cx="1269300" cy="510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56000" lIns="156000" spcFirstLastPara="1" rIns="156000" wrap="square" tIns="1560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761">
                      <a:solidFill>
                        <a:srgbClr val="999999"/>
                      </a:solidFill>
                    </a:rPr>
                    <a:t>Sankey diagram</a:t>
                  </a:r>
                  <a:endParaRPr sz="761">
                    <a:solidFill>
                      <a:srgbClr val="999999"/>
                    </a:solidFill>
                  </a:endParaRPr>
                </a:p>
              </p:txBody>
            </p:sp>
            <p:grpSp>
              <p:nvGrpSpPr>
                <p:cNvPr id="884" name="Google Shape;884;p20"/>
                <p:cNvGrpSpPr/>
                <p:nvPr/>
              </p:nvGrpSpPr>
              <p:grpSpPr>
                <a:xfrm>
                  <a:off x="5383729" y="4208337"/>
                  <a:ext cx="802192" cy="433200"/>
                  <a:chOff x="5383729" y="4208337"/>
                  <a:chExt cx="802192" cy="433200"/>
                </a:xfrm>
              </p:grpSpPr>
              <p:grpSp>
                <p:nvGrpSpPr>
                  <p:cNvPr id="885" name="Google Shape;885;p20"/>
                  <p:cNvGrpSpPr/>
                  <p:nvPr/>
                </p:nvGrpSpPr>
                <p:grpSpPr>
                  <a:xfrm>
                    <a:off x="5383729" y="4365780"/>
                    <a:ext cx="764855" cy="261650"/>
                    <a:chOff x="5505854" y="4365730"/>
                    <a:chExt cx="764855" cy="261650"/>
                  </a:xfrm>
                </p:grpSpPr>
                <p:sp>
                  <p:nvSpPr>
                    <p:cNvPr id="886" name="Google Shape;886;p20"/>
                    <p:cNvSpPr/>
                    <p:nvPr/>
                  </p:nvSpPr>
                  <p:spPr>
                    <a:xfrm rot="-10800000">
                      <a:off x="5513034" y="4365730"/>
                      <a:ext cx="757675" cy="261650"/>
                    </a:xfrm>
                    <a:prstGeom prst="flowChartMagneticDrum">
                      <a:avLst/>
                    </a:prstGeom>
                    <a:solidFill>
                      <a:srgbClr val="CCCCCC"/>
                    </a:solidFill>
                    <a:ln cap="flat" cmpd="sng" w="106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156000" lIns="156000" spcFirstLastPara="1" rIns="156000" wrap="square" tIns="156000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36"/>
                    </a:p>
                  </p:txBody>
                </p:sp>
                <p:sp>
                  <p:nvSpPr>
                    <p:cNvPr id="887" name="Google Shape;887;p20"/>
                    <p:cNvSpPr/>
                    <p:nvPr/>
                  </p:nvSpPr>
                  <p:spPr>
                    <a:xfrm>
                      <a:off x="5505854" y="4370260"/>
                      <a:ext cx="259500" cy="252600"/>
                    </a:xfrm>
                    <a:prstGeom prst="ellipse">
                      <a:avLst/>
                    </a:prstGeom>
                    <a:solidFill>
                      <a:schemeClr val="lt1"/>
                    </a:solidFill>
                    <a:ln cap="flat" cmpd="sng" w="106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156000" lIns="156000" spcFirstLastPara="1" rIns="156000" wrap="square" tIns="156000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36"/>
                    </a:p>
                  </p:txBody>
                </p:sp>
              </p:grpSp>
              <p:sp>
                <p:nvSpPr>
                  <p:cNvPr id="888" name="Google Shape;888;p20"/>
                  <p:cNvSpPr txBox="1"/>
                  <p:nvPr/>
                </p:nvSpPr>
                <p:spPr>
                  <a:xfrm>
                    <a:off x="5513621" y="4208337"/>
                    <a:ext cx="672300" cy="433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156000" lIns="156000" spcFirstLastPara="1" rIns="156000" wrap="square" tIns="1560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1001">
                        <a:solidFill>
                          <a:schemeClr val="lt1"/>
                        </a:solidFill>
                      </a:rPr>
                      <a:t>Off</a:t>
                    </a:r>
                    <a:endParaRPr sz="1001">
                      <a:solidFill>
                        <a:schemeClr val="lt1"/>
                      </a:solidFill>
                    </a:endParaRPr>
                  </a:p>
                </p:txBody>
              </p:sp>
            </p:grpSp>
          </p:grpSp>
        </p:grpSp>
        <p:pic>
          <p:nvPicPr>
            <p:cNvPr id="889" name="Google Shape;889;p20" title="download.png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8474425" y="4518577"/>
              <a:ext cx="259800" cy="259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890" name="Google Shape;890;p20"/>
          <p:cNvSpPr txBox="1"/>
          <p:nvPr/>
        </p:nvSpPr>
        <p:spPr>
          <a:xfrm>
            <a:off x="10027381" y="3473355"/>
            <a:ext cx="24513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74700" lIns="74700" spcFirstLastPara="1" rIns="74700" wrap="square" tIns="74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2">
                <a:solidFill>
                  <a:schemeClr val="dk1"/>
                </a:solidFill>
              </a:rPr>
              <a:t>Material Cost (USD)</a:t>
            </a:r>
            <a:endParaRPr sz="702">
              <a:solidFill>
                <a:schemeClr val="dk1"/>
              </a:solidFill>
            </a:endParaRPr>
          </a:p>
        </p:txBody>
      </p:sp>
      <p:sp>
        <p:nvSpPr>
          <p:cNvPr id="891" name="Google Shape;891;p20"/>
          <p:cNvSpPr txBox="1"/>
          <p:nvPr/>
        </p:nvSpPr>
        <p:spPr>
          <a:xfrm>
            <a:off x="8869623" y="932880"/>
            <a:ext cx="3537000" cy="3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200" lIns="73200" spcFirstLastPara="1" rIns="73200" wrap="square" tIns="732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81">
                <a:solidFill>
                  <a:srgbClr val="666666"/>
                </a:solidFill>
              </a:rPr>
              <a:t>BASELINE MATERIAL COST</a:t>
            </a:r>
            <a:endParaRPr b="1" sz="360">
              <a:solidFill>
                <a:srgbClr val="666666"/>
              </a:solidFill>
            </a:endParaRPr>
          </a:p>
        </p:txBody>
      </p:sp>
      <p:pic>
        <p:nvPicPr>
          <p:cNvPr id="892" name="Google Shape;892;p20" title="download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2975775" y="1284577"/>
            <a:ext cx="259800" cy="25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3" name="Google Shape;893;p20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0472075" y="6294275"/>
            <a:ext cx="332100" cy="332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4" name="Google Shape;894;p20"/>
          <p:cNvGrpSpPr/>
          <p:nvPr/>
        </p:nvGrpSpPr>
        <p:grpSpPr>
          <a:xfrm rot="-7747678">
            <a:off x="6731768" y="2298973"/>
            <a:ext cx="917135" cy="927853"/>
            <a:chOff x="5893568" y="3081812"/>
            <a:chExt cx="1184774" cy="1198522"/>
          </a:xfrm>
        </p:grpSpPr>
        <p:grpSp>
          <p:nvGrpSpPr>
            <p:cNvPr id="895" name="Google Shape;895;p20"/>
            <p:cNvGrpSpPr/>
            <p:nvPr/>
          </p:nvGrpSpPr>
          <p:grpSpPr>
            <a:xfrm rot="-2553858">
              <a:off x="6121452" y="3202192"/>
              <a:ext cx="729006" cy="957763"/>
              <a:chOff x="6057691" y="2542624"/>
              <a:chExt cx="729025" cy="957787"/>
            </a:xfrm>
          </p:grpSpPr>
          <p:cxnSp>
            <p:nvCxnSpPr>
              <p:cNvPr id="896" name="Google Shape;896;p20"/>
              <p:cNvCxnSpPr/>
              <p:nvPr/>
            </p:nvCxnSpPr>
            <p:spPr>
              <a:xfrm flipH="1" rot="-8246357">
                <a:off x="6228918" y="2725045"/>
                <a:ext cx="588139" cy="125058"/>
              </a:xfrm>
              <a:prstGeom prst="straightConnector1">
                <a:avLst/>
              </a:prstGeom>
              <a:noFill/>
              <a:ln cap="flat" cmpd="sng" w="22125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97" name="Google Shape;897;p20"/>
              <p:cNvCxnSpPr/>
              <p:nvPr/>
            </p:nvCxnSpPr>
            <p:spPr>
              <a:xfrm flipH="1" rot="10800000">
                <a:off x="6097647" y="3383711"/>
                <a:ext cx="594300" cy="116700"/>
              </a:xfrm>
              <a:prstGeom prst="straightConnector1">
                <a:avLst/>
              </a:prstGeom>
              <a:noFill/>
              <a:ln cap="flat" cmpd="sng" w="22125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898" name="Google Shape;898;p20"/>
              <p:cNvSpPr/>
              <p:nvPr/>
            </p:nvSpPr>
            <p:spPr>
              <a:xfrm>
                <a:off x="6057691" y="2616591"/>
                <a:ext cx="202398" cy="870834"/>
              </a:xfrm>
              <a:custGeom>
                <a:rect b="b" l="l" r="r" t="t"/>
                <a:pathLst>
                  <a:path extrusionOk="0" h="29905" w="4740">
                    <a:moveTo>
                      <a:pt x="1229" y="29905"/>
                    </a:moveTo>
                    <a:cubicBezTo>
                      <a:pt x="-1533" y="20256"/>
                      <a:pt x="780" y="9222"/>
                      <a:pt x="4741" y="0"/>
                    </a:cubicBezTo>
                  </a:path>
                </a:pathLst>
              </a:custGeom>
              <a:noFill/>
              <a:ln cap="flat" cmpd="sng" w="22125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899" name="Google Shape;899;p20"/>
              <p:cNvSpPr/>
              <p:nvPr/>
            </p:nvSpPr>
            <p:spPr>
              <a:xfrm>
                <a:off x="6679189" y="2926345"/>
                <a:ext cx="107527" cy="463154"/>
              </a:xfrm>
              <a:custGeom>
                <a:rect b="b" l="l" r="r" t="t"/>
                <a:pathLst>
                  <a:path extrusionOk="0" h="29905" w="4740">
                    <a:moveTo>
                      <a:pt x="1229" y="29905"/>
                    </a:moveTo>
                    <a:cubicBezTo>
                      <a:pt x="-1533" y="20256"/>
                      <a:pt x="780" y="9222"/>
                      <a:pt x="4741" y="0"/>
                    </a:cubicBezTo>
                  </a:path>
                </a:pathLst>
              </a:custGeom>
              <a:noFill/>
              <a:ln cap="flat" cmpd="sng" w="22125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cxnSp>
          <p:nvCxnSpPr>
            <p:cNvPr id="900" name="Google Shape;900;p20"/>
            <p:cNvCxnSpPr/>
            <p:nvPr/>
          </p:nvCxnSpPr>
          <p:spPr>
            <a:xfrm flipH="1" rot="10800000">
              <a:off x="6147225" y="3487550"/>
              <a:ext cx="109200" cy="1746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1" name="Google Shape;901;p20"/>
            <p:cNvCxnSpPr/>
            <p:nvPr/>
          </p:nvCxnSpPr>
          <p:spPr>
            <a:xfrm flipH="1" rot="10800000">
              <a:off x="6173600" y="3466000"/>
              <a:ext cx="183000" cy="2856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2" name="Google Shape;902;p20"/>
            <p:cNvCxnSpPr/>
            <p:nvPr/>
          </p:nvCxnSpPr>
          <p:spPr>
            <a:xfrm flipH="1" rot="10800000">
              <a:off x="6209650" y="3456063"/>
              <a:ext cx="228600" cy="3618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3" name="Google Shape;903;p20"/>
            <p:cNvCxnSpPr/>
            <p:nvPr/>
          </p:nvCxnSpPr>
          <p:spPr>
            <a:xfrm flipH="1" rot="10800000">
              <a:off x="6241950" y="3433763"/>
              <a:ext cx="283500" cy="4476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4" name="Google Shape;904;p20"/>
            <p:cNvCxnSpPr/>
            <p:nvPr/>
          </p:nvCxnSpPr>
          <p:spPr>
            <a:xfrm flipH="1" rot="10800000">
              <a:off x="6283850" y="3414388"/>
              <a:ext cx="331200" cy="5382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5" name="Google Shape;905;p20"/>
            <p:cNvCxnSpPr/>
            <p:nvPr/>
          </p:nvCxnSpPr>
          <p:spPr>
            <a:xfrm flipH="1" rot="10800000">
              <a:off x="6322550" y="3425213"/>
              <a:ext cx="367500" cy="5910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6" name="Google Shape;906;p20"/>
            <p:cNvCxnSpPr/>
            <p:nvPr/>
          </p:nvCxnSpPr>
          <p:spPr>
            <a:xfrm flipH="1" rot="10800000">
              <a:off x="6367875" y="3522238"/>
              <a:ext cx="351600" cy="5487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7" name="Google Shape;907;p20"/>
            <p:cNvCxnSpPr/>
            <p:nvPr/>
          </p:nvCxnSpPr>
          <p:spPr>
            <a:xfrm flipH="1" rot="10800000">
              <a:off x="6414850" y="3600463"/>
              <a:ext cx="346500" cy="5229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8" name="Google Shape;908;p20"/>
            <p:cNvCxnSpPr/>
            <p:nvPr/>
          </p:nvCxnSpPr>
          <p:spPr>
            <a:xfrm flipH="1" rot="10800000">
              <a:off x="6474550" y="3673138"/>
              <a:ext cx="328800" cy="4863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9" name="Google Shape;909;p20"/>
            <p:cNvCxnSpPr/>
            <p:nvPr/>
          </p:nvCxnSpPr>
          <p:spPr>
            <a:xfrm flipH="1" rot="10800000">
              <a:off x="6525450" y="3712838"/>
              <a:ext cx="328800" cy="4863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910" name="Google Shape;910;p20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8598042" y="1411922"/>
            <a:ext cx="259800" cy="38889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11" name="Google Shape;911;p20"/>
          <p:cNvGrpSpPr/>
          <p:nvPr/>
        </p:nvGrpSpPr>
        <p:grpSpPr>
          <a:xfrm>
            <a:off x="7438542" y="1829965"/>
            <a:ext cx="1435621" cy="519947"/>
            <a:chOff x="8548175" y="2668550"/>
            <a:chExt cx="1435621" cy="519947"/>
          </a:xfrm>
        </p:grpSpPr>
        <p:sp>
          <p:nvSpPr>
            <p:cNvPr id="912" name="Google Shape;912;p20"/>
            <p:cNvSpPr txBox="1"/>
            <p:nvPr/>
          </p:nvSpPr>
          <p:spPr>
            <a:xfrm>
              <a:off x="8548175" y="2668550"/>
              <a:ext cx="672300" cy="29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60">
                  <a:solidFill>
                    <a:schemeClr val="dk2"/>
                  </a:solidFill>
                </a:rPr>
                <a:t>Legend</a:t>
              </a:r>
              <a:endParaRPr b="1" sz="860">
                <a:solidFill>
                  <a:schemeClr val="dk2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0">
                <a:solidFill>
                  <a:schemeClr val="dk2"/>
                </a:solidFill>
              </a:endParaRPr>
            </a:p>
          </p:txBody>
        </p:sp>
        <p:sp>
          <p:nvSpPr>
            <p:cNvPr id="913" name="Google Shape;913;p20"/>
            <p:cNvSpPr/>
            <p:nvPr/>
          </p:nvSpPr>
          <p:spPr>
            <a:xfrm>
              <a:off x="8698150" y="2959475"/>
              <a:ext cx="146700" cy="141900"/>
            </a:xfrm>
            <a:prstGeom prst="rect">
              <a:avLst/>
            </a:prstGeom>
            <a:noFill/>
            <a:ln cap="flat" cmpd="sng" w="9525">
              <a:solidFill>
                <a:srgbClr val="93C4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20"/>
            <p:cNvSpPr txBox="1"/>
            <p:nvPr/>
          </p:nvSpPr>
          <p:spPr>
            <a:xfrm>
              <a:off x="8795496" y="2871397"/>
              <a:ext cx="1188300" cy="3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60">
                  <a:solidFill>
                    <a:schemeClr val="dk2"/>
                  </a:solidFill>
                </a:rPr>
                <a:t>Reused material</a:t>
              </a:r>
              <a:endParaRPr sz="860">
                <a:solidFill>
                  <a:schemeClr val="dk2"/>
                </a:solidFill>
              </a:endParaRPr>
            </a:p>
          </p:txBody>
        </p:sp>
        <p:cxnSp>
          <p:nvCxnSpPr>
            <p:cNvPr id="915" name="Google Shape;915;p20"/>
            <p:cNvCxnSpPr>
              <a:stCxn id="913" idx="1"/>
            </p:cNvCxnSpPr>
            <p:nvPr/>
          </p:nvCxnSpPr>
          <p:spPr>
            <a:xfrm flipH="1" rot="10800000">
              <a:off x="8698150" y="2959625"/>
              <a:ext cx="73500" cy="70800"/>
            </a:xfrm>
            <a:prstGeom prst="straightConnector1">
              <a:avLst/>
            </a:prstGeom>
            <a:noFill/>
            <a:ln cap="flat" cmpd="sng" w="9525">
              <a:solidFill>
                <a:srgbClr val="93C47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6" name="Google Shape;916;p20"/>
            <p:cNvCxnSpPr/>
            <p:nvPr/>
          </p:nvCxnSpPr>
          <p:spPr>
            <a:xfrm flipH="1" rot="10800000">
              <a:off x="8698150" y="2963225"/>
              <a:ext cx="146400" cy="138000"/>
            </a:xfrm>
            <a:prstGeom prst="straightConnector1">
              <a:avLst/>
            </a:prstGeom>
            <a:noFill/>
            <a:ln cap="flat" cmpd="sng" w="9525">
              <a:solidFill>
                <a:srgbClr val="93C47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17" name="Google Shape;917;p20"/>
            <p:cNvCxnSpPr/>
            <p:nvPr/>
          </p:nvCxnSpPr>
          <p:spPr>
            <a:xfrm flipH="1" rot="10800000">
              <a:off x="8771650" y="3030425"/>
              <a:ext cx="73500" cy="70800"/>
            </a:xfrm>
            <a:prstGeom prst="straightConnector1">
              <a:avLst/>
            </a:prstGeom>
            <a:noFill/>
            <a:ln cap="flat" cmpd="sng" w="9525">
              <a:solidFill>
                <a:srgbClr val="93C47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918" name="Google Shape;918;p20" title="Chart"/>
          <p:cNvPicPr preferRelativeResize="0"/>
          <p:nvPr/>
        </p:nvPicPr>
        <p:blipFill rotWithShape="1">
          <a:blip r:embed="rId14">
            <a:alphaModFix/>
          </a:blip>
          <a:srcRect b="0" l="17945" r="0" t="0"/>
          <a:stretch/>
        </p:blipFill>
        <p:spPr>
          <a:xfrm>
            <a:off x="7521449" y="6050600"/>
            <a:ext cx="1076499" cy="811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919" name="Google Shape;919;p20" title="Chart"/>
          <p:cNvPicPr preferRelativeResize="0"/>
          <p:nvPr/>
        </p:nvPicPr>
        <p:blipFill rotWithShape="1">
          <a:blip r:embed="rId15">
            <a:alphaModFix/>
          </a:blip>
          <a:srcRect b="0" l="17945" r="0" t="0"/>
          <a:stretch/>
        </p:blipFill>
        <p:spPr>
          <a:xfrm>
            <a:off x="7521449" y="2836275"/>
            <a:ext cx="1076499" cy="811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3" name="Shape 9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4" name="Google Shape;924;p21" title="Chart"/>
          <p:cNvPicPr preferRelativeResize="0"/>
          <p:nvPr/>
        </p:nvPicPr>
        <p:blipFill rotWithShape="1">
          <a:blip r:embed="rId4">
            <a:alphaModFix/>
          </a:blip>
          <a:srcRect b="0" l="0" r="0" t="11143"/>
          <a:stretch/>
        </p:blipFill>
        <p:spPr>
          <a:xfrm>
            <a:off x="4681700" y="1506280"/>
            <a:ext cx="3723375" cy="2045050"/>
          </a:xfrm>
          <a:prstGeom prst="rect">
            <a:avLst/>
          </a:prstGeom>
          <a:noFill/>
          <a:ln>
            <a:noFill/>
          </a:ln>
        </p:spPr>
      </p:pic>
      <p:sp>
        <p:nvSpPr>
          <p:cNvPr id="925" name="Google Shape;925;p21"/>
          <p:cNvSpPr txBox="1"/>
          <p:nvPr>
            <p:ph type="ctrTitle"/>
          </p:nvPr>
        </p:nvSpPr>
        <p:spPr>
          <a:xfrm rot="-5400000">
            <a:off x="-4744350" y="3581200"/>
            <a:ext cx="8572500" cy="916200"/>
          </a:xfrm>
          <a:prstGeom prst="rect">
            <a:avLst/>
          </a:prstGeom>
        </p:spPr>
        <p:txBody>
          <a:bodyPr anchorCtr="0" anchor="b" bIns="140175" lIns="140175" spcFirstLastPara="1" rIns="140175" wrap="square" tIns="14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/>
              <a:t>PROJECTED </a:t>
            </a:r>
            <a:r>
              <a:rPr lang="en" sz="3000"/>
              <a:t> DEMAND &amp; AVAILABILITY </a:t>
            </a:r>
            <a:endParaRPr sz="3000"/>
          </a:p>
        </p:txBody>
      </p:sp>
      <p:cxnSp>
        <p:nvCxnSpPr>
          <p:cNvPr id="926" name="Google Shape;926;p21"/>
          <p:cNvCxnSpPr>
            <a:stCxn id="927" idx="1"/>
          </p:cNvCxnSpPr>
          <p:nvPr/>
        </p:nvCxnSpPr>
        <p:spPr>
          <a:xfrm>
            <a:off x="1921100" y="232040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8" name="Google Shape;928;p21"/>
          <p:cNvSpPr/>
          <p:nvPr/>
        </p:nvSpPr>
        <p:spPr>
          <a:xfrm>
            <a:off x="322450" y="1045650"/>
            <a:ext cx="3608700" cy="43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0175" lIns="140175" spcFirstLastPara="1" rIns="140175" wrap="square" tIns="140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999999"/>
                </a:solidFill>
              </a:rPr>
              <a:t>       Ventura County, CA</a:t>
            </a:r>
            <a:endParaRPr sz="1500">
              <a:solidFill>
                <a:srgbClr val="999999"/>
              </a:solidFill>
            </a:endParaRPr>
          </a:p>
        </p:txBody>
      </p:sp>
      <p:pic>
        <p:nvPicPr>
          <p:cNvPr id="929" name="Google Shape;929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0625" y="1067100"/>
            <a:ext cx="388875" cy="38887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930" name="Google Shape;930;p21"/>
          <p:cNvSpPr/>
          <p:nvPr/>
        </p:nvSpPr>
        <p:spPr>
          <a:xfrm>
            <a:off x="2459334" y="1900354"/>
            <a:ext cx="167100" cy="101400"/>
          </a:xfrm>
          <a:prstGeom prst="triangle">
            <a:avLst>
              <a:gd fmla="val 50000" name="adj"/>
            </a:avLst>
          </a:prstGeom>
          <a:solidFill>
            <a:srgbClr val="B7B7B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0175" lIns="140175" spcFirstLastPara="1" rIns="140175" wrap="square" tIns="14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grpSp>
        <p:nvGrpSpPr>
          <p:cNvPr id="931" name="Google Shape;931;p21"/>
          <p:cNvGrpSpPr/>
          <p:nvPr/>
        </p:nvGrpSpPr>
        <p:grpSpPr>
          <a:xfrm>
            <a:off x="309438" y="1697506"/>
            <a:ext cx="4170545" cy="4407388"/>
            <a:chOff x="309438" y="1697506"/>
            <a:chExt cx="4170545" cy="4407388"/>
          </a:xfrm>
        </p:grpSpPr>
        <p:grpSp>
          <p:nvGrpSpPr>
            <p:cNvPr id="932" name="Google Shape;932;p21"/>
            <p:cNvGrpSpPr/>
            <p:nvPr/>
          </p:nvGrpSpPr>
          <p:grpSpPr>
            <a:xfrm>
              <a:off x="313773" y="4847330"/>
              <a:ext cx="4165083" cy="530564"/>
              <a:chOff x="313761" y="2357618"/>
              <a:chExt cx="4165083" cy="530564"/>
            </a:xfrm>
          </p:grpSpPr>
          <p:grpSp>
            <p:nvGrpSpPr>
              <p:cNvPr id="933" name="Google Shape;933;p21"/>
              <p:cNvGrpSpPr/>
              <p:nvPr/>
            </p:nvGrpSpPr>
            <p:grpSpPr>
              <a:xfrm>
                <a:off x="313788" y="2357618"/>
                <a:ext cx="4165056" cy="530564"/>
                <a:chOff x="314635" y="1491757"/>
                <a:chExt cx="2464093" cy="381728"/>
              </a:xfrm>
            </p:grpSpPr>
            <p:sp>
              <p:nvSpPr>
                <p:cNvPr id="934" name="Google Shape;934;p21"/>
                <p:cNvSpPr/>
                <p:nvPr/>
              </p:nvSpPr>
              <p:spPr>
                <a:xfrm>
                  <a:off x="314635" y="1532085"/>
                  <a:ext cx="2135100" cy="341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194825" lIns="194825" spcFirstLastPara="1" rIns="194825" wrap="square" tIns="1948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250">
                    <a:solidFill>
                      <a:schemeClr val="dk1"/>
                    </a:solidFill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250">
                    <a:solidFill>
                      <a:schemeClr val="dk1"/>
                    </a:solidFill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250">
                    <a:solidFill>
                      <a:schemeClr val="dk1"/>
                    </a:solidFill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250">
                    <a:solidFill>
                      <a:schemeClr val="dk1"/>
                    </a:solidFill>
                  </a:endParaRPr>
                </a:p>
              </p:txBody>
            </p:sp>
            <p:grpSp>
              <p:nvGrpSpPr>
                <p:cNvPr id="935" name="Google Shape;935;p21"/>
                <p:cNvGrpSpPr/>
                <p:nvPr/>
              </p:nvGrpSpPr>
              <p:grpSpPr>
                <a:xfrm>
                  <a:off x="1905750" y="1491757"/>
                  <a:ext cx="872978" cy="317400"/>
                  <a:chOff x="1905813" y="1491907"/>
                  <a:chExt cx="872978" cy="317400"/>
                </a:xfrm>
              </p:grpSpPr>
              <p:sp>
                <p:nvSpPr>
                  <p:cNvPr id="936" name="Google Shape;936;p21"/>
                  <p:cNvSpPr/>
                  <p:nvPr/>
                </p:nvSpPr>
                <p:spPr>
                  <a:xfrm rot="-10800000">
                    <a:off x="1905813" y="1608215"/>
                    <a:ext cx="421893" cy="181722"/>
                  </a:xfrm>
                  <a:prstGeom prst="flowChartMagneticDrum">
                    <a:avLst/>
                  </a:prstGeom>
                  <a:solidFill>
                    <a:srgbClr val="CCCCCC"/>
                  </a:solidFill>
                  <a:ln cap="flat" cmpd="sng" w="13250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194825" lIns="194825" spcFirstLastPara="1" rIns="194825" wrap="square" tIns="1948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918"/>
                  </a:p>
                </p:txBody>
              </p:sp>
              <p:sp>
                <p:nvSpPr>
                  <p:cNvPr id="937" name="Google Shape;937;p21"/>
                  <p:cNvSpPr/>
                  <p:nvPr/>
                </p:nvSpPr>
                <p:spPr>
                  <a:xfrm>
                    <a:off x="1905813" y="1605800"/>
                    <a:ext cx="153600" cy="181800"/>
                  </a:xfrm>
                  <a:prstGeom prst="ellipse">
                    <a:avLst/>
                  </a:prstGeom>
                  <a:solidFill>
                    <a:schemeClr val="lt1"/>
                  </a:solidFill>
                  <a:ln cap="flat" cmpd="sng" w="13250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194825" lIns="194825" spcFirstLastPara="1" rIns="194825" wrap="square" tIns="1948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918"/>
                  </a:p>
                </p:txBody>
              </p:sp>
              <p:sp>
                <p:nvSpPr>
                  <p:cNvPr id="938" name="Google Shape;938;p21"/>
                  <p:cNvSpPr txBox="1"/>
                  <p:nvPr/>
                </p:nvSpPr>
                <p:spPr>
                  <a:xfrm>
                    <a:off x="1962790" y="1491907"/>
                    <a:ext cx="816000" cy="317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194825" lIns="194825" spcFirstLastPara="1" rIns="194825" wrap="square" tIns="1948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1250">
                        <a:solidFill>
                          <a:schemeClr val="lt1"/>
                        </a:solidFill>
                      </a:rPr>
                      <a:t>Off</a:t>
                    </a:r>
                    <a:endParaRPr sz="1250">
                      <a:solidFill>
                        <a:schemeClr val="lt1"/>
                      </a:solidFill>
                    </a:endParaRPr>
                  </a:p>
                </p:txBody>
              </p:sp>
            </p:grpSp>
          </p:grpSp>
          <p:sp>
            <p:nvSpPr>
              <p:cNvPr id="939" name="Google Shape;939;p21"/>
              <p:cNvSpPr txBox="1"/>
              <p:nvPr/>
            </p:nvSpPr>
            <p:spPr>
              <a:xfrm>
                <a:off x="313761" y="2449239"/>
                <a:ext cx="2615400" cy="38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chemeClr val="dk1"/>
                    </a:solidFill>
                  </a:rPr>
                  <a:t>Material Availability Scenarios</a:t>
                </a:r>
                <a:endParaRPr b="1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940" name="Google Shape;940;p21"/>
            <p:cNvGrpSpPr/>
            <p:nvPr/>
          </p:nvGrpSpPr>
          <p:grpSpPr>
            <a:xfrm>
              <a:off x="309438" y="5570271"/>
              <a:ext cx="4170545" cy="534623"/>
              <a:chOff x="313750" y="2353562"/>
              <a:chExt cx="4170545" cy="534623"/>
            </a:xfrm>
          </p:grpSpPr>
          <p:grpSp>
            <p:nvGrpSpPr>
              <p:cNvPr id="941" name="Google Shape;941;p21"/>
              <p:cNvGrpSpPr/>
              <p:nvPr/>
            </p:nvGrpSpPr>
            <p:grpSpPr>
              <a:xfrm>
                <a:off x="313775" y="2353562"/>
                <a:ext cx="4170520" cy="534623"/>
                <a:chOff x="314627" y="1488838"/>
                <a:chExt cx="2467325" cy="384649"/>
              </a:xfrm>
            </p:grpSpPr>
            <p:sp>
              <p:nvSpPr>
                <p:cNvPr id="942" name="Google Shape;942;p21"/>
                <p:cNvSpPr/>
                <p:nvPr/>
              </p:nvSpPr>
              <p:spPr>
                <a:xfrm>
                  <a:off x="314627" y="1532087"/>
                  <a:ext cx="2135100" cy="341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194825" lIns="194825" spcFirstLastPara="1" rIns="194825" wrap="square" tIns="1948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250">
                    <a:solidFill>
                      <a:schemeClr val="dk1"/>
                    </a:solidFill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250">
                    <a:solidFill>
                      <a:schemeClr val="dk1"/>
                    </a:solidFill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250">
                    <a:solidFill>
                      <a:schemeClr val="dk1"/>
                    </a:solidFill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250">
                    <a:solidFill>
                      <a:schemeClr val="dk1"/>
                    </a:solidFill>
                  </a:endParaRPr>
                </a:p>
              </p:txBody>
            </p:sp>
            <p:grpSp>
              <p:nvGrpSpPr>
                <p:cNvPr id="943" name="Google Shape;943;p21"/>
                <p:cNvGrpSpPr/>
                <p:nvPr/>
              </p:nvGrpSpPr>
              <p:grpSpPr>
                <a:xfrm>
                  <a:off x="1905750" y="1488838"/>
                  <a:ext cx="876202" cy="317400"/>
                  <a:chOff x="1905813" y="1488988"/>
                  <a:chExt cx="876202" cy="317400"/>
                </a:xfrm>
              </p:grpSpPr>
              <p:sp>
                <p:nvSpPr>
                  <p:cNvPr id="944" name="Google Shape;944;p21"/>
                  <p:cNvSpPr/>
                  <p:nvPr/>
                </p:nvSpPr>
                <p:spPr>
                  <a:xfrm rot="-10800000">
                    <a:off x="1905813" y="1608215"/>
                    <a:ext cx="421893" cy="181722"/>
                  </a:xfrm>
                  <a:prstGeom prst="flowChartMagneticDrum">
                    <a:avLst/>
                  </a:prstGeom>
                  <a:solidFill>
                    <a:srgbClr val="CCCCCC"/>
                  </a:solidFill>
                  <a:ln cap="flat" cmpd="sng" w="13250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194825" lIns="194825" spcFirstLastPara="1" rIns="194825" wrap="square" tIns="1948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918"/>
                  </a:p>
                </p:txBody>
              </p:sp>
              <p:sp>
                <p:nvSpPr>
                  <p:cNvPr id="945" name="Google Shape;945;p21"/>
                  <p:cNvSpPr/>
                  <p:nvPr/>
                </p:nvSpPr>
                <p:spPr>
                  <a:xfrm>
                    <a:off x="1905813" y="1605800"/>
                    <a:ext cx="153600" cy="181800"/>
                  </a:xfrm>
                  <a:prstGeom prst="ellipse">
                    <a:avLst/>
                  </a:prstGeom>
                  <a:solidFill>
                    <a:schemeClr val="lt1"/>
                  </a:solidFill>
                  <a:ln cap="flat" cmpd="sng" w="13250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194825" lIns="194825" spcFirstLastPara="1" rIns="194825" wrap="square" tIns="1948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918"/>
                  </a:p>
                </p:txBody>
              </p:sp>
              <p:sp>
                <p:nvSpPr>
                  <p:cNvPr id="946" name="Google Shape;946;p21"/>
                  <p:cNvSpPr txBox="1"/>
                  <p:nvPr/>
                </p:nvSpPr>
                <p:spPr>
                  <a:xfrm>
                    <a:off x="1966015" y="1488988"/>
                    <a:ext cx="816000" cy="317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194825" lIns="194825" spcFirstLastPara="1" rIns="194825" wrap="square" tIns="1948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1250">
                        <a:solidFill>
                          <a:schemeClr val="lt1"/>
                        </a:solidFill>
                      </a:rPr>
                      <a:t>Off</a:t>
                    </a:r>
                    <a:endParaRPr sz="1250">
                      <a:solidFill>
                        <a:schemeClr val="lt1"/>
                      </a:solidFill>
                    </a:endParaRPr>
                  </a:p>
                </p:txBody>
              </p:sp>
            </p:grpSp>
          </p:grpSp>
          <p:sp>
            <p:nvSpPr>
              <p:cNvPr id="947" name="Google Shape;947;p21"/>
              <p:cNvSpPr txBox="1"/>
              <p:nvPr/>
            </p:nvSpPr>
            <p:spPr>
              <a:xfrm>
                <a:off x="313750" y="2449250"/>
                <a:ext cx="30000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solidFill>
                      <a:schemeClr val="dk1"/>
                    </a:solidFill>
                  </a:rPr>
                  <a:t>Alternative Materials</a:t>
                </a:r>
                <a:endParaRPr b="1">
                  <a:solidFill>
                    <a:schemeClr val="dk1"/>
                  </a:solidFill>
                </a:endParaRPr>
              </a:p>
            </p:txBody>
          </p:sp>
        </p:grpSp>
        <p:sp>
          <p:nvSpPr>
            <p:cNvPr id="948" name="Google Shape;948;p21"/>
            <p:cNvSpPr/>
            <p:nvPr/>
          </p:nvSpPr>
          <p:spPr>
            <a:xfrm>
              <a:off x="319850" y="1697506"/>
              <a:ext cx="3608700" cy="29298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40175" lIns="140175" spcFirstLastPara="1" rIns="140175" wrap="square" tIns="1401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Building Specifications</a:t>
              </a:r>
              <a:endParaRPr b="1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666666"/>
                  </a:solidFill>
                </a:rPr>
                <a:t>         </a:t>
              </a:r>
              <a:endParaRPr sz="13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666666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1300">
                <a:solidFill>
                  <a:srgbClr val="666666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13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13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666666"/>
                </a:solidFill>
              </a:endParaRPr>
            </a:p>
          </p:txBody>
        </p:sp>
        <p:sp>
          <p:nvSpPr>
            <p:cNvPr id="949" name="Google Shape;949;p21"/>
            <p:cNvSpPr/>
            <p:nvPr/>
          </p:nvSpPr>
          <p:spPr>
            <a:xfrm>
              <a:off x="501850" y="4122119"/>
              <a:ext cx="3249900" cy="332100"/>
            </a:xfrm>
            <a:prstGeom prst="roundRect">
              <a:avLst>
                <a:gd fmla="val 16667" name="adj"/>
              </a:avLst>
            </a:prstGeom>
            <a:solidFill>
              <a:srgbClr val="AAD3E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300">
                  <a:solidFill>
                    <a:srgbClr val="666666"/>
                  </a:solidFill>
                </a:rPr>
                <a:t>Estimate material demands and cost</a:t>
              </a:r>
              <a:endParaRPr/>
            </a:p>
          </p:txBody>
        </p:sp>
        <p:sp>
          <p:nvSpPr>
            <p:cNvPr id="950" name="Google Shape;950;p21"/>
            <p:cNvSpPr/>
            <p:nvPr/>
          </p:nvSpPr>
          <p:spPr>
            <a:xfrm>
              <a:off x="2975093" y="2085491"/>
              <a:ext cx="738600" cy="25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666666"/>
                  </a:solidFill>
                </a:rPr>
                <a:t>Reuse </a:t>
              </a:r>
              <a:endParaRPr sz="900">
                <a:solidFill>
                  <a:srgbClr val="666666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666666"/>
                  </a:solidFill>
                </a:rPr>
                <a:t>materials?</a:t>
              </a:r>
              <a:endParaRPr sz="900">
                <a:solidFill>
                  <a:srgbClr val="666666"/>
                </a:solidFill>
              </a:endParaRPr>
            </a:p>
          </p:txBody>
        </p:sp>
        <p:grpSp>
          <p:nvGrpSpPr>
            <p:cNvPr id="951" name="Google Shape;951;p21"/>
            <p:cNvGrpSpPr/>
            <p:nvPr/>
          </p:nvGrpSpPr>
          <p:grpSpPr>
            <a:xfrm>
              <a:off x="697213" y="2405891"/>
              <a:ext cx="3106838" cy="610955"/>
              <a:chOff x="697213" y="2331245"/>
              <a:chExt cx="3106838" cy="610955"/>
            </a:xfrm>
          </p:grpSpPr>
          <p:grpSp>
            <p:nvGrpSpPr>
              <p:cNvPr id="952" name="Google Shape;952;p21"/>
              <p:cNvGrpSpPr/>
              <p:nvPr/>
            </p:nvGrpSpPr>
            <p:grpSpPr>
              <a:xfrm>
                <a:off x="3587150" y="2696772"/>
                <a:ext cx="216900" cy="218100"/>
                <a:chOff x="3592625" y="2190625"/>
                <a:chExt cx="216900" cy="218100"/>
              </a:xfrm>
            </p:grpSpPr>
            <p:cxnSp>
              <p:nvCxnSpPr>
                <p:cNvPr id="953" name="Google Shape;953;p21"/>
                <p:cNvCxnSpPr/>
                <p:nvPr/>
              </p:nvCxnSpPr>
              <p:spPr>
                <a:xfrm flipH="1">
                  <a:off x="3700925" y="2190625"/>
                  <a:ext cx="300" cy="218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54" name="Google Shape;954;p21"/>
                <p:cNvCxnSpPr/>
                <p:nvPr/>
              </p:nvCxnSpPr>
              <p:spPr>
                <a:xfrm>
                  <a:off x="3592625" y="2297875"/>
                  <a:ext cx="216900" cy="36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955" name="Google Shape;955;p21"/>
              <p:cNvSpPr/>
              <p:nvPr/>
            </p:nvSpPr>
            <p:spPr>
              <a:xfrm>
                <a:off x="697213" y="2331250"/>
                <a:ext cx="1276800" cy="2556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666666"/>
                    </a:solidFill>
                  </a:rPr>
                  <a:t>Health services</a:t>
                </a:r>
                <a:endParaRPr sz="1000">
                  <a:solidFill>
                    <a:srgbClr val="666666"/>
                  </a:solidFill>
                </a:endParaRPr>
              </a:p>
            </p:txBody>
          </p:sp>
          <p:sp>
            <p:nvSpPr>
              <p:cNvPr id="956" name="Google Shape;956;p21"/>
              <p:cNvSpPr/>
              <p:nvPr/>
            </p:nvSpPr>
            <p:spPr>
              <a:xfrm>
                <a:off x="2041578" y="2331281"/>
                <a:ext cx="1002600" cy="2556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666666"/>
                    </a:solidFill>
                  </a:rPr>
                  <a:t>10,000</a:t>
                </a:r>
                <a:endParaRPr sz="1000">
                  <a:solidFill>
                    <a:srgbClr val="666666"/>
                  </a:solidFill>
                </a:endParaRPr>
              </a:p>
            </p:txBody>
          </p:sp>
          <p:sp>
            <p:nvSpPr>
              <p:cNvPr id="957" name="Google Shape;957;p21"/>
              <p:cNvSpPr/>
              <p:nvPr/>
            </p:nvSpPr>
            <p:spPr>
              <a:xfrm>
                <a:off x="3209350" y="2331245"/>
                <a:ext cx="259800" cy="2556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8" name="Google Shape;958;p21"/>
              <p:cNvSpPr/>
              <p:nvPr/>
            </p:nvSpPr>
            <p:spPr>
              <a:xfrm>
                <a:off x="697213" y="2686600"/>
                <a:ext cx="1276800" cy="2556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666666"/>
                    </a:solidFill>
                  </a:rPr>
                  <a:t>Laboratory</a:t>
                </a:r>
                <a:endParaRPr sz="1000">
                  <a:solidFill>
                    <a:srgbClr val="666666"/>
                  </a:solidFill>
                </a:endParaRPr>
              </a:p>
            </p:txBody>
          </p:sp>
          <p:sp>
            <p:nvSpPr>
              <p:cNvPr id="959" name="Google Shape;959;p21"/>
              <p:cNvSpPr/>
              <p:nvPr/>
            </p:nvSpPr>
            <p:spPr>
              <a:xfrm>
                <a:off x="2041578" y="2681179"/>
                <a:ext cx="1002600" cy="2556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666666"/>
                    </a:solidFill>
                  </a:rPr>
                  <a:t>20,000</a:t>
                </a:r>
                <a:endParaRPr sz="1000">
                  <a:solidFill>
                    <a:srgbClr val="666666"/>
                  </a:solidFill>
                </a:endParaRPr>
              </a:p>
            </p:txBody>
          </p:sp>
          <p:sp>
            <p:nvSpPr>
              <p:cNvPr id="960" name="Google Shape;960;p21"/>
              <p:cNvSpPr/>
              <p:nvPr/>
            </p:nvSpPr>
            <p:spPr>
              <a:xfrm>
                <a:off x="3209350" y="2678019"/>
                <a:ext cx="259800" cy="2556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1" name="Google Shape;961;p21"/>
              <p:cNvSpPr/>
              <p:nvPr/>
            </p:nvSpPr>
            <p:spPr>
              <a:xfrm>
                <a:off x="3255692" y="2597665"/>
                <a:ext cx="332096" cy="255602"/>
              </a:xfrm>
              <a:custGeom>
                <a:rect b="b" l="l" r="r" t="t"/>
                <a:pathLst>
                  <a:path extrusionOk="0" h="4557" w="7125">
                    <a:moveTo>
                      <a:pt x="0" y="4027"/>
                    </a:moveTo>
                    <a:cubicBezTo>
                      <a:pt x="1930" y="5955"/>
                      <a:pt x="5196" y="1929"/>
                      <a:pt x="7125" y="0"/>
                    </a:cubicBezTo>
                  </a:path>
                </a:pathLst>
              </a:cu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962" name="Google Shape;962;p21"/>
              <p:cNvSpPr/>
              <p:nvPr/>
            </p:nvSpPr>
            <p:spPr>
              <a:xfrm rot="10800000">
                <a:off x="1757782" y="2416703"/>
                <a:ext cx="167100" cy="101400"/>
              </a:xfrm>
              <a:prstGeom prst="triangle">
                <a:avLst>
                  <a:gd fmla="val 50000" name="adj"/>
                </a:avLst>
              </a:prstGeom>
              <a:solidFill>
                <a:srgbClr val="B7B7B7"/>
              </a:solidFill>
              <a:ln cap="flat" cmpd="sng" w="952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40175" lIns="140175" spcFirstLastPara="1" rIns="140175" wrap="square" tIns="1401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0"/>
              </a:p>
            </p:txBody>
          </p:sp>
          <p:sp>
            <p:nvSpPr>
              <p:cNvPr id="963" name="Google Shape;963;p21"/>
              <p:cNvSpPr/>
              <p:nvPr/>
            </p:nvSpPr>
            <p:spPr>
              <a:xfrm rot="10800000">
                <a:off x="1757782" y="2774054"/>
                <a:ext cx="167100" cy="101400"/>
              </a:xfrm>
              <a:prstGeom prst="triangle">
                <a:avLst>
                  <a:gd fmla="val 50000" name="adj"/>
                </a:avLst>
              </a:prstGeom>
              <a:solidFill>
                <a:srgbClr val="B7B7B7"/>
              </a:solidFill>
              <a:ln cap="flat" cmpd="sng" w="952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40175" lIns="140175" spcFirstLastPara="1" rIns="140175" wrap="square" tIns="1401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0"/>
              </a:p>
            </p:txBody>
          </p:sp>
        </p:grpSp>
        <p:sp>
          <p:nvSpPr>
            <p:cNvPr id="964" name="Google Shape;964;p21"/>
            <p:cNvSpPr/>
            <p:nvPr/>
          </p:nvSpPr>
          <p:spPr>
            <a:xfrm>
              <a:off x="370627" y="2085481"/>
              <a:ext cx="1469400" cy="25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200">
                  <a:solidFill>
                    <a:srgbClr val="666666"/>
                  </a:solidFill>
                </a:rPr>
                <a:t>New buildings</a:t>
              </a:r>
              <a:endParaRPr i="1" sz="1200">
                <a:solidFill>
                  <a:srgbClr val="666666"/>
                </a:solidFill>
              </a:endParaRPr>
            </a:p>
          </p:txBody>
        </p:sp>
        <p:sp>
          <p:nvSpPr>
            <p:cNvPr id="965" name="Google Shape;965;p21"/>
            <p:cNvSpPr/>
            <p:nvPr/>
          </p:nvSpPr>
          <p:spPr>
            <a:xfrm>
              <a:off x="370625" y="3350145"/>
              <a:ext cx="1785900" cy="25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200">
                  <a:solidFill>
                    <a:srgbClr val="666666"/>
                  </a:solidFill>
                </a:rPr>
                <a:t>Demolished buildings</a:t>
              </a:r>
              <a:endParaRPr i="1" sz="1200">
                <a:solidFill>
                  <a:srgbClr val="666666"/>
                </a:solidFill>
              </a:endParaRPr>
            </a:p>
          </p:txBody>
        </p:sp>
        <p:cxnSp>
          <p:nvCxnSpPr>
            <p:cNvPr id="966" name="Google Shape;966;p21"/>
            <p:cNvCxnSpPr/>
            <p:nvPr/>
          </p:nvCxnSpPr>
          <p:spPr>
            <a:xfrm>
              <a:off x="493000" y="3256804"/>
              <a:ext cx="3267600" cy="11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967" name="Google Shape;967;p21"/>
            <p:cNvGrpSpPr/>
            <p:nvPr/>
          </p:nvGrpSpPr>
          <p:grpSpPr>
            <a:xfrm>
              <a:off x="697217" y="3687384"/>
              <a:ext cx="2619425" cy="255631"/>
              <a:chOff x="697213" y="2331250"/>
              <a:chExt cx="2619425" cy="255631"/>
            </a:xfrm>
          </p:grpSpPr>
          <p:grpSp>
            <p:nvGrpSpPr>
              <p:cNvPr id="968" name="Google Shape;968;p21"/>
              <p:cNvGrpSpPr/>
              <p:nvPr/>
            </p:nvGrpSpPr>
            <p:grpSpPr>
              <a:xfrm>
                <a:off x="3099738" y="2352810"/>
                <a:ext cx="216900" cy="218100"/>
                <a:chOff x="3105213" y="1846663"/>
                <a:chExt cx="216900" cy="218100"/>
              </a:xfrm>
            </p:grpSpPr>
            <p:cxnSp>
              <p:nvCxnSpPr>
                <p:cNvPr id="969" name="Google Shape;969;p21"/>
                <p:cNvCxnSpPr/>
                <p:nvPr/>
              </p:nvCxnSpPr>
              <p:spPr>
                <a:xfrm flipH="1">
                  <a:off x="3213513" y="1846663"/>
                  <a:ext cx="300" cy="218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970" name="Google Shape;970;p21"/>
                <p:cNvCxnSpPr/>
                <p:nvPr/>
              </p:nvCxnSpPr>
              <p:spPr>
                <a:xfrm>
                  <a:off x="3105213" y="1953913"/>
                  <a:ext cx="216900" cy="36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971" name="Google Shape;971;p21"/>
              <p:cNvSpPr/>
              <p:nvPr/>
            </p:nvSpPr>
            <p:spPr>
              <a:xfrm>
                <a:off x="697213" y="2331250"/>
                <a:ext cx="1276800" cy="2556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666666"/>
                    </a:solidFill>
                  </a:rPr>
                  <a:t>Barracks</a:t>
                </a:r>
                <a:endParaRPr sz="1000">
                  <a:solidFill>
                    <a:srgbClr val="666666"/>
                  </a:solidFill>
                </a:endParaRPr>
              </a:p>
            </p:txBody>
          </p:sp>
          <p:sp>
            <p:nvSpPr>
              <p:cNvPr id="972" name="Google Shape;972;p21"/>
              <p:cNvSpPr/>
              <p:nvPr/>
            </p:nvSpPr>
            <p:spPr>
              <a:xfrm>
                <a:off x="2041578" y="2331281"/>
                <a:ext cx="1002600" cy="2556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666666"/>
                    </a:solidFill>
                  </a:rPr>
                  <a:t>50,000</a:t>
                </a:r>
                <a:endParaRPr sz="1000">
                  <a:solidFill>
                    <a:srgbClr val="666666"/>
                  </a:solidFill>
                </a:endParaRPr>
              </a:p>
            </p:txBody>
          </p:sp>
          <p:sp>
            <p:nvSpPr>
              <p:cNvPr id="973" name="Google Shape;973;p21"/>
              <p:cNvSpPr/>
              <p:nvPr/>
            </p:nvSpPr>
            <p:spPr>
              <a:xfrm rot="10800000">
                <a:off x="1757782" y="2416703"/>
                <a:ext cx="167100" cy="101400"/>
              </a:xfrm>
              <a:prstGeom prst="triangle">
                <a:avLst>
                  <a:gd fmla="val 50000" name="adj"/>
                </a:avLst>
              </a:prstGeom>
              <a:solidFill>
                <a:srgbClr val="B7B7B7"/>
              </a:solidFill>
              <a:ln cap="flat" cmpd="sng" w="952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40175" lIns="140175" spcFirstLastPara="1" rIns="140175" wrap="square" tIns="1401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0"/>
              </a:p>
            </p:txBody>
          </p:sp>
        </p:grpSp>
      </p:grpSp>
      <p:sp>
        <p:nvSpPr>
          <p:cNvPr id="974" name="Google Shape;974;p21"/>
          <p:cNvSpPr/>
          <p:nvPr/>
        </p:nvSpPr>
        <p:spPr>
          <a:xfrm>
            <a:off x="-3678" y="-1570"/>
            <a:ext cx="13725900" cy="811200"/>
          </a:xfrm>
          <a:prstGeom prst="rect">
            <a:avLst/>
          </a:prstGeom>
          <a:solidFill>
            <a:srgbClr val="EDF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75" name="Google Shape;975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1400" y="140109"/>
            <a:ext cx="672433" cy="510249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21"/>
          <p:cNvSpPr txBox="1"/>
          <p:nvPr>
            <p:ph idx="1" type="subTitle"/>
          </p:nvPr>
        </p:nvSpPr>
        <p:spPr>
          <a:xfrm>
            <a:off x="761825" y="140088"/>
            <a:ext cx="12825300" cy="510300"/>
          </a:xfrm>
          <a:prstGeom prst="rect">
            <a:avLst/>
          </a:prstGeom>
          <a:ln>
            <a:noFill/>
          </a:ln>
        </p:spPr>
        <p:txBody>
          <a:bodyPr anchorCtr="0" anchor="t" bIns="140175" lIns="140175" spcFirstLastPara="1" rIns="140175" wrap="square" tIns="140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Merriweather"/>
                <a:ea typeface="Merriweather"/>
                <a:cs typeface="Merriweather"/>
                <a:sym typeface="Merriweather"/>
              </a:rPr>
              <a:t>Building Supply chain Material Analysis and Risk Trade-off Tool (BuildSMART v1)</a:t>
            </a:r>
            <a:r>
              <a:rPr b="1" lang="en" sz="1700"/>
              <a:t>           </a:t>
            </a:r>
            <a:r>
              <a:rPr b="1" lang="en" sz="1700">
                <a:solidFill>
                  <a:srgbClr val="999999"/>
                </a:solidFill>
              </a:rPr>
              <a:t>Main Page         </a:t>
            </a:r>
            <a:r>
              <a:rPr b="1" lang="en" sz="1700">
                <a:solidFill>
                  <a:srgbClr val="999999"/>
                </a:solidFill>
              </a:rPr>
              <a:t>About</a:t>
            </a:r>
            <a:r>
              <a:rPr b="1" lang="en" sz="1700">
                <a:solidFill>
                  <a:srgbClr val="999999"/>
                </a:solidFill>
              </a:rPr>
              <a:t>          Contact</a:t>
            </a:r>
            <a:endParaRPr b="1" sz="1700">
              <a:solidFill>
                <a:srgbClr val="999999"/>
              </a:solidFill>
            </a:endParaRPr>
          </a:p>
        </p:txBody>
      </p:sp>
      <p:pic>
        <p:nvPicPr>
          <p:cNvPr id="977" name="Google Shape;977;p21" title="download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474425" y="1284577"/>
            <a:ext cx="259800" cy="25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8" name="Google Shape;978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0513496" y="6236751"/>
            <a:ext cx="332100" cy="33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9" name="Google Shape;979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586717" y="7303797"/>
            <a:ext cx="259800" cy="38889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80" name="Google Shape;980;p21"/>
          <p:cNvGrpSpPr/>
          <p:nvPr/>
        </p:nvGrpSpPr>
        <p:grpSpPr>
          <a:xfrm>
            <a:off x="4340597" y="932880"/>
            <a:ext cx="9050971" cy="6797125"/>
            <a:chOff x="4340597" y="932880"/>
            <a:chExt cx="9050971" cy="6797125"/>
          </a:xfrm>
        </p:grpSpPr>
        <p:grpSp>
          <p:nvGrpSpPr>
            <p:cNvPr id="981" name="Google Shape;981;p21"/>
            <p:cNvGrpSpPr/>
            <p:nvPr/>
          </p:nvGrpSpPr>
          <p:grpSpPr>
            <a:xfrm>
              <a:off x="4340597" y="7083175"/>
              <a:ext cx="4557232" cy="618331"/>
              <a:chOff x="4268193" y="552116"/>
              <a:chExt cx="6213843" cy="697025"/>
            </a:xfrm>
          </p:grpSpPr>
          <p:sp>
            <p:nvSpPr>
              <p:cNvPr id="982" name="Google Shape;982;p21"/>
              <p:cNvSpPr/>
              <p:nvPr/>
            </p:nvSpPr>
            <p:spPr>
              <a:xfrm>
                <a:off x="6760562" y="609015"/>
                <a:ext cx="3546300" cy="255600"/>
              </a:xfrm>
              <a:prstGeom prst="roundRect">
                <a:avLst>
                  <a:gd fmla="val 16667" name="adj"/>
                </a:avLst>
              </a:prstGeom>
              <a:solidFill>
                <a:schemeClr val="lt2"/>
              </a:solidFill>
              <a:ln cap="flat" cmpd="sng" w="84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1100" lIns="81100" spcFirstLastPara="1" rIns="81100" wrap="square" tIns="811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41"/>
              </a:p>
            </p:txBody>
          </p:sp>
          <p:sp>
            <p:nvSpPr>
              <p:cNvPr id="983" name="Google Shape;983;p21"/>
              <p:cNvSpPr txBox="1"/>
              <p:nvPr/>
            </p:nvSpPr>
            <p:spPr>
              <a:xfrm>
                <a:off x="4268193" y="552116"/>
                <a:ext cx="2855100" cy="28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1100" lIns="81100" spcFirstLastPara="1" rIns="81100" wrap="square" tIns="811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86">
                    <a:solidFill>
                      <a:srgbClr val="B7B7B7"/>
                    </a:solidFill>
                  </a:rPr>
                  <a:t>CONSTRUCTION YEAR</a:t>
                </a:r>
                <a:endParaRPr b="1" sz="1186">
                  <a:solidFill>
                    <a:srgbClr val="B7B7B7"/>
                  </a:solidFill>
                </a:endParaRPr>
              </a:p>
            </p:txBody>
          </p:sp>
          <p:sp>
            <p:nvSpPr>
              <p:cNvPr id="984" name="Google Shape;984;p21"/>
              <p:cNvSpPr txBox="1"/>
              <p:nvPr/>
            </p:nvSpPr>
            <p:spPr>
              <a:xfrm>
                <a:off x="6732035" y="810841"/>
                <a:ext cx="37500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1100" lIns="81100" spcFirstLastPara="1" rIns="81100" wrap="square" tIns="811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20">
                    <a:solidFill>
                      <a:schemeClr val="dk2"/>
                    </a:solidFill>
                  </a:rPr>
                  <a:t>2020	2030	2040	2050	2060	2070</a:t>
                </a:r>
                <a:endParaRPr sz="620">
                  <a:solidFill>
                    <a:schemeClr val="dk2"/>
                  </a:solidFill>
                </a:endParaRPr>
              </a:p>
            </p:txBody>
          </p:sp>
          <p:sp>
            <p:nvSpPr>
              <p:cNvPr id="985" name="Google Shape;985;p21"/>
              <p:cNvSpPr/>
              <p:nvPr/>
            </p:nvSpPr>
            <p:spPr>
              <a:xfrm>
                <a:off x="6766012" y="605859"/>
                <a:ext cx="1957500" cy="255600"/>
              </a:xfrm>
              <a:prstGeom prst="roundRect">
                <a:avLst>
                  <a:gd fmla="val 16667" name="adj"/>
                </a:avLst>
              </a:prstGeom>
              <a:solidFill>
                <a:srgbClr val="AAD3E0"/>
              </a:solidFill>
              <a:ln cap="flat" cmpd="sng" w="84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1100" lIns="81100" spcFirstLastPara="1" rIns="81100" wrap="square" tIns="811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41"/>
              </a:p>
            </p:txBody>
          </p:sp>
        </p:grpSp>
        <p:grpSp>
          <p:nvGrpSpPr>
            <p:cNvPr id="986" name="Google Shape;986;p21"/>
            <p:cNvGrpSpPr/>
            <p:nvPr/>
          </p:nvGrpSpPr>
          <p:grpSpPr>
            <a:xfrm>
              <a:off x="8869612" y="4172248"/>
              <a:ext cx="4405034" cy="2794775"/>
              <a:chOff x="9037729" y="4704523"/>
              <a:chExt cx="4405034" cy="2794775"/>
            </a:xfrm>
          </p:grpSpPr>
          <p:grpSp>
            <p:nvGrpSpPr>
              <p:cNvPr id="987" name="Google Shape;987;p21"/>
              <p:cNvGrpSpPr/>
              <p:nvPr/>
            </p:nvGrpSpPr>
            <p:grpSpPr>
              <a:xfrm>
                <a:off x="9037729" y="4704523"/>
                <a:ext cx="4405034" cy="2794775"/>
                <a:chOff x="9079752" y="3946051"/>
                <a:chExt cx="4405034" cy="2794775"/>
              </a:xfrm>
            </p:grpSpPr>
            <p:sp>
              <p:nvSpPr>
                <p:cNvPr id="988" name="Google Shape;988;p21"/>
                <p:cNvSpPr txBox="1"/>
                <p:nvPr/>
              </p:nvSpPr>
              <p:spPr>
                <a:xfrm>
                  <a:off x="9079752" y="3946051"/>
                  <a:ext cx="4073400" cy="37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73200" lIns="73200" spcFirstLastPara="1" rIns="73200" wrap="square" tIns="73200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481">
                      <a:solidFill>
                        <a:srgbClr val="666666"/>
                      </a:solidFill>
                    </a:rPr>
                    <a:t>PROJECTED MATERIAL AVAILABILITY</a:t>
                  </a:r>
                  <a:endParaRPr b="1" sz="360">
                    <a:solidFill>
                      <a:srgbClr val="666666"/>
                    </a:solidFill>
                  </a:endParaRPr>
                </a:p>
              </p:txBody>
            </p:sp>
            <p:sp>
              <p:nvSpPr>
                <p:cNvPr id="989" name="Google Shape;989;p21"/>
                <p:cNvSpPr/>
                <p:nvPr/>
              </p:nvSpPr>
              <p:spPr>
                <a:xfrm>
                  <a:off x="9148885" y="4259825"/>
                  <a:ext cx="4335900" cy="2481000"/>
                </a:xfrm>
                <a:prstGeom prst="rect">
                  <a:avLst/>
                </a:prstGeom>
                <a:noFill/>
                <a:ln cap="flat" cmpd="sng" w="76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73200" lIns="73200" spcFirstLastPara="1" rIns="73200" wrap="square" tIns="732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120"/>
                </a:p>
              </p:txBody>
            </p:sp>
            <p:pic>
              <p:nvPicPr>
                <p:cNvPr id="990" name="Google Shape;990;p21" title="Screenshot 2026-02-19 at 10.15.05 AM.png"/>
                <p:cNvPicPr preferRelativeResize="0"/>
                <p:nvPr/>
              </p:nvPicPr>
              <p:blipFill rotWithShape="1">
                <a:blip r:embed="rId10">
                  <a:alphaModFix/>
                </a:blip>
                <a:srcRect b="0" l="0" r="-281" t="0"/>
                <a:stretch/>
              </p:blipFill>
              <p:spPr>
                <a:xfrm>
                  <a:off x="9286250" y="4386900"/>
                  <a:ext cx="4073401" cy="2226850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99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pic>
          </p:grpSp>
          <p:pic>
            <p:nvPicPr>
              <p:cNvPr id="991" name="Google Shape;991;p21" title="expand-icon-symbol-design-illustration-vector.jpg"/>
              <p:cNvPicPr preferRelativeResize="0"/>
              <p:nvPr/>
            </p:nvPicPr>
            <p:blipFill rotWithShape="1">
              <a:blip r:embed="rId11">
                <a:alphaModFix/>
              </a:blip>
              <a:srcRect b="11143" l="12219" r="0" t="0"/>
              <a:stretch/>
            </p:blipFill>
            <p:spPr>
              <a:xfrm>
                <a:off x="13211244" y="5054337"/>
                <a:ext cx="224376" cy="2271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cxnSp>
          <p:nvCxnSpPr>
            <p:cNvPr id="992" name="Google Shape;992;p21"/>
            <p:cNvCxnSpPr/>
            <p:nvPr/>
          </p:nvCxnSpPr>
          <p:spPr>
            <a:xfrm>
              <a:off x="4426782" y="4027001"/>
              <a:ext cx="8858100" cy="600"/>
            </a:xfrm>
            <a:prstGeom prst="straightConnector1">
              <a:avLst/>
            </a:prstGeom>
            <a:noFill/>
            <a:ln cap="flat" cmpd="sng" w="9525">
              <a:solidFill>
                <a:srgbClr val="999999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993" name="Google Shape;993;p21"/>
            <p:cNvGrpSpPr/>
            <p:nvPr/>
          </p:nvGrpSpPr>
          <p:grpSpPr>
            <a:xfrm>
              <a:off x="8869623" y="932880"/>
              <a:ext cx="4405039" cy="2799675"/>
              <a:chOff x="8869623" y="932880"/>
              <a:chExt cx="4405039" cy="2799675"/>
            </a:xfrm>
          </p:grpSpPr>
          <p:sp>
            <p:nvSpPr>
              <p:cNvPr id="994" name="Google Shape;994;p21"/>
              <p:cNvSpPr/>
              <p:nvPr/>
            </p:nvSpPr>
            <p:spPr>
              <a:xfrm>
                <a:off x="8938762" y="1239935"/>
                <a:ext cx="4335900" cy="2481000"/>
              </a:xfrm>
              <a:prstGeom prst="rect">
                <a:avLst/>
              </a:prstGeom>
              <a:noFill/>
              <a:ln cap="flat" cmpd="sng" w="7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3200" lIns="73200" spcFirstLastPara="1" rIns="73200" wrap="square" tIns="732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120"/>
              </a:p>
            </p:txBody>
          </p:sp>
          <p:pic>
            <p:nvPicPr>
              <p:cNvPr id="995" name="Google Shape;995;p21" title="Chart"/>
              <p:cNvPicPr preferRelativeResize="0"/>
              <p:nvPr/>
            </p:nvPicPr>
            <p:blipFill rotWithShape="1">
              <a:blip r:embed="rId12">
                <a:alphaModFix/>
              </a:blip>
              <a:srcRect b="0" l="0" r="0" t="11174"/>
              <a:stretch/>
            </p:blipFill>
            <p:spPr>
              <a:xfrm>
                <a:off x="9117399" y="1378293"/>
                <a:ext cx="3909465" cy="214728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996" name="Google Shape;996;p21"/>
              <p:cNvSpPr txBox="1"/>
              <p:nvPr/>
            </p:nvSpPr>
            <p:spPr>
              <a:xfrm>
                <a:off x="10027381" y="3473355"/>
                <a:ext cx="2451300" cy="25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74700" lIns="74700" spcFirstLastPara="1" rIns="74700" wrap="square" tIns="74700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2">
                    <a:solidFill>
                      <a:schemeClr val="dk1"/>
                    </a:solidFill>
                  </a:rPr>
                  <a:t>Material Cost (USD)</a:t>
                </a:r>
                <a:endParaRPr sz="702">
                  <a:solidFill>
                    <a:schemeClr val="dk1"/>
                  </a:solidFill>
                </a:endParaRPr>
              </a:p>
            </p:txBody>
          </p:sp>
          <p:sp>
            <p:nvSpPr>
              <p:cNvPr id="997" name="Google Shape;997;p21"/>
              <p:cNvSpPr txBox="1"/>
              <p:nvPr/>
            </p:nvSpPr>
            <p:spPr>
              <a:xfrm>
                <a:off x="8869623" y="932880"/>
                <a:ext cx="35370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73200" lIns="73200" spcFirstLastPara="1" rIns="73200" wrap="square" tIns="732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81">
                    <a:solidFill>
                      <a:srgbClr val="666666"/>
                    </a:solidFill>
                  </a:rPr>
                  <a:t>BASELINE MATERIAL COST</a:t>
                </a:r>
                <a:endParaRPr b="1" sz="360">
                  <a:solidFill>
                    <a:srgbClr val="666666"/>
                  </a:solidFill>
                </a:endParaRPr>
              </a:p>
            </p:txBody>
          </p:sp>
          <p:pic>
            <p:nvPicPr>
              <p:cNvPr id="998" name="Google Shape;998;p21" title="download.png"/>
              <p:cNvPicPr preferRelativeResize="0"/>
              <p:nvPr/>
            </p:nvPicPr>
            <p:blipFill>
              <a:blip r:embed="rId7">
                <a:alphaModFix/>
              </a:blip>
              <a:stretch>
                <a:fillRect/>
              </a:stretch>
            </p:blipFill>
            <p:spPr>
              <a:xfrm>
                <a:off x="12975775" y="1284577"/>
                <a:ext cx="259800" cy="259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999" name="Google Shape;999;p21"/>
            <p:cNvGrpSpPr/>
            <p:nvPr/>
          </p:nvGrpSpPr>
          <p:grpSpPr>
            <a:xfrm>
              <a:off x="4349911" y="934411"/>
              <a:ext cx="4524252" cy="2819555"/>
              <a:chOff x="4349911" y="934411"/>
              <a:chExt cx="4524252" cy="2819555"/>
            </a:xfrm>
          </p:grpSpPr>
          <p:grpSp>
            <p:nvGrpSpPr>
              <p:cNvPr id="1000" name="Google Shape;1000;p21"/>
              <p:cNvGrpSpPr/>
              <p:nvPr/>
            </p:nvGrpSpPr>
            <p:grpSpPr>
              <a:xfrm>
                <a:off x="4349911" y="934411"/>
                <a:ext cx="4421103" cy="2819555"/>
                <a:chOff x="4043712" y="1229950"/>
                <a:chExt cx="5522238" cy="3521803"/>
              </a:xfrm>
            </p:grpSpPr>
            <p:sp>
              <p:nvSpPr>
                <p:cNvPr id="1001" name="Google Shape;1001;p21"/>
                <p:cNvSpPr/>
                <p:nvPr/>
              </p:nvSpPr>
              <p:spPr>
                <a:xfrm>
                  <a:off x="4150050" y="1612488"/>
                  <a:ext cx="5415900" cy="3099000"/>
                </a:xfrm>
                <a:prstGeom prst="rect">
                  <a:avLst/>
                </a:prstGeom>
                <a:noFill/>
                <a:ln cap="flat" cmpd="sng" w="76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73200" lIns="73200" spcFirstLastPara="1" rIns="73200" wrap="square" tIns="732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120"/>
                </a:p>
              </p:txBody>
            </p:sp>
            <p:sp>
              <p:nvSpPr>
                <p:cNvPr id="1002" name="Google Shape;1002;p21"/>
                <p:cNvSpPr txBox="1"/>
                <p:nvPr/>
              </p:nvSpPr>
              <p:spPr>
                <a:xfrm>
                  <a:off x="4043712" y="1229950"/>
                  <a:ext cx="4417800" cy="469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73200" lIns="73200" spcFirstLastPara="1" rIns="73200" wrap="square" tIns="73200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481">
                      <a:solidFill>
                        <a:srgbClr val="666666"/>
                      </a:solidFill>
                    </a:rPr>
                    <a:t>BASELINE MATERIAL DEMAND</a:t>
                  </a:r>
                  <a:endParaRPr b="1" sz="360">
                    <a:solidFill>
                      <a:srgbClr val="666666"/>
                    </a:solidFill>
                  </a:endParaRPr>
                </a:p>
              </p:txBody>
            </p:sp>
            <p:grpSp>
              <p:nvGrpSpPr>
                <p:cNvPr id="1003" name="Google Shape;1003;p21"/>
                <p:cNvGrpSpPr/>
                <p:nvPr/>
              </p:nvGrpSpPr>
              <p:grpSpPr>
                <a:xfrm>
                  <a:off x="4056895" y="4214633"/>
                  <a:ext cx="1923164" cy="537120"/>
                  <a:chOff x="4257757" y="4214633"/>
                  <a:chExt cx="1923164" cy="537120"/>
                </a:xfrm>
              </p:grpSpPr>
              <p:sp>
                <p:nvSpPr>
                  <p:cNvPr id="1004" name="Google Shape;1004;p21"/>
                  <p:cNvSpPr txBox="1"/>
                  <p:nvPr/>
                </p:nvSpPr>
                <p:spPr>
                  <a:xfrm>
                    <a:off x="4257757" y="4241453"/>
                    <a:ext cx="1269300" cy="5103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156000" lIns="156000" spcFirstLastPara="1" rIns="156000" wrap="square" tIns="1560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761">
                        <a:solidFill>
                          <a:srgbClr val="999999"/>
                        </a:solidFill>
                      </a:rPr>
                      <a:t>Sankey diagram</a:t>
                    </a:r>
                    <a:endParaRPr sz="761">
                      <a:solidFill>
                        <a:srgbClr val="999999"/>
                      </a:solidFill>
                    </a:endParaRPr>
                  </a:p>
                </p:txBody>
              </p:sp>
              <p:grpSp>
                <p:nvGrpSpPr>
                  <p:cNvPr id="1005" name="Google Shape;1005;p21"/>
                  <p:cNvGrpSpPr/>
                  <p:nvPr/>
                </p:nvGrpSpPr>
                <p:grpSpPr>
                  <a:xfrm>
                    <a:off x="5387374" y="4214633"/>
                    <a:ext cx="793547" cy="433200"/>
                    <a:chOff x="5387374" y="4214633"/>
                    <a:chExt cx="793547" cy="433200"/>
                  </a:xfrm>
                </p:grpSpPr>
                <p:grpSp>
                  <p:nvGrpSpPr>
                    <p:cNvPr id="1006" name="Google Shape;1006;p21"/>
                    <p:cNvGrpSpPr/>
                    <p:nvPr/>
                  </p:nvGrpSpPr>
                  <p:grpSpPr>
                    <a:xfrm>
                      <a:off x="5387374" y="4365780"/>
                      <a:ext cx="761210" cy="261650"/>
                      <a:chOff x="5509499" y="4365730"/>
                      <a:chExt cx="761210" cy="261650"/>
                    </a:xfrm>
                  </p:grpSpPr>
                  <p:sp>
                    <p:nvSpPr>
                      <p:cNvPr id="1007" name="Google Shape;1007;p21"/>
                      <p:cNvSpPr/>
                      <p:nvPr/>
                    </p:nvSpPr>
                    <p:spPr>
                      <a:xfrm rot="-10800000">
                        <a:off x="5513034" y="4365730"/>
                        <a:ext cx="757675" cy="261650"/>
                      </a:xfrm>
                      <a:prstGeom prst="flowChartMagneticDrum">
                        <a:avLst/>
                      </a:prstGeom>
                      <a:solidFill>
                        <a:srgbClr val="CCCCCC"/>
                      </a:solidFill>
                      <a:ln cap="flat" cmpd="sng" w="10600">
                        <a:solidFill>
                          <a:schemeClr val="dk2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156000" lIns="156000" spcFirstLastPara="1" rIns="156000" wrap="square" tIns="156000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2336"/>
                      </a:p>
                    </p:txBody>
                  </p:sp>
                  <p:sp>
                    <p:nvSpPr>
                      <p:cNvPr id="1008" name="Google Shape;1008;p21"/>
                      <p:cNvSpPr/>
                      <p:nvPr/>
                    </p:nvSpPr>
                    <p:spPr>
                      <a:xfrm>
                        <a:off x="5509499" y="4370260"/>
                        <a:ext cx="259500" cy="252600"/>
                      </a:xfrm>
                      <a:prstGeom prst="ellipse">
                        <a:avLst/>
                      </a:prstGeom>
                      <a:solidFill>
                        <a:schemeClr val="lt1"/>
                      </a:solidFill>
                      <a:ln cap="flat" cmpd="sng" w="10600">
                        <a:solidFill>
                          <a:schemeClr val="dk2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t" bIns="156000" lIns="156000" spcFirstLastPara="1" rIns="156000" wrap="square" tIns="156000">
                        <a:noAutofit/>
                      </a:bodyPr>
                      <a:lstStyle/>
                      <a:p>
                        <a:pPr indent="0" lvl="0" marL="0" rtl="0" algn="ctr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2336"/>
                      </a:p>
                    </p:txBody>
                  </p:sp>
                </p:grpSp>
                <p:sp>
                  <p:nvSpPr>
                    <p:cNvPr id="1009" name="Google Shape;1009;p21"/>
                    <p:cNvSpPr txBox="1"/>
                    <p:nvPr/>
                  </p:nvSpPr>
                  <p:spPr>
                    <a:xfrm>
                      <a:off x="5508621" y="4214633"/>
                      <a:ext cx="672300" cy="4332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156000" lIns="156000" spcFirstLastPara="1" rIns="156000" wrap="square" tIns="1560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1">
                          <a:solidFill>
                            <a:schemeClr val="lt1"/>
                          </a:solidFill>
                        </a:rPr>
                        <a:t>Off</a:t>
                      </a:r>
                      <a:endParaRPr sz="1001">
                        <a:solidFill>
                          <a:schemeClr val="lt1"/>
                        </a:solidFill>
                      </a:endParaRPr>
                    </a:p>
                  </p:txBody>
                </p:sp>
              </p:grpSp>
            </p:grpSp>
          </p:grpSp>
          <p:grpSp>
            <p:nvGrpSpPr>
              <p:cNvPr id="1010" name="Google Shape;1010;p21"/>
              <p:cNvGrpSpPr/>
              <p:nvPr/>
            </p:nvGrpSpPr>
            <p:grpSpPr>
              <a:xfrm rot="-7747678">
                <a:off x="6731768" y="2298973"/>
                <a:ext cx="917135" cy="927853"/>
                <a:chOff x="5893568" y="3081812"/>
                <a:chExt cx="1184774" cy="1198522"/>
              </a:xfrm>
            </p:grpSpPr>
            <p:grpSp>
              <p:nvGrpSpPr>
                <p:cNvPr id="1011" name="Google Shape;1011;p21"/>
                <p:cNvGrpSpPr/>
                <p:nvPr/>
              </p:nvGrpSpPr>
              <p:grpSpPr>
                <a:xfrm rot="-2553858">
                  <a:off x="6121452" y="3202192"/>
                  <a:ext cx="729006" cy="957763"/>
                  <a:chOff x="6057691" y="2542624"/>
                  <a:chExt cx="729025" cy="957787"/>
                </a:xfrm>
              </p:grpSpPr>
              <p:cxnSp>
                <p:nvCxnSpPr>
                  <p:cNvPr id="1012" name="Google Shape;1012;p21"/>
                  <p:cNvCxnSpPr/>
                  <p:nvPr/>
                </p:nvCxnSpPr>
                <p:spPr>
                  <a:xfrm flipH="1" rot="-8246357">
                    <a:off x="6228918" y="2725045"/>
                    <a:ext cx="588139" cy="125058"/>
                  </a:xfrm>
                  <a:prstGeom prst="straightConnector1">
                    <a:avLst/>
                  </a:prstGeom>
                  <a:noFill/>
                  <a:ln cap="flat" cmpd="sng" w="22125">
                    <a:solidFill>
                      <a:srgbClr val="B6D7A8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013" name="Google Shape;1013;p21"/>
                  <p:cNvCxnSpPr/>
                  <p:nvPr/>
                </p:nvCxnSpPr>
                <p:spPr>
                  <a:xfrm flipH="1" rot="10800000">
                    <a:off x="6097647" y="3383711"/>
                    <a:ext cx="594300" cy="116700"/>
                  </a:xfrm>
                  <a:prstGeom prst="straightConnector1">
                    <a:avLst/>
                  </a:prstGeom>
                  <a:noFill/>
                  <a:ln cap="flat" cmpd="sng" w="22125">
                    <a:solidFill>
                      <a:srgbClr val="B6D7A8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1014" name="Google Shape;1014;p21"/>
                  <p:cNvSpPr/>
                  <p:nvPr/>
                </p:nvSpPr>
                <p:spPr>
                  <a:xfrm>
                    <a:off x="6057691" y="2616591"/>
                    <a:ext cx="202398" cy="870834"/>
                  </a:xfrm>
                  <a:custGeom>
                    <a:rect b="b" l="l" r="r" t="t"/>
                    <a:pathLst>
                      <a:path extrusionOk="0" h="29905" w="4740">
                        <a:moveTo>
                          <a:pt x="1229" y="29905"/>
                        </a:moveTo>
                        <a:cubicBezTo>
                          <a:pt x="-1533" y="20256"/>
                          <a:pt x="780" y="9222"/>
                          <a:pt x="4741" y="0"/>
                        </a:cubicBezTo>
                      </a:path>
                    </a:pathLst>
                  </a:custGeom>
                  <a:noFill/>
                  <a:ln cap="flat" cmpd="sng" w="22125">
                    <a:solidFill>
                      <a:srgbClr val="B6D7A8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sp>
              <p:sp>
                <p:nvSpPr>
                  <p:cNvPr id="1015" name="Google Shape;1015;p21"/>
                  <p:cNvSpPr/>
                  <p:nvPr/>
                </p:nvSpPr>
                <p:spPr>
                  <a:xfrm>
                    <a:off x="6679189" y="2926345"/>
                    <a:ext cx="107527" cy="463154"/>
                  </a:xfrm>
                  <a:custGeom>
                    <a:rect b="b" l="l" r="r" t="t"/>
                    <a:pathLst>
                      <a:path extrusionOk="0" h="29905" w="4740">
                        <a:moveTo>
                          <a:pt x="1229" y="29905"/>
                        </a:moveTo>
                        <a:cubicBezTo>
                          <a:pt x="-1533" y="20256"/>
                          <a:pt x="780" y="9222"/>
                          <a:pt x="4741" y="0"/>
                        </a:cubicBezTo>
                      </a:path>
                    </a:pathLst>
                  </a:custGeom>
                  <a:noFill/>
                  <a:ln cap="flat" cmpd="sng" w="22125">
                    <a:solidFill>
                      <a:srgbClr val="B6D7A8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sp>
            </p:grpSp>
            <p:cxnSp>
              <p:nvCxnSpPr>
                <p:cNvPr id="1016" name="Google Shape;1016;p21"/>
                <p:cNvCxnSpPr/>
                <p:nvPr/>
              </p:nvCxnSpPr>
              <p:spPr>
                <a:xfrm flipH="1" rot="10800000">
                  <a:off x="6147225" y="3487550"/>
                  <a:ext cx="109200" cy="174600"/>
                </a:xfrm>
                <a:prstGeom prst="straightConnector1">
                  <a:avLst/>
                </a:prstGeom>
                <a:noFill/>
                <a:ln cap="flat" cmpd="sng" w="7350">
                  <a:solidFill>
                    <a:srgbClr val="B6D7A8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17" name="Google Shape;1017;p21"/>
                <p:cNvCxnSpPr/>
                <p:nvPr/>
              </p:nvCxnSpPr>
              <p:spPr>
                <a:xfrm flipH="1" rot="10800000">
                  <a:off x="6173600" y="3466000"/>
                  <a:ext cx="183000" cy="285600"/>
                </a:xfrm>
                <a:prstGeom prst="straightConnector1">
                  <a:avLst/>
                </a:prstGeom>
                <a:noFill/>
                <a:ln cap="flat" cmpd="sng" w="7350">
                  <a:solidFill>
                    <a:srgbClr val="B6D7A8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18" name="Google Shape;1018;p21"/>
                <p:cNvCxnSpPr/>
                <p:nvPr/>
              </p:nvCxnSpPr>
              <p:spPr>
                <a:xfrm flipH="1" rot="10800000">
                  <a:off x="6209650" y="3456063"/>
                  <a:ext cx="228600" cy="361800"/>
                </a:xfrm>
                <a:prstGeom prst="straightConnector1">
                  <a:avLst/>
                </a:prstGeom>
                <a:noFill/>
                <a:ln cap="flat" cmpd="sng" w="7350">
                  <a:solidFill>
                    <a:srgbClr val="B6D7A8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19" name="Google Shape;1019;p21"/>
                <p:cNvCxnSpPr/>
                <p:nvPr/>
              </p:nvCxnSpPr>
              <p:spPr>
                <a:xfrm flipH="1" rot="10800000">
                  <a:off x="6241950" y="3433763"/>
                  <a:ext cx="283500" cy="447600"/>
                </a:xfrm>
                <a:prstGeom prst="straightConnector1">
                  <a:avLst/>
                </a:prstGeom>
                <a:noFill/>
                <a:ln cap="flat" cmpd="sng" w="7350">
                  <a:solidFill>
                    <a:srgbClr val="B6D7A8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20" name="Google Shape;1020;p21"/>
                <p:cNvCxnSpPr/>
                <p:nvPr/>
              </p:nvCxnSpPr>
              <p:spPr>
                <a:xfrm flipH="1" rot="10800000">
                  <a:off x="6283850" y="3414388"/>
                  <a:ext cx="331200" cy="538200"/>
                </a:xfrm>
                <a:prstGeom prst="straightConnector1">
                  <a:avLst/>
                </a:prstGeom>
                <a:noFill/>
                <a:ln cap="flat" cmpd="sng" w="7350">
                  <a:solidFill>
                    <a:srgbClr val="B6D7A8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21" name="Google Shape;1021;p21"/>
                <p:cNvCxnSpPr/>
                <p:nvPr/>
              </p:nvCxnSpPr>
              <p:spPr>
                <a:xfrm flipH="1" rot="10800000">
                  <a:off x="6322550" y="3425213"/>
                  <a:ext cx="367500" cy="591000"/>
                </a:xfrm>
                <a:prstGeom prst="straightConnector1">
                  <a:avLst/>
                </a:prstGeom>
                <a:noFill/>
                <a:ln cap="flat" cmpd="sng" w="7350">
                  <a:solidFill>
                    <a:srgbClr val="B6D7A8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22" name="Google Shape;1022;p21"/>
                <p:cNvCxnSpPr/>
                <p:nvPr/>
              </p:nvCxnSpPr>
              <p:spPr>
                <a:xfrm flipH="1" rot="10800000">
                  <a:off x="6367875" y="3522238"/>
                  <a:ext cx="351600" cy="548700"/>
                </a:xfrm>
                <a:prstGeom prst="straightConnector1">
                  <a:avLst/>
                </a:prstGeom>
                <a:noFill/>
                <a:ln cap="flat" cmpd="sng" w="7350">
                  <a:solidFill>
                    <a:srgbClr val="B6D7A8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23" name="Google Shape;1023;p21"/>
                <p:cNvCxnSpPr/>
                <p:nvPr/>
              </p:nvCxnSpPr>
              <p:spPr>
                <a:xfrm flipH="1" rot="10800000">
                  <a:off x="6414850" y="3600463"/>
                  <a:ext cx="346500" cy="522900"/>
                </a:xfrm>
                <a:prstGeom prst="straightConnector1">
                  <a:avLst/>
                </a:prstGeom>
                <a:noFill/>
                <a:ln cap="flat" cmpd="sng" w="7350">
                  <a:solidFill>
                    <a:srgbClr val="B6D7A8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24" name="Google Shape;1024;p21"/>
                <p:cNvCxnSpPr/>
                <p:nvPr/>
              </p:nvCxnSpPr>
              <p:spPr>
                <a:xfrm flipH="1" rot="10800000">
                  <a:off x="6474550" y="3673138"/>
                  <a:ext cx="328800" cy="486300"/>
                </a:xfrm>
                <a:prstGeom prst="straightConnector1">
                  <a:avLst/>
                </a:prstGeom>
                <a:noFill/>
                <a:ln cap="flat" cmpd="sng" w="7350">
                  <a:solidFill>
                    <a:srgbClr val="B6D7A8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25" name="Google Shape;1025;p21"/>
                <p:cNvCxnSpPr/>
                <p:nvPr/>
              </p:nvCxnSpPr>
              <p:spPr>
                <a:xfrm flipH="1" rot="10800000">
                  <a:off x="6525450" y="3712838"/>
                  <a:ext cx="328800" cy="486300"/>
                </a:xfrm>
                <a:prstGeom prst="straightConnector1">
                  <a:avLst/>
                </a:prstGeom>
                <a:noFill/>
                <a:ln cap="flat" cmpd="sng" w="7350">
                  <a:solidFill>
                    <a:srgbClr val="B6D7A8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026" name="Google Shape;1026;p21"/>
              <p:cNvGrpSpPr/>
              <p:nvPr/>
            </p:nvGrpSpPr>
            <p:grpSpPr>
              <a:xfrm>
                <a:off x="7438542" y="1829965"/>
                <a:ext cx="1435621" cy="519947"/>
                <a:chOff x="8548175" y="2668550"/>
                <a:chExt cx="1435621" cy="519947"/>
              </a:xfrm>
            </p:grpSpPr>
            <p:sp>
              <p:nvSpPr>
                <p:cNvPr id="1027" name="Google Shape;1027;p21"/>
                <p:cNvSpPr txBox="1"/>
                <p:nvPr/>
              </p:nvSpPr>
              <p:spPr>
                <a:xfrm>
                  <a:off x="8548175" y="2668550"/>
                  <a:ext cx="672300" cy="294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860">
                      <a:solidFill>
                        <a:schemeClr val="dk2"/>
                      </a:solidFill>
                    </a:rPr>
                    <a:t>Legend</a:t>
                  </a:r>
                  <a:endParaRPr b="1" sz="860">
                    <a:solidFill>
                      <a:schemeClr val="dk2"/>
                    </a:solidFill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860">
                    <a:solidFill>
                      <a:schemeClr val="dk2"/>
                    </a:solidFill>
                  </a:endParaRPr>
                </a:p>
              </p:txBody>
            </p:sp>
            <p:sp>
              <p:nvSpPr>
                <p:cNvPr id="1028" name="Google Shape;1028;p21"/>
                <p:cNvSpPr/>
                <p:nvPr/>
              </p:nvSpPr>
              <p:spPr>
                <a:xfrm>
                  <a:off x="8698150" y="2959475"/>
                  <a:ext cx="146700" cy="141900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93C47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29" name="Google Shape;1029;p21"/>
                <p:cNvSpPr txBox="1"/>
                <p:nvPr/>
              </p:nvSpPr>
              <p:spPr>
                <a:xfrm>
                  <a:off x="8795496" y="2871397"/>
                  <a:ext cx="1188300" cy="317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860">
                      <a:solidFill>
                        <a:schemeClr val="dk2"/>
                      </a:solidFill>
                    </a:rPr>
                    <a:t>Reused material</a:t>
                  </a:r>
                  <a:endParaRPr sz="860">
                    <a:solidFill>
                      <a:schemeClr val="dk2"/>
                    </a:solidFill>
                  </a:endParaRPr>
                </a:p>
              </p:txBody>
            </p:sp>
            <p:cxnSp>
              <p:nvCxnSpPr>
                <p:cNvPr id="1030" name="Google Shape;1030;p21"/>
                <p:cNvCxnSpPr>
                  <a:stCxn id="1028" idx="1"/>
                </p:cNvCxnSpPr>
                <p:nvPr/>
              </p:nvCxnSpPr>
              <p:spPr>
                <a:xfrm flipH="1" rot="10800000">
                  <a:off x="8698150" y="2959625"/>
                  <a:ext cx="73500" cy="708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93C47D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31" name="Google Shape;1031;p21"/>
                <p:cNvCxnSpPr/>
                <p:nvPr/>
              </p:nvCxnSpPr>
              <p:spPr>
                <a:xfrm flipH="1" rot="10800000">
                  <a:off x="8698150" y="2963225"/>
                  <a:ext cx="146400" cy="138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93C47D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32" name="Google Shape;1032;p21"/>
                <p:cNvCxnSpPr/>
                <p:nvPr/>
              </p:nvCxnSpPr>
              <p:spPr>
                <a:xfrm flipH="1" rot="10800000">
                  <a:off x="8771650" y="3030425"/>
                  <a:ext cx="73500" cy="708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93C47D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1033" name="Google Shape;1033;p21"/>
            <p:cNvGrpSpPr/>
            <p:nvPr/>
          </p:nvGrpSpPr>
          <p:grpSpPr>
            <a:xfrm>
              <a:off x="4349911" y="4181419"/>
              <a:ext cx="5208207" cy="2819555"/>
              <a:chOff x="4349911" y="4181419"/>
              <a:chExt cx="5208207" cy="2819555"/>
            </a:xfrm>
          </p:grpSpPr>
          <p:grpSp>
            <p:nvGrpSpPr>
              <p:cNvPr id="1034" name="Google Shape;1034;p21"/>
              <p:cNvGrpSpPr/>
              <p:nvPr/>
            </p:nvGrpSpPr>
            <p:grpSpPr>
              <a:xfrm>
                <a:off x="4349911" y="4181419"/>
                <a:ext cx="4421103" cy="2819555"/>
                <a:chOff x="4349911" y="4181419"/>
                <a:chExt cx="4421103" cy="2819555"/>
              </a:xfrm>
            </p:grpSpPr>
            <p:grpSp>
              <p:nvGrpSpPr>
                <p:cNvPr id="1035" name="Google Shape;1035;p21"/>
                <p:cNvGrpSpPr/>
                <p:nvPr/>
              </p:nvGrpSpPr>
              <p:grpSpPr>
                <a:xfrm>
                  <a:off x="4349911" y="4181419"/>
                  <a:ext cx="4421103" cy="2819555"/>
                  <a:chOff x="4043712" y="1229950"/>
                  <a:chExt cx="5522238" cy="3521803"/>
                </a:xfrm>
              </p:grpSpPr>
              <p:sp>
                <p:nvSpPr>
                  <p:cNvPr id="1036" name="Google Shape;1036;p21"/>
                  <p:cNvSpPr/>
                  <p:nvPr/>
                </p:nvSpPr>
                <p:spPr>
                  <a:xfrm>
                    <a:off x="4150050" y="1612488"/>
                    <a:ext cx="5415900" cy="3099000"/>
                  </a:xfrm>
                  <a:prstGeom prst="rect">
                    <a:avLst/>
                  </a:prstGeom>
                  <a:noFill/>
                  <a:ln cap="flat" cmpd="sng" w="7650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73200" lIns="73200" spcFirstLastPara="1" rIns="73200" wrap="square" tIns="73200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120"/>
                  </a:p>
                </p:txBody>
              </p:sp>
              <p:sp>
                <p:nvSpPr>
                  <p:cNvPr id="1037" name="Google Shape;1037;p21"/>
                  <p:cNvSpPr txBox="1"/>
                  <p:nvPr/>
                </p:nvSpPr>
                <p:spPr>
                  <a:xfrm>
                    <a:off x="4043712" y="1229950"/>
                    <a:ext cx="4417800" cy="469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73200" lIns="73200" spcFirstLastPara="1" rIns="73200" wrap="square" tIns="73200">
                    <a:sp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lang="en" sz="1481">
                        <a:solidFill>
                          <a:srgbClr val="666666"/>
                        </a:solidFill>
                      </a:rPr>
                      <a:t>PROJECTED MATERIAL DEMAND</a:t>
                    </a:r>
                    <a:endParaRPr b="1" sz="360">
                      <a:solidFill>
                        <a:srgbClr val="666666"/>
                      </a:solidFill>
                    </a:endParaRPr>
                  </a:p>
                </p:txBody>
              </p:sp>
              <p:grpSp>
                <p:nvGrpSpPr>
                  <p:cNvPr id="1038" name="Google Shape;1038;p21"/>
                  <p:cNvGrpSpPr/>
                  <p:nvPr/>
                </p:nvGrpSpPr>
                <p:grpSpPr>
                  <a:xfrm>
                    <a:off x="4056895" y="4208337"/>
                    <a:ext cx="1928164" cy="543415"/>
                    <a:chOff x="4257757" y="4208337"/>
                    <a:chExt cx="1928164" cy="543415"/>
                  </a:xfrm>
                </p:grpSpPr>
                <p:sp>
                  <p:nvSpPr>
                    <p:cNvPr id="1039" name="Google Shape;1039;p21"/>
                    <p:cNvSpPr txBox="1"/>
                    <p:nvPr/>
                  </p:nvSpPr>
                  <p:spPr>
                    <a:xfrm>
                      <a:off x="4257757" y="4241453"/>
                      <a:ext cx="1269300" cy="5103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156000" lIns="156000" spcFirstLastPara="1" rIns="156000" wrap="square" tIns="1560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61">
                          <a:solidFill>
                            <a:srgbClr val="999999"/>
                          </a:solidFill>
                        </a:rPr>
                        <a:t>Sankey diagram</a:t>
                      </a:r>
                      <a:endParaRPr sz="761">
                        <a:solidFill>
                          <a:srgbClr val="999999"/>
                        </a:solidFill>
                      </a:endParaRPr>
                    </a:p>
                  </p:txBody>
                </p:sp>
                <p:grpSp>
                  <p:nvGrpSpPr>
                    <p:cNvPr id="1040" name="Google Shape;1040;p21"/>
                    <p:cNvGrpSpPr/>
                    <p:nvPr/>
                  </p:nvGrpSpPr>
                  <p:grpSpPr>
                    <a:xfrm>
                      <a:off x="5383729" y="4208337"/>
                      <a:ext cx="802192" cy="433200"/>
                      <a:chOff x="5383729" y="4208337"/>
                      <a:chExt cx="802192" cy="433200"/>
                    </a:xfrm>
                  </p:grpSpPr>
                  <p:grpSp>
                    <p:nvGrpSpPr>
                      <p:cNvPr id="1041" name="Google Shape;1041;p21"/>
                      <p:cNvGrpSpPr/>
                      <p:nvPr/>
                    </p:nvGrpSpPr>
                    <p:grpSpPr>
                      <a:xfrm>
                        <a:off x="5383729" y="4365780"/>
                        <a:ext cx="764855" cy="261650"/>
                        <a:chOff x="5505854" y="4365730"/>
                        <a:chExt cx="764855" cy="261650"/>
                      </a:xfrm>
                    </p:grpSpPr>
                    <p:sp>
                      <p:nvSpPr>
                        <p:cNvPr id="1042" name="Google Shape;1042;p21"/>
                        <p:cNvSpPr/>
                        <p:nvPr/>
                      </p:nvSpPr>
                      <p:spPr>
                        <a:xfrm rot="-10800000">
                          <a:off x="5513034" y="4365730"/>
                          <a:ext cx="757675" cy="261650"/>
                        </a:xfrm>
                        <a:prstGeom prst="flowChartMagneticDrum">
                          <a:avLst/>
                        </a:prstGeom>
                        <a:solidFill>
                          <a:srgbClr val="CCCCCC"/>
                        </a:solidFill>
                        <a:ln cap="flat" cmpd="sng" w="10600">
                          <a:solidFill>
                            <a:schemeClr val="dk2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t" bIns="156000" lIns="156000" spcFirstLastPara="1" rIns="156000" wrap="square" tIns="156000">
                          <a:noAutofit/>
                        </a:bodyPr>
                        <a:lstStyle/>
                        <a:p>
                          <a:pPr indent="0" lvl="0" marL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2336"/>
                        </a:p>
                      </p:txBody>
                    </p:sp>
                    <p:sp>
                      <p:nvSpPr>
                        <p:cNvPr id="1043" name="Google Shape;1043;p21"/>
                        <p:cNvSpPr/>
                        <p:nvPr/>
                      </p:nvSpPr>
                      <p:spPr>
                        <a:xfrm>
                          <a:off x="5505854" y="4370260"/>
                          <a:ext cx="259500" cy="252600"/>
                        </a:xfrm>
                        <a:prstGeom prst="ellipse">
                          <a:avLst/>
                        </a:prstGeom>
                        <a:solidFill>
                          <a:schemeClr val="lt1"/>
                        </a:solidFill>
                        <a:ln cap="flat" cmpd="sng" w="10600">
                          <a:solidFill>
                            <a:schemeClr val="dk2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t" bIns="156000" lIns="156000" spcFirstLastPara="1" rIns="156000" wrap="square" tIns="156000">
                          <a:noAutofit/>
                        </a:bodyPr>
                        <a:lstStyle/>
                        <a:p>
                          <a:pPr indent="0" lvl="0" marL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2336"/>
                        </a:p>
                      </p:txBody>
                    </p:sp>
                  </p:grpSp>
                  <p:sp>
                    <p:nvSpPr>
                      <p:cNvPr id="1044" name="Google Shape;1044;p21"/>
                      <p:cNvSpPr txBox="1"/>
                      <p:nvPr/>
                    </p:nvSpPr>
                    <p:spPr>
                      <a:xfrm>
                        <a:off x="5513621" y="4208337"/>
                        <a:ext cx="672300" cy="43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t" bIns="156000" lIns="156000" spcFirstLastPara="1" rIns="156000" wrap="square" tIns="156000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001">
                            <a:solidFill>
                              <a:schemeClr val="lt1"/>
                            </a:solidFill>
                          </a:rPr>
                          <a:t>Off</a:t>
                        </a:r>
                        <a:endParaRPr sz="1001">
                          <a:solidFill>
                            <a:schemeClr val="lt1"/>
                          </a:solidFill>
                        </a:endParaRPr>
                      </a:p>
                    </p:txBody>
                  </p:sp>
                </p:grpSp>
              </p:grpSp>
            </p:grpSp>
            <p:pic>
              <p:nvPicPr>
                <p:cNvPr id="1045" name="Google Shape;1045;p21" title="download.png"/>
                <p:cNvPicPr preferRelativeResize="0"/>
                <p:nvPr/>
              </p:nvPicPr>
              <p:blipFill>
                <a:blip r:embed="rId7">
                  <a:alphaModFix/>
                </a:blip>
                <a:stretch>
                  <a:fillRect/>
                </a:stretch>
              </p:blipFill>
              <p:spPr>
                <a:xfrm>
                  <a:off x="8474425" y="4518577"/>
                  <a:ext cx="259800" cy="2598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1046" name="Google Shape;1046;p21" title="Chart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11143"/>
              <a:stretch/>
            </p:blipFill>
            <p:spPr>
              <a:xfrm>
                <a:off x="4681700" y="4636018"/>
                <a:ext cx="3723375" cy="204505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047" name="Google Shape;1047;p21"/>
              <p:cNvGrpSpPr/>
              <p:nvPr/>
            </p:nvGrpSpPr>
            <p:grpSpPr>
              <a:xfrm rot="6466707">
                <a:off x="5814315" y="4528678"/>
                <a:ext cx="984756" cy="912842"/>
                <a:chOff x="5971561" y="3175271"/>
                <a:chExt cx="1209504" cy="1223549"/>
              </a:xfrm>
            </p:grpSpPr>
            <p:grpSp>
              <p:nvGrpSpPr>
                <p:cNvPr id="1048" name="Google Shape;1048;p21"/>
                <p:cNvGrpSpPr/>
                <p:nvPr/>
              </p:nvGrpSpPr>
              <p:grpSpPr>
                <a:xfrm rot="-2553858">
                  <a:off x="6204240" y="3298126"/>
                  <a:ext cx="744146" cy="977838"/>
                  <a:chOff x="6044991" y="2671759"/>
                  <a:chExt cx="744165" cy="977863"/>
                </a:xfrm>
              </p:grpSpPr>
              <p:cxnSp>
                <p:nvCxnSpPr>
                  <p:cNvPr id="1049" name="Google Shape;1049;p21"/>
                  <p:cNvCxnSpPr/>
                  <p:nvPr/>
                </p:nvCxnSpPr>
                <p:spPr>
                  <a:xfrm flipH="1" rot="-3778148">
                    <a:off x="6491854" y="2506298"/>
                    <a:ext cx="16503" cy="617403"/>
                  </a:xfrm>
                  <a:prstGeom prst="straightConnector1">
                    <a:avLst/>
                  </a:prstGeom>
                  <a:noFill/>
                  <a:ln cap="flat" cmpd="sng" w="24325">
                    <a:solidFill>
                      <a:srgbClr val="FFFF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050" name="Google Shape;1050;p21"/>
                  <p:cNvCxnSpPr/>
                  <p:nvPr/>
                </p:nvCxnSpPr>
                <p:spPr>
                  <a:xfrm rot="-3787876">
                    <a:off x="6196996" y="3097494"/>
                    <a:ext cx="379690" cy="554057"/>
                  </a:xfrm>
                  <a:prstGeom prst="straightConnector1">
                    <a:avLst/>
                  </a:prstGeom>
                  <a:noFill/>
                  <a:ln cap="flat" cmpd="sng" w="24325">
                    <a:solidFill>
                      <a:srgbClr val="FFFF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1051" name="Google Shape;1051;p21"/>
                  <p:cNvSpPr/>
                  <p:nvPr/>
                </p:nvSpPr>
                <p:spPr>
                  <a:xfrm rot="143870">
                    <a:off x="6063203" y="2674379"/>
                    <a:ext cx="140202" cy="763728"/>
                  </a:xfrm>
                  <a:custGeom>
                    <a:rect b="b" l="l" r="r" t="t"/>
                    <a:pathLst>
                      <a:path extrusionOk="0" h="29905" w="4740">
                        <a:moveTo>
                          <a:pt x="1229" y="29905"/>
                        </a:moveTo>
                        <a:cubicBezTo>
                          <a:pt x="-1533" y="20256"/>
                          <a:pt x="780" y="9222"/>
                          <a:pt x="4741" y="0"/>
                        </a:cubicBezTo>
                      </a:path>
                    </a:pathLst>
                  </a:custGeom>
                  <a:noFill/>
                  <a:ln cap="flat" cmpd="sng" w="24325">
                    <a:solidFill>
                      <a:srgbClr val="FFFF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sp>
              <p:sp>
                <p:nvSpPr>
                  <p:cNvPr id="1052" name="Google Shape;1052;p21"/>
                  <p:cNvSpPr/>
                  <p:nvPr/>
                </p:nvSpPr>
                <p:spPr>
                  <a:xfrm>
                    <a:off x="6704190" y="2926332"/>
                    <a:ext cx="82523" cy="396989"/>
                  </a:xfrm>
                  <a:custGeom>
                    <a:rect b="b" l="l" r="r" t="t"/>
                    <a:pathLst>
                      <a:path extrusionOk="0" h="29905" w="4740">
                        <a:moveTo>
                          <a:pt x="1229" y="29905"/>
                        </a:moveTo>
                        <a:cubicBezTo>
                          <a:pt x="-1533" y="20256"/>
                          <a:pt x="780" y="9222"/>
                          <a:pt x="4741" y="0"/>
                        </a:cubicBezTo>
                      </a:path>
                    </a:pathLst>
                  </a:custGeom>
                  <a:noFill/>
                  <a:ln cap="flat" cmpd="sng" w="24325">
                    <a:solidFill>
                      <a:srgbClr val="FFFF00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sp>
            </p:grpSp>
            <p:cxnSp>
              <p:nvCxnSpPr>
                <p:cNvPr id="1053" name="Google Shape;1053;p21"/>
                <p:cNvCxnSpPr/>
                <p:nvPr/>
              </p:nvCxnSpPr>
              <p:spPr>
                <a:xfrm rot="-6338134">
                  <a:off x="6145992" y="3526121"/>
                  <a:ext cx="99066" cy="131358"/>
                </a:xfrm>
                <a:prstGeom prst="straightConnector1">
                  <a:avLst/>
                </a:prstGeom>
                <a:noFill/>
                <a:ln cap="flat" cmpd="sng" w="8125">
                  <a:solidFill>
                    <a:srgbClr val="FFFF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54" name="Google Shape;1054;p21"/>
                <p:cNvCxnSpPr/>
                <p:nvPr/>
              </p:nvCxnSpPr>
              <p:spPr>
                <a:xfrm rot="-6341519">
                  <a:off x="6163077" y="3507611"/>
                  <a:ext cx="186345" cy="229677"/>
                </a:xfrm>
                <a:prstGeom prst="straightConnector1">
                  <a:avLst/>
                </a:prstGeom>
                <a:noFill/>
                <a:ln cap="flat" cmpd="sng" w="8125">
                  <a:solidFill>
                    <a:srgbClr val="FFFF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55" name="Google Shape;1055;p21"/>
                <p:cNvCxnSpPr/>
                <p:nvPr/>
              </p:nvCxnSpPr>
              <p:spPr>
                <a:xfrm flipH="1" rot="10800000">
                  <a:off x="6209650" y="3456063"/>
                  <a:ext cx="228600" cy="361800"/>
                </a:xfrm>
                <a:prstGeom prst="straightConnector1">
                  <a:avLst/>
                </a:prstGeom>
                <a:noFill/>
                <a:ln cap="flat" cmpd="sng" w="8125">
                  <a:solidFill>
                    <a:srgbClr val="FFFF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56" name="Google Shape;1056;p21"/>
                <p:cNvCxnSpPr/>
                <p:nvPr/>
              </p:nvCxnSpPr>
              <p:spPr>
                <a:xfrm flipH="1" rot="10800000">
                  <a:off x="6241950" y="3433763"/>
                  <a:ext cx="283500" cy="447600"/>
                </a:xfrm>
                <a:prstGeom prst="straightConnector1">
                  <a:avLst/>
                </a:prstGeom>
                <a:noFill/>
                <a:ln cap="flat" cmpd="sng" w="8125">
                  <a:solidFill>
                    <a:srgbClr val="FFFF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57" name="Google Shape;1057;p21"/>
                <p:cNvCxnSpPr/>
                <p:nvPr/>
              </p:nvCxnSpPr>
              <p:spPr>
                <a:xfrm flipH="1" rot="10800000">
                  <a:off x="6283850" y="3414388"/>
                  <a:ext cx="331200" cy="538200"/>
                </a:xfrm>
                <a:prstGeom prst="straightConnector1">
                  <a:avLst/>
                </a:prstGeom>
                <a:noFill/>
                <a:ln cap="flat" cmpd="sng" w="8125">
                  <a:solidFill>
                    <a:srgbClr val="FFFF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58" name="Google Shape;1058;p21"/>
                <p:cNvCxnSpPr/>
                <p:nvPr/>
              </p:nvCxnSpPr>
              <p:spPr>
                <a:xfrm rot="-6341247">
                  <a:off x="6292767" y="3448055"/>
                  <a:ext cx="439366" cy="530916"/>
                </a:xfrm>
                <a:prstGeom prst="straightConnector1">
                  <a:avLst/>
                </a:prstGeom>
                <a:noFill/>
                <a:ln cap="flat" cmpd="sng" w="8125">
                  <a:solidFill>
                    <a:srgbClr val="FFFF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59" name="Google Shape;1059;p21"/>
                <p:cNvCxnSpPr/>
                <p:nvPr/>
              </p:nvCxnSpPr>
              <p:spPr>
                <a:xfrm rot="-6340423">
                  <a:off x="6351293" y="3538944"/>
                  <a:ext cx="399765" cy="505388"/>
                </a:xfrm>
                <a:prstGeom prst="straightConnector1">
                  <a:avLst/>
                </a:prstGeom>
                <a:noFill/>
                <a:ln cap="flat" cmpd="sng" w="8125">
                  <a:solidFill>
                    <a:srgbClr val="FFFF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60" name="Google Shape;1060;p21"/>
                <p:cNvCxnSpPr/>
                <p:nvPr/>
              </p:nvCxnSpPr>
              <p:spPr>
                <a:xfrm rot="-6340407">
                  <a:off x="6404298" y="3607469"/>
                  <a:ext cx="382004" cy="494187"/>
                </a:xfrm>
                <a:prstGeom prst="straightConnector1">
                  <a:avLst/>
                </a:prstGeom>
                <a:noFill/>
                <a:ln cap="flat" cmpd="sng" w="8125">
                  <a:solidFill>
                    <a:srgbClr val="FFFF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61" name="Google Shape;1061;p21"/>
                <p:cNvCxnSpPr/>
                <p:nvPr/>
              </p:nvCxnSpPr>
              <p:spPr>
                <a:xfrm rot="-6341762">
                  <a:off x="6466915" y="3656902"/>
                  <a:ext cx="369270" cy="483371"/>
                </a:xfrm>
                <a:prstGeom prst="straightConnector1">
                  <a:avLst/>
                </a:prstGeom>
                <a:noFill/>
                <a:ln cap="flat" cmpd="sng" w="8125">
                  <a:solidFill>
                    <a:srgbClr val="FFFF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062" name="Google Shape;1062;p21"/>
              <p:cNvGrpSpPr/>
              <p:nvPr/>
            </p:nvGrpSpPr>
            <p:grpSpPr>
              <a:xfrm rot="-7747678">
                <a:off x="6713808" y="5451802"/>
                <a:ext cx="917135" cy="927853"/>
                <a:chOff x="5893568" y="3081812"/>
                <a:chExt cx="1184774" cy="1198522"/>
              </a:xfrm>
            </p:grpSpPr>
            <p:grpSp>
              <p:nvGrpSpPr>
                <p:cNvPr id="1063" name="Google Shape;1063;p21"/>
                <p:cNvGrpSpPr/>
                <p:nvPr/>
              </p:nvGrpSpPr>
              <p:grpSpPr>
                <a:xfrm rot="-2553858">
                  <a:off x="6121452" y="3202192"/>
                  <a:ext cx="729006" cy="957763"/>
                  <a:chOff x="6057691" y="2542624"/>
                  <a:chExt cx="729025" cy="957787"/>
                </a:xfrm>
              </p:grpSpPr>
              <p:cxnSp>
                <p:nvCxnSpPr>
                  <p:cNvPr id="1064" name="Google Shape;1064;p21"/>
                  <p:cNvCxnSpPr/>
                  <p:nvPr/>
                </p:nvCxnSpPr>
                <p:spPr>
                  <a:xfrm flipH="1" rot="-8246357">
                    <a:off x="6228918" y="2725045"/>
                    <a:ext cx="588139" cy="125058"/>
                  </a:xfrm>
                  <a:prstGeom prst="straightConnector1">
                    <a:avLst/>
                  </a:prstGeom>
                  <a:noFill/>
                  <a:ln cap="flat" cmpd="sng" w="22125">
                    <a:solidFill>
                      <a:srgbClr val="B6D7A8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065" name="Google Shape;1065;p21"/>
                  <p:cNvCxnSpPr/>
                  <p:nvPr/>
                </p:nvCxnSpPr>
                <p:spPr>
                  <a:xfrm flipH="1" rot="10800000">
                    <a:off x="6097647" y="3383711"/>
                    <a:ext cx="594300" cy="116700"/>
                  </a:xfrm>
                  <a:prstGeom prst="straightConnector1">
                    <a:avLst/>
                  </a:prstGeom>
                  <a:noFill/>
                  <a:ln cap="flat" cmpd="sng" w="22125">
                    <a:solidFill>
                      <a:srgbClr val="B6D7A8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1066" name="Google Shape;1066;p21"/>
                  <p:cNvSpPr/>
                  <p:nvPr/>
                </p:nvSpPr>
                <p:spPr>
                  <a:xfrm>
                    <a:off x="6057691" y="2616591"/>
                    <a:ext cx="202398" cy="870834"/>
                  </a:xfrm>
                  <a:custGeom>
                    <a:rect b="b" l="l" r="r" t="t"/>
                    <a:pathLst>
                      <a:path extrusionOk="0" h="29905" w="4740">
                        <a:moveTo>
                          <a:pt x="1229" y="29905"/>
                        </a:moveTo>
                        <a:cubicBezTo>
                          <a:pt x="-1533" y="20256"/>
                          <a:pt x="780" y="9222"/>
                          <a:pt x="4741" y="0"/>
                        </a:cubicBezTo>
                      </a:path>
                    </a:pathLst>
                  </a:custGeom>
                  <a:noFill/>
                  <a:ln cap="flat" cmpd="sng" w="22125">
                    <a:solidFill>
                      <a:srgbClr val="B6D7A8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sp>
              <p:sp>
                <p:nvSpPr>
                  <p:cNvPr id="1067" name="Google Shape;1067;p21"/>
                  <p:cNvSpPr/>
                  <p:nvPr/>
                </p:nvSpPr>
                <p:spPr>
                  <a:xfrm>
                    <a:off x="6679189" y="2926345"/>
                    <a:ext cx="107527" cy="463154"/>
                  </a:xfrm>
                  <a:custGeom>
                    <a:rect b="b" l="l" r="r" t="t"/>
                    <a:pathLst>
                      <a:path extrusionOk="0" h="29905" w="4740">
                        <a:moveTo>
                          <a:pt x="1229" y="29905"/>
                        </a:moveTo>
                        <a:cubicBezTo>
                          <a:pt x="-1533" y="20256"/>
                          <a:pt x="780" y="9222"/>
                          <a:pt x="4741" y="0"/>
                        </a:cubicBezTo>
                      </a:path>
                    </a:pathLst>
                  </a:custGeom>
                  <a:noFill/>
                  <a:ln cap="flat" cmpd="sng" w="22125">
                    <a:solidFill>
                      <a:srgbClr val="B6D7A8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sp>
            </p:grpSp>
            <p:cxnSp>
              <p:nvCxnSpPr>
                <p:cNvPr id="1068" name="Google Shape;1068;p21"/>
                <p:cNvCxnSpPr/>
                <p:nvPr/>
              </p:nvCxnSpPr>
              <p:spPr>
                <a:xfrm flipH="1" rot="10800000">
                  <a:off x="6147225" y="3487550"/>
                  <a:ext cx="109200" cy="174600"/>
                </a:xfrm>
                <a:prstGeom prst="straightConnector1">
                  <a:avLst/>
                </a:prstGeom>
                <a:noFill/>
                <a:ln cap="flat" cmpd="sng" w="7350">
                  <a:solidFill>
                    <a:srgbClr val="B6D7A8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69" name="Google Shape;1069;p21"/>
                <p:cNvCxnSpPr/>
                <p:nvPr/>
              </p:nvCxnSpPr>
              <p:spPr>
                <a:xfrm flipH="1" rot="10800000">
                  <a:off x="6173600" y="3466000"/>
                  <a:ext cx="183000" cy="285600"/>
                </a:xfrm>
                <a:prstGeom prst="straightConnector1">
                  <a:avLst/>
                </a:prstGeom>
                <a:noFill/>
                <a:ln cap="flat" cmpd="sng" w="7350">
                  <a:solidFill>
                    <a:srgbClr val="B6D7A8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70" name="Google Shape;1070;p21"/>
                <p:cNvCxnSpPr/>
                <p:nvPr/>
              </p:nvCxnSpPr>
              <p:spPr>
                <a:xfrm flipH="1" rot="10800000">
                  <a:off x="6209650" y="3456063"/>
                  <a:ext cx="228600" cy="361800"/>
                </a:xfrm>
                <a:prstGeom prst="straightConnector1">
                  <a:avLst/>
                </a:prstGeom>
                <a:noFill/>
                <a:ln cap="flat" cmpd="sng" w="7350">
                  <a:solidFill>
                    <a:srgbClr val="B6D7A8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71" name="Google Shape;1071;p21"/>
                <p:cNvCxnSpPr/>
                <p:nvPr/>
              </p:nvCxnSpPr>
              <p:spPr>
                <a:xfrm flipH="1" rot="10800000">
                  <a:off x="6241950" y="3433763"/>
                  <a:ext cx="283500" cy="447600"/>
                </a:xfrm>
                <a:prstGeom prst="straightConnector1">
                  <a:avLst/>
                </a:prstGeom>
                <a:noFill/>
                <a:ln cap="flat" cmpd="sng" w="7350">
                  <a:solidFill>
                    <a:srgbClr val="B6D7A8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72" name="Google Shape;1072;p21"/>
                <p:cNvCxnSpPr/>
                <p:nvPr/>
              </p:nvCxnSpPr>
              <p:spPr>
                <a:xfrm flipH="1" rot="10800000">
                  <a:off x="6283850" y="3414388"/>
                  <a:ext cx="331200" cy="538200"/>
                </a:xfrm>
                <a:prstGeom prst="straightConnector1">
                  <a:avLst/>
                </a:prstGeom>
                <a:noFill/>
                <a:ln cap="flat" cmpd="sng" w="7350">
                  <a:solidFill>
                    <a:srgbClr val="B6D7A8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73" name="Google Shape;1073;p21"/>
                <p:cNvCxnSpPr/>
                <p:nvPr/>
              </p:nvCxnSpPr>
              <p:spPr>
                <a:xfrm flipH="1" rot="10800000">
                  <a:off x="6322550" y="3425213"/>
                  <a:ext cx="367500" cy="591000"/>
                </a:xfrm>
                <a:prstGeom prst="straightConnector1">
                  <a:avLst/>
                </a:prstGeom>
                <a:noFill/>
                <a:ln cap="flat" cmpd="sng" w="7350">
                  <a:solidFill>
                    <a:srgbClr val="B6D7A8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74" name="Google Shape;1074;p21"/>
                <p:cNvCxnSpPr/>
                <p:nvPr/>
              </p:nvCxnSpPr>
              <p:spPr>
                <a:xfrm flipH="1" rot="10800000">
                  <a:off x="6367875" y="3522238"/>
                  <a:ext cx="351600" cy="548700"/>
                </a:xfrm>
                <a:prstGeom prst="straightConnector1">
                  <a:avLst/>
                </a:prstGeom>
                <a:noFill/>
                <a:ln cap="flat" cmpd="sng" w="7350">
                  <a:solidFill>
                    <a:srgbClr val="B6D7A8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75" name="Google Shape;1075;p21"/>
                <p:cNvCxnSpPr/>
                <p:nvPr/>
              </p:nvCxnSpPr>
              <p:spPr>
                <a:xfrm flipH="1" rot="10800000">
                  <a:off x="6414850" y="3600463"/>
                  <a:ext cx="346500" cy="522900"/>
                </a:xfrm>
                <a:prstGeom prst="straightConnector1">
                  <a:avLst/>
                </a:prstGeom>
                <a:noFill/>
                <a:ln cap="flat" cmpd="sng" w="7350">
                  <a:solidFill>
                    <a:srgbClr val="B6D7A8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76" name="Google Shape;1076;p21"/>
                <p:cNvCxnSpPr/>
                <p:nvPr/>
              </p:nvCxnSpPr>
              <p:spPr>
                <a:xfrm flipH="1" rot="10800000">
                  <a:off x="6474550" y="3673138"/>
                  <a:ext cx="328800" cy="486300"/>
                </a:xfrm>
                <a:prstGeom prst="straightConnector1">
                  <a:avLst/>
                </a:prstGeom>
                <a:noFill/>
                <a:ln cap="flat" cmpd="sng" w="7350">
                  <a:solidFill>
                    <a:srgbClr val="B6D7A8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77" name="Google Shape;1077;p21"/>
                <p:cNvCxnSpPr/>
                <p:nvPr/>
              </p:nvCxnSpPr>
              <p:spPr>
                <a:xfrm flipH="1" rot="10800000">
                  <a:off x="6525450" y="3712838"/>
                  <a:ext cx="328800" cy="486300"/>
                </a:xfrm>
                <a:prstGeom prst="straightConnector1">
                  <a:avLst/>
                </a:prstGeom>
                <a:noFill/>
                <a:ln cap="flat" cmpd="sng" w="7350">
                  <a:solidFill>
                    <a:srgbClr val="B6D7A8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078" name="Google Shape;1078;p21"/>
              <p:cNvGrpSpPr/>
              <p:nvPr/>
            </p:nvGrpSpPr>
            <p:grpSpPr>
              <a:xfrm>
                <a:off x="7438542" y="5030383"/>
                <a:ext cx="1435621" cy="519947"/>
                <a:chOff x="8548175" y="2668550"/>
                <a:chExt cx="1435621" cy="519947"/>
              </a:xfrm>
            </p:grpSpPr>
            <p:sp>
              <p:nvSpPr>
                <p:cNvPr id="1079" name="Google Shape;1079;p21"/>
                <p:cNvSpPr txBox="1"/>
                <p:nvPr/>
              </p:nvSpPr>
              <p:spPr>
                <a:xfrm>
                  <a:off x="8548175" y="2668550"/>
                  <a:ext cx="672300" cy="294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860">
                      <a:solidFill>
                        <a:schemeClr val="dk2"/>
                      </a:solidFill>
                    </a:rPr>
                    <a:t>Legend</a:t>
                  </a:r>
                  <a:endParaRPr b="1" sz="860">
                    <a:solidFill>
                      <a:schemeClr val="dk2"/>
                    </a:solidFill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860">
                    <a:solidFill>
                      <a:schemeClr val="dk2"/>
                    </a:solidFill>
                  </a:endParaRPr>
                </a:p>
              </p:txBody>
            </p:sp>
            <p:sp>
              <p:nvSpPr>
                <p:cNvPr id="1080" name="Google Shape;1080;p21"/>
                <p:cNvSpPr/>
                <p:nvPr/>
              </p:nvSpPr>
              <p:spPr>
                <a:xfrm>
                  <a:off x="8698150" y="2959475"/>
                  <a:ext cx="146700" cy="141900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93C47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1" name="Google Shape;1081;p21"/>
                <p:cNvSpPr txBox="1"/>
                <p:nvPr/>
              </p:nvSpPr>
              <p:spPr>
                <a:xfrm>
                  <a:off x="8795496" y="2871397"/>
                  <a:ext cx="1188300" cy="317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860">
                      <a:solidFill>
                        <a:schemeClr val="dk2"/>
                      </a:solidFill>
                    </a:rPr>
                    <a:t>Reused material</a:t>
                  </a:r>
                  <a:endParaRPr sz="860">
                    <a:solidFill>
                      <a:schemeClr val="dk2"/>
                    </a:solidFill>
                  </a:endParaRPr>
                </a:p>
              </p:txBody>
            </p:sp>
            <p:cxnSp>
              <p:nvCxnSpPr>
                <p:cNvPr id="1082" name="Google Shape;1082;p21"/>
                <p:cNvCxnSpPr>
                  <a:stCxn id="1080" idx="1"/>
                </p:cNvCxnSpPr>
                <p:nvPr/>
              </p:nvCxnSpPr>
              <p:spPr>
                <a:xfrm flipH="1" rot="10800000">
                  <a:off x="8698150" y="2959625"/>
                  <a:ext cx="73500" cy="708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93C47D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83" name="Google Shape;1083;p21"/>
                <p:cNvCxnSpPr/>
                <p:nvPr/>
              </p:nvCxnSpPr>
              <p:spPr>
                <a:xfrm flipH="1" rot="10800000">
                  <a:off x="8698150" y="2963225"/>
                  <a:ext cx="146400" cy="138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93C47D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84" name="Google Shape;1084;p21"/>
                <p:cNvCxnSpPr/>
                <p:nvPr/>
              </p:nvCxnSpPr>
              <p:spPr>
                <a:xfrm flipH="1" rot="10800000">
                  <a:off x="8771650" y="3030425"/>
                  <a:ext cx="73500" cy="708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93C47D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085" name="Google Shape;1085;p21"/>
              <p:cNvGrpSpPr/>
              <p:nvPr/>
            </p:nvGrpSpPr>
            <p:grpSpPr>
              <a:xfrm>
                <a:off x="7593906" y="5462204"/>
                <a:ext cx="1964213" cy="315600"/>
                <a:chOff x="8698150" y="2879721"/>
                <a:chExt cx="1964213" cy="315600"/>
              </a:xfrm>
            </p:grpSpPr>
            <p:sp>
              <p:nvSpPr>
                <p:cNvPr id="1086" name="Google Shape;1086;p21"/>
                <p:cNvSpPr/>
                <p:nvPr/>
              </p:nvSpPr>
              <p:spPr>
                <a:xfrm>
                  <a:off x="8698150" y="2959475"/>
                  <a:ext cx="146700" cy="141900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FFFF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087" name="Google Shape;1087;p21"/>
                <p:cNvSpPr txBox="1"/>
                <p:nvPr/>
              </p:nvSpPr>
              <p:spPr>
                <a:xfrm>
                  <a:off x="8806563" y="2879721"/>
                  <a:ext cx="1855800" cy="315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850">
                      <a:solidFill>
                        <a:schemeClr val="dk2"/>
                      </a:solidFill>
                    </a:rPr>
                    <a:t>Limited availability</a:t>
                  </a:r>
                  <a:endParaRPr sz="850">
                    <a:solidFill>
                      <a:schemeClr val="dk2"/>
                    </a:solidFill>
                  </a:endParaRPr>
                </a:p>
              </p:txBody>
            </p:sp>
            <p:cxnSp>
              <p:nvCxnSpPr>
                <p:cNvPr id="1088" name="Google Shape;1088;p21"/>
                <p:cNvCxnSpPr>
                  <a:stCxn id="1086" idx="1"/>
                </p:cNvCxnSpPr>
                <p:nvPr/>
              </p:nvCxnSpPr>
              <p:spPr>
                <a:xfrm flipH="1" rot="10800000">
                  <a:off x="8698150" y="2959625"/>
                  <a:ext cx="73500" cy="708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89" name="Google Shape;1089;p21"/>
                <p:cNvCxnSpPr/>
                <p:nvPr/>
              </p:nvCxnSpPr>
              <p:spPr>
                <a:xfrm flipH="1" rot="10800000">
                  <a:off x="8698150" y="2963225"/>
                  <a:ext cx="146400" cy="138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090" name="Google Shape;1090;p21"/>
                <p:cNvCxnSpPr/>
                <p:nvPr/>
              </p:nvCxnSpPr>
              <p:spPr>
                <a:xfrm flipH="1" rot="10800000">
                  <a:off x="8771650" y="3030425"/>
                  <a:ext cx="73500" cy="708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1091" name="Google Shape;1091;p21"/>
            <p:cNvGrpSpPr/>
            <p:nvPr/>
          </p:nvGrpSpPr>
          <p:grpSpPr>
            <a:xfrm>
              <a:off x="8834336" y="7111675"/>
              <a:ext cx="4557232" cy="618331"/>
              <a:chOff x="4268193" y="552116"/>
              <a:chExt cx="6213843" cy="697025"/>
            </a:xfrm>
          </p:grpSpPr>
          <p:sp>
            <p:nvSpPr>
              <p:cNvPr id="1092" name="Google Shape;1092;p21"/>
              <p:cNvSpPr/>
              <p:nvPr/>
            </p:nvSpPr>
            <p:spPr>
              <a:xfrm>
                <a:off x="6760562" y="609015"/>
                <a:ext cx="3546300" cy="255600"/>
              </a:xfrm>
              <a:prstGeom prst="roundRect">
                <a:avLst>
                  <a:gd fmla="val 16667" name="adj"/>
                </a:avLst>
              </a:prstGeom>
              <a:solidFill>
                <a:schemeClr val="lt2"/>
              </a:solidFill>
              <a:ln cap="flat" cmpd="sng" w="84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1100" lIns="81100" spcFirstLastPara="1" rIns="81100" wrap="square" tIns="811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41"/>
              </a:p>
            </p:txBody>
          </p:sp>
          <p:sp>
            <p:nvSpPr>
              <p:cNvPr id="1093" name="Google Shape;1093;p21"/>
              <p:cNvSpPr txBox="1"/>
              <p:nvPr/>
            </p:nvSpPr>
            <p:spPr>
              <a:xfrm>
                <a:off x="4268193" y="552116"/>
                <a:ext cx="2855100" cy="28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1100" lIns="81100" spcFirstLastPara="1" rIns="81100" wrap="square" tIns="811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86">
                    <a:solidFill>
                      <a:srgbClr val="B7B7B7"/>
                    </a:solidFill>
                  </a:rPr>
                  <a:t>CONSTRUCTION YEAR</a:t>
                </a:r>
                <a:endParaRPr b="1" sz="1186">
                  <a:solidFill>
                    <a:srgbClr val="B7B7B7"/>
                  </a:solidFill>
                </a:endParaRPr>
              </a:p>
            </p:txBody>
          </p:sp>
          <p:sp>
            <p:nvSpPr>
              <p:cNvPr id="1094" name="Google Shape;1094;p21"/>
              <p:cNvSpPr txBox="1"/>
              <p:nvPr/>
            </p:nvSpPr>
            <p:spPr>
              <a:xfrm>
                <a:off x="6732035" y="810841"/>
                <a:ext cx="37500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1100" lIns="81100" spcFirstLastPara="1" rIns="81100" wrap="square" tIns="811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20">
                    <a:solidFill>
                      <a:schemeClr val="dk2"/>
                    </a:solidFill>
                  </a:rPr>
                  <a:t>2020	2030	2040	2050	2060	2070</a:t>
                </a:r>
                <a:endParaRPr sz="620">
                  <a:solidFill>
                    <a:schemeClr val="dk2"/>
                  </a:solidFill>
                </a:endParaRPr>
              </a:p>
            </p:txBody>
          </p:sp>
          <p:sp>
            <p:nvSpPr>
              <p:cNvPr id="1095" name="Google Shape;1095;p21"/>
              <p:cNvSpPr/>
              <p:nvPr/>
            </p:nvSpPr>
            <p:spPr>
              <a:xfrm>
                <a:off x="6766012" y="605859"/>
                <a:ext cx="1957500" cy="255600"/>
              </a:xfrm>
              <a:prstGeom prst="roundRect">
                <a:avLst>
                  <a:gd fmla="val 16667" name="adj"/>
                </a:avLst>
              </a:prstGeom>
              <a:solidFill>
                <a:srgbClr val="AAD3E0"/>
              </a:solidFill>
              <a:ln cap="flat" cmpd="sng" w="84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1100" lIns="81100" spcFirstLastPara="1" rIns="81100" wrap="square" tIns="811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41"/>
              </a:p>
            </p:txBody>
          </p:sp>
        </p:grpSp>
      </p:grpSp>
      <p:pic>
        <p:nvPicPr>
          <p:cNvPr id="1096" name="Google Shape;1096;p21" title="Chart"/>
          <p:cNvPicPr preferRelativeResize="0"/>
          <p:nvPr/>
        </p:nvPicPr>
        <p:blipFill rotWithShape="1">
          <a:blip r:embed="rId13">
            <a:alphaModFix/>
          </a:blip>
          <a:srcRect b="0" l="17945" r="0" t="0"/>
          <a:stretch/>
        </p:blipFill>
        <p:spPr>
          <a:xfrm>
            <a:off x="7521449" y="6050600"/>
            <a:ext cx="1076499" cy="811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7" name="Google Shape;1097;p21" title="Chart"/>
          <p:cNvPicPr preferRelativeResize="0"/>
          <p:nvPr/>
        </p:nvPicPr>
        <p:blipFill rotWithShape="1">
          <a:blip r:embed="rId13">
            <a:alphaModFix/>
          </a:blip>
          <a:srcRect b="0" l="17945" r="0" t="0"/>
          <a:stretch/>
        </p:blipFill>
        <p:spPr>
          <a:xfrm>
            <a:off x="7521449" y="2836275"/>
            <a:ext cx="1076499" cy="811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22"/>
          <p:cNvSpPr/>
          <p:nvPr/>
        </p:nvSpPr>
        <p:spPr>
          <a:xfrm>
            <a:off x="8938762" y="1239935"/>
            <a:ext cx="4335900" cy="2481000"/>
          </a:xfrm>
          <a:prstGeom prst="rect">
            <a:avLst/>
          </a:prstGeom>
          <a:noFill/>
          <a:ln cap="flat" cmpd="sng" w="7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00" lIns="73200" spcFirstLastPara="1" rIns="73200" wrap="square" tIns="73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20"/>
          </a:p>
        </p:txBody>
      </p:sp>
      <p:pic>
        <p:nvPicPr>
          <p:cNvPr id="1103" name="Google Shape;1103;p22" title="Chart"/>
          <p:cNvPicPr preferRelativeResize="0"/>
          <p:nvPr/>
        </p:nvPicPr>
        <p:blipFill rotWithShape="1">
          <a:blip r:embed="rId3">
            <a:alphaModFix/>
          </a:blip>
          <a:srcRect b="0" l="0" r="0" t="11143"/>
          <a:stretch/>
        </p:blipFill>
        <p:spPr>
          <a:xfrm>
            <a:off x="4681700" y="1506280"/>
            <a:ext cx="3723375" cy="204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4" name="Google Shape;1104;p22"/>
          <p:cNvSpPr txBox="1"/>
          <p:nvPr>
            <p:ph type="ctrTitle"/>
          </p:nvPr>
        </p:nvSpPr>
        <p:spPr>
          <a:xfrm rot="-5400000">
            <a:off x="-4744350" y="3581200"/>
            <a:ext cx="8572500" cy="916200"/>
          </a:xfrm>
          <a:prstGeom prst="rect">
            <a:avLst/>
          </a:prstGeom>
        </p:spPr>
        <p:txBody>
          <a:bodyPr anchorCtr="0" anchor="b" bIns="140175" lIns="140175" spcFirstLastPara="1" rIns="140175" wrap="square" tIns="14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/>
              <a:t>PROJECTED  DEMAND &amp; AVAILABILITY </a:t>
            </a:r>
            <a:endParaRPr sz="3000"/>
          </a:p>
        </p:txBody>
      </p:sp>
      <p:cxnSp>
        <p:nvCxnSpPr>
          <p:cNvPr id="1105" name="Google Shape;1105;p22"/>
          <p:cNvCxnSpPr>
            <a:stCxn id="1106" idx="1"/>
          </p:cNvCxnSpPr>
          <p:nvPr/>
        </p:nvCxnSpPr>
        <p:spPr>
          <a:xfrm>
            <a:off x="1921100" y="232040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07" name="Google Shape;1107;p22"/>
          <p:cNvSpPr/>
          <p:nvPr/>
        </p:nvSpPr>
        <p:spPr>
          <a:xfrm>
            <a:off x="322450" y="1045650"/>
            <a:ext cx="3608700" cy="43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0175" lIns="140175" spcFirstLastPara="1" rIns="140175" wrap="square" tIns="140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999999"/>
                </a:solidFill>
              </a:rPr>
              <a:t>       Ventura County, CA</a:t>
            </a:r>
            <a:endParaRPr sz="1500">
              <a:solidFill>
                <a:srgbClr val="999999"/>
              </a:solidFill>
            </a:endParaRPr>
          </a:p>
        </p:txBody>
      </p:sp>
      <p:pic>
        <p:nvPicPr>
          <p:cNvPr id="1108" name="Google Shape;1108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625" y="1067100"/>
            <a:ext cx="388875" cy="38887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109" name="Google Shape;1109;p22"/>
          <p:cNvSpPr/>
          <p:nvPr/>
        </p:nvSpPr>
        <p:spPr>
          <a:xfrm>
            <a:off x="2459334" y="1900354"/>
            <a:ext cx="167100" cy="101400"/>
          </a:xfrm>
          <a:prstGeom prst="triangle">
            <a:avLst>
              <a:gd fmla="val 50000" name="adj"/>
            </a:avLst>
          </a:prstGeom>
          <a:solidFill>
            <a:srgbClr val="B7B7B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0175" lIns="140175" spcFirstLastPara="1" rIns="140175" wrap="square" tIns="14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grpSp>
        <p:nvGrpSpPr>
          <p:cNvPr id="1110" name="Google Shape;1110;p22"/>
          <p:cNvGrpSpPr/>
          <p:nvPr/>
        </p:nvGrpSpPr>
        <p:grpSpPr>
          <a:xfrm>
            <a:off x="309438" y="1697506"/>
            <a:ext cx="4170545" cy="4407388"/>
            <a:chOff x="309438" y="1697506"/>
            <a:chExt cx="4170545" cy="4407388"/>
          </a:xfrm>
        </p:grpSpPr>
        <p:grpSp>
          <p:nvGrpSpPr>
            <p:cNvPr id="1111" name="Google Shape;1111;p22"/>
            <p:cNvGrpSpPr/>
            <p:nvPr/>
          </p:nvGrpSpPr>
          <p:grpSpPr>
            <a:xfrm>
              <a:off x="313773" y="4847330"/>
              <a:ext cx="4165083" cy="530564"/>
              <a:chOff x="313761" y="2357618"/>
              <a:chExt cx="4165083" cy="530564"/>
            </a:xfrm>
          </p:grpSpPr>
          <p:grpSp>
            <p:nvGrpSpPr>
              <p:cNvPr id="1112" name="Google Shape;1112;p22"/>
              <p:cNvGrpSpPr/>
              <p:nvPr/>
            </p:nvGrpSpPr>
            <p:grpSpPr>
              <a:xfrm>
                <a:off x="313788" y="2357618"/>
                <a:ext cx="4165056" cy="530564"/>
                <a:chOff x="314635" y="1491757"/>
                <a:chExt cx="2464093" cy="381728"/>
              </a:xfrm>
            </p:grpSpPr>
            <p:sp>
              <p:nvSpPr>
                <p:cNvPr id="1113" name="Google Shape;1113;p22"/>
                <p:cNvSpPr/>
                <p:nvPr/>
              </p:nvSpPr>
              <p:spPr>
                <a:xfrm>
                  <a:off x="314635" y="1532085"/>
                  <a:ext cx="2135100" cy="341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194825" lIns="194825" spcFirstLastPara="1" rIns="194825" wrap="square" tIns="1948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250">
                    <a:solidFill>
                      <a:schemeClr val="dk1"/>
                    </a:solidFill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250">
                    <a:solidFill>
                      <a:schemeClr val="dk1"/>
                    </a:solidFill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250">
                    <a:solidFill>
                      <a:schemeClr val="dk1"/>
                    </a:solidFill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250">
                    <a:solidFill>
                      <a:schemeClr val="dk1"/>
                    </a:solidFill>
                  </a:endParaRPr>
                </a:p>
              </p:txBody>
            </p:sp>
            <p:grpSp>
              <p:nvGrpSpPr>
                <p:cNvPr id="1114" name="Google Shape;1114;p22"/>
                <p:cNvGrpSpPr/>
                <p:nvPr/>
              </p:nvGrpSpPr>
              <p:grpSpPr>
                <a:xfrm>
                  <a:off x="1905750" y="1491757"/>
                  <a:ext cx="872978" cy="317400"/>
                  <a:chOff x="1905813" y="1491907"/>
                  <a:chExt cx="872978" cy="317400"/>
                </a:xfrm>
              </p:grpSpPr>
              <p:sp>
                <p:nvSpPr>
                  <p:cNvPr id="1115" name="Google Shape;1115;p22"/>
                  <p:cNvSpPr/>
                  <p:nvPr/>
                </p:nvSpPr>
                <p:spPr>
                  <a:xfrm rot="-10800000">
                    <a:off x="1905813" y="1608215"/>
                    <a:ext cx="421893" cy="181722"/>
                  </a:xfrm>
                  <a:prstGeom prst="flowChartMagneticDrum">
                    <a:avLst/>
                  </a:prstGeom>
                  <a:solidFill>
                    <a:srgbClr val="CCCCCC"/>
                  </a:solidFill>
                  <a:ln cap="flat" cmpd="sng" w="13250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194825" lIns="194825" spcFirstLastPara="1" rIns="194825" wrap="square" tIns="1948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918"/>
                  </a:p>
                </p:txBody>
              </p:sp>
              <p:sp>
                <p:nvSpPr>
                  <p:cNvPr id="1116" name="Google Shape;1116;p22"/>
                  <p:cNvSpPr/>
                  <p:nvPr/>
                </p:nvSpPr>
                <p:spPr>
                  <a:xfrm>
                    <a:off x="1905813" y="1605800"/>
                    <a:ext cx="153600" cy="181800"/>
                  </a:xfrm>
                  <a:prstGeom prst="ellipse">
                    <a:avLst/>
                  </a:prstGeom>
                  <a:solidFill>
                    <a:schemeClr val="lt1"/>
                  </a:solidFill>
                  <a:ln cap="flat" cmpd="sng" w="13250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194825" lIns="194825" spcFirstLastPara="1" rIns="194825" wrap="square" tIns="1948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918"/>
                  </a:p>
                </p:txBody>
              </p:sp>
              <p:sp>
                <p:nvSpPr>
                  <p:cNvPr id="1117" name="Google Shape;1117;p22"/>
                  <p:cNvSpPr txBox="1"/>
                  <p:nvPr/>
                </p:nvSpPr>
                <p:spPr>
                  <a:xfrm>
                    <a:off x="1962790" y="1491907"/>
                    <a:ext cx="816000" cy="317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194825" lIns="194825" spcFirstLastPara="1" rIns="194825" wrap="square" tIns="1948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1250">
                        <a:solidFill>
                          <a:schemeClr val="lt1"/>
                        </a:solidFill>
                      </a:rPr>
                      <a:t>Off</a:t>
                    </a:r>
                    <a:endParaRPr sz="1250">
                      <a:solidFill>
                        <a:schemeClr val="lt1"/>
                      </a:solidFill>
                    </a:endParaRPr>
                  </a:p>
                </p:txBody>
              </p:sp>
            </p:grpSp>
          </p:grpSp>
          <p:sp>
            <p:nvSpPr>
              <p:cNvPr id="1118" name="Google Shape;1118;p22"/>
              <p:cNvSpPr txBox="1"/>
              <p:nvPr/>
            </p:nvSpPr>
            <p:spPr>
              <a:xfrm>
                <a:off x="313761" y="2449239"/>
                <a:ext cx="2615400" cy="38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chemeClr val="dk1"/>
                    </a:solidFill>
                  </a:rPr>
                  <a:t>Material Availability Scenarios</a:t>
                </a:r>
                <a:endParaRPr b="1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119" name="Google Shape;1119;p22"/>
            <p:cNvGrpSpPr/>
            <p:nvPr/>
          </p:nvGrpSpPr>
          <p:grpSpPr>
            <a:xfrm>
              <a:off x="309438" y="5570271"/>
              <a:ext cx="4170545" cy="534623"/>
              <a:chOff x="313750" y="2353562"/>
              <a:chExt cx="4170545" cy="534623"/>
            </a:xfrm>
          </p:grpSpPr>
          <p:grpSp>
            <p:nvGrpSpPr>
              <p:cNvPr id="1120" name="Google Shape;1120;p22"/>
              <p:cNvGrpSpPr/>
              <p:nvPr/>
            </p:nvGrpSpPr>
            <p:grpSpPr>
              <a:xfrm>
                <a:off x="313775" y="2353562"/>
                <a:ext cx="4170520" cy="534623"/>
                <a:chOff x="314627" y="1488838"/>
                <a:chExt cx="2467325" cy="384649"/>
              </a:xfrm>
            </p:grpSpPr>
            <p:sp>
              <p:nvSpPr>
                <p:cNvPr id="1121" name="Google Shape;1121;p22"/>
                <p:cNvSpPr/>
                <p:nvPr/>
              </p:nvSpPr>
              <p:spPr>
                <a:xfrm>
                  <a:off x="314627" y="1532087"/>
                  <a:ext cx="2135100" cy="341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194825" lIns="194825" spcFirstLastPara="1" rIns="194825" wrap="square" tIns="1948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250">
                    <a:solidFill>
                      <a:schemeClr val="dk1"/>
                    </a:solidFill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250">
                    <a:solidFill>
                      <a:schemeClr val="dk1"/>
                    </a:solidFill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250">
                    <a:solidFill>
                      <a:schemeClr val="dk1"/>
                    </a:solidFill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250">
                    <a:solidFill>
                      <a:schemeClr val="dk1"/>
                    </a:solidFill>
                  </a:endParaRPr>
                </a:p>
              </p:txBody>
            </p:sp>
            <p:grpSp>
              <p:nvGrpSpPr>
                <p:cNvPr id="1122" name="Google Shape;1122;p22"/>
                <p:cNvGrpSpPr/>
                <p:nvPr/>
              </p:nvGrpSpPr>
              <p:grpSpPr>
                <a:xfrm>
                  <a:off x="1905750" y="1488838"/>
                  <a:ext cx="876202" cy="317400"/>
                  <a:chOff x="1905813" y="1488988"/>
                  <a:chExt cx="876202" cy="317400"/>
                </a:xfrm>
              </p:grpSpPr>
              <p:sp>
                <p:nvSpPr>
                  <p:cNvPr id="1123" name="Google Shape;1123;p22"/>
                  <p:cNvSpPr/>
                  <p:nvPr/>
                </p:nvSpPr>
                <p:spPr>
                  <a:xfrm rot="-10800000">
                    <a:off x="1905813" y="1608215"/>
                    <a:ext cx="421893" cy="181722"/>
                  </a:xfrm>
                  <a:prstGeom prst="flowChartMagneticDrum">
                    <a:avLst/>
                  </a:prstGeom>
                  <a:solidFill>
                    <a:srgbClr val="CCCCCC"/>
                  </a:solidFill>
                  <a:ln cap="flat" cmpd="sng" w="13250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194825" lIns="194825" spcFirstLastPara="1" rIns="194825" wrap="square" tIns="1948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918"/>
                  </a:p>
                </p:txBody>
              </p:sp>
              <p:sp>
                <p:nvSpPr>
                  <p:cNvPr id="1124" name="Google Shape;1124;p22"/>
                  <p:cNvSpPr/>
                  <p:nvPr/>
                </p:nvSpPr>
                <p:spPr>
                  <a:xfrm>
                    <a:off x="1905813" y="1605800"/>
                    <a:ext cx="153600" cy="181800"/>
                  </a:xfrm>
                  <a:prstGeom prst="ellipse">
                    <a:avLst/>
                  </a:prstGeom>
                  <a:solidFill>
                    <a:schemeClr val="lt1"/>
                  </a:solidFill>
                  <a:ln cap="flat" cmpd="sng" w="13250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194825" lIns="194825" spcFirstLastPara="1" rIns="194825" wrap="square" tIns="1948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918"/>
                  </a:p>
                </p:txBody>
              </p:sp>
              <p:sp>
                <p:nvSpPr>
                  <p:cNvPr id="1125" name="Google Shape;1125;p22"/>
                  <p:cNvSpPr txBox="1"/>
                  <p:nvPr/>
                </p:nvSpPr>
                <p:spPr>
                  <a:xfrm>
                    <a:off x="1966015" y="1488988"/>
                    <a:ext cx="816000" cy="317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194825" lIns="194825" spcFirstLastPara="1" rIns="194825" wrap="square" tIns="1948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1250">
                        <a:solidFill>
                          <a:schemeClr val="lt1"/>
                        </a:solidFill>
                      </a:rPr>
                      <a:t>Off</a:t>
                    </a:r>
                    <a:endParaRPr sz="1250">
                      <a:solidFill>
                        <a:schemeClr val="lt1"/>
                      </a:solidFill>
                    </a:endParaRPr>
                  </a:p>
                </p:txBody>
              </p:sp>
            </p:grpSp>
          </p:grpSp>
          <p:sp>
            <p:nvSpPr>
              <p:cNvPr id="1126" name="Google Shape;1126;p22"/>
              <p:cNvSpPr txBox="1"/>
              <p:nvPr/>
            </p:nvSpPr>
            <p:spPr>
              <a:xfrm>
                <a:off x="313750" y="2449250"/>
                <a:ext cx="30000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solidFill>
                      <a:schemeClr val="dk1"/>
                    </a:solidFill>
                  </a:rPr>
                  <a:t>Alternative Materials</a:t>
                </a:r>
                <a:endParaRPr b="1">
                  <a:solidFill>
                    <a:schemeClr val="dk1"/>
                  </a:solidFill>
                </a:endParaRPr>
              </a:p>
            </p:txBody>
          </p:sp>
        </p:grpSp>
        <p:sp>
          <p:nvSpPr>
            <p:cNvPr id="1127" name="Google Shape;1127;p22"/>
            <p:cNvSpPr/>
            <p:nvPr/>
          </p:nvSpPr>
          <p:spPr>
            <a:xfrm>
              <a:off x="319850" y="1697506"/>
              <a:ext cx="3608700" cy="29298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40175" lIns="140175" spcFirstLastPara="1" rIns="140175" wrap="square" tIns="1401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Building Specifications</a:t>
              </a:r>
              <a:endParaRPr b="1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666666"/>
                  </a:solidFill>
                </a:rPr>
                <a:t>         </a:t>
              </a:r>
              <a:endParaRPr sz="13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666666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1300">
                <a:solidFill>
                  <a:srgbClr val="666666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13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13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666666"/>
                </a:solidFill>
              </a:endParaRPr>
            </a:p>
          </p:txBody>
        </p:sp>
        <p:sp>
          <p:nvSpPr>
            <p:cNvPr id="1128" name="Google Shape;1128;p22"/>
            <p:cNvSpPr/>
            <p:nvPr/>
          </p:nvSpPr>
          <p:spPr>
            <a:xfrm>
              <a:off x="501850" y="4122119"/>
              <a:ext cx="3249900" cy="332100"/>
            </a:xfrm>
            <a:prstGeom prst="roundRect">
              <a:avLst>
                <a:gd fmla="val 16667" name="adj"/>
              </a:avLst>
            </a:prstGeom>
            <a:solidFill>
              <a:srgbClr val="AAD3E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300">
                  <a:solidFill>
                    <a:srgbClr val="666666"/>
                  </a:solidFill>
                </a:rPr>
                <a:t>Estimate material demands and cost</a:t>
              </a:r>
              <a:endParaRPr/>
            </a:p>
          </p:txBody>
        </p:sp>
        <p:sp>
          <p:nvSpPr>
            <p:cNvPr id="1129" name="Google Shape;1129;p22"/>
            <p:cNvSpPr/>
            <p:nvPr/>
          </p:nvSpPr>
          <p:spPr>
            <a:xfrm>
              <a:off x="2975093" y="2085491"/>
              <a:ext cx="738600" cy="25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666666"/>
                  </a:solidFill>
                </a:rPr>
                <a:t>Reuse </a:t>
              </a:r>
              <a:endParaRPr sz="900">
                <a:solidFill>
                  <a:srgbClr val="666666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666666"/>
                  </a:solidFill>
                </a:rPr>
                <a:t>materials?</a:t>
              </a:r>
              <a:endParaRPr sz="900">
                <a:solidFill>
                  <a:srgbClr val="666666"/>
                </a:solidFill>
              </a:endParaRPr>
            </a:p>
          </p:txBody>
        </p:sp>
        <p:grpSp>
          <p:nvGrpSpPr>
            <p:cNvPr id="1130" name="Google Shape;1130;p22"/>
            <p:cNvGrpSpPr/>
            <p:nvPr/>
          </p:nvGrpSpPr>
          <p:grpSpPr>
            <a:xfrm>
              <a:off x="697213" y="2405891"/>
              <a:ext cx="3106838" cy="610955"/>
              <a:chOff x="697213" y="2331245"/>
              <a:chExt cx="3106838" cy="610955"/>
            </a:xfrm>
          </p:grpSpPr>
          <p:grpSp>
            <p:nvGrpSpPr>
              <p:cNvPr id="1131" name="Google Shape;1131;p22"/>
              <p:cNvGrpSpPr/>
              <p:nvPr/>
            </p:nvGrpSpPr>
            <p:grpSpPr>
              <a:xfrm>
                <a:off x="3587150" y="2696772"/>
                <a:ext cx="216900" cy="218100"/>
                <a:chOff x="3592625" y="2190625"/>
                <a:chExt cx="216900" cy="218100"/>
              </a:xfrm>
            </p:grpSpPr>
            <p:cxnSp>
              <p:nvCxnSpPr>
                <p:cNvPr id="1132" name="Google Shape;1132;p22"/>
                <p:cNvCxnSpPr/>
                <p:nvPr/>
              </p:nvCxnSpPr>
              <p:spPr>
                <a:xfrm flipH="1">
                  <a:off x="3700925" y="2190625"/>
                  <a:ext cx="300" cy="218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33" name="Google Shape;1133;p22"/>
                <p:cNvCxnSpPr/>
                <p:nvPr/>
              </p:nvCxnSpPr>
              <p:spPr>
                <a:xfrm>
                  <a:off x="3592625" y="2297875"/>
                  <a:ext cx="216900" cy="36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134" name="Google Shape;1134;p22"/>
              <p:cNvSpPr/>
              <p:nvPr/>
            </p:nvSpPr>
            <p:spPr>
              <a:xfrm>
                <a:off x="697213" y="2331250"/>
                <a:ext cx="1276800" cy="2556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666666"/>
                    </a:solidFill>
                  </a:rPr>
                  <a:t>Health services</a:t>
                </a:r>
                <a:endParaRPr sz="1000">
                  <a:solidFill>
                    <a:srgbClr val="666666"/>
                  </a:solidFill>
                </a:endParaRPr>
              </a:p>
            </p:txBody>
          </p:sp>
          <p:sp>
            <p:nvSpPr>
              <p:cNvPr id="1135" name="Google Shape;1135;p22"/>
              <p:cNvSpPr/>
              <p:nvPr/>
            </p:nvSpPr>
            <p:spPr>
              <a:xfrm>
                <a:off x="2041578" y="2331281"/>
                <a:ext cx="1002600" cy="2556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666666"/>
                    </a:solidFill>
                  </a:rPr>
                  <a:t>10,000</a:t>
                </a:r>
                <a:endParaRPr sz="1000">
                  <a:solidFill>
                    <a:srgbClr val="666666"/>
                  </a:solidFill>
                </a:endParaRPr>
              </a:p>
            </p:txBody>
          </p:sp>
          <p:sp>
            <p:nvSpPr>
              <p:cNvPr id="1136" name="Google Shape;1136;p22"/>
              <p:cNvSpPr/>
              <p:nvPr/>
            </p:nvSpPr>
            <p:spPr>
              <a:xfrm>
                <a:off x="3209350" y="2331245"/>
                <a:ext cx="259800" cy="2556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7" name="Google Shape;1137;p22"/>
              <p:cNvSpPr/>
              <p:nvPr/>
            </p:nvSpPr>
            <p:spPr>
              <a:xfrm>
                <a:off x="697213" y="2686600"/>
                <a:ext cx="1276800" cy="2556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666666"/>
                    </a:solidFill>
                  </a:rPr>
                  <a:t>Laboratory</a:t>
                </a:r>
                <a:endParaRPr sz="1000">
                  <a:solidFill>
                    <a:srgbClr val="666666"/>
                  </a:solidFill>
                </a:endParaRPr>
              </a:p>
            </p:txBody>
          </p:sp>
          <p:sp>
            <p:nvSpPr>
              <p:cNvPr id="1138" name="Google Shape;1138;p22"/>
              <p:cNvSpPr/>
              <p:nvPr/>
            </p:nvSpPr>
            <p:spPr>
              <a:xfrm>
                <a:off x="2041578" y="2681179"/>
                <a:ext cx="1002600" cy="2556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666666"/>
                    </a:solidFill>
                  </a:rPr>
                  <a:t>20,000</a:t>
                </a:r>
                <a:endParaRPr sz="1000">
                  <a:solidFill>
                    <a:srgbClr val="666666"/>
                  </a:solidFill>
                </a:endParaRPr>
              </a:p>
            </p:txBody>
          </p:sp>
          <p:sp>
            <p:nvSpPr>
              <p:cNvPr id="1139" name="Google Shape;1139;p22"/>
              <p:cNvSpPr/>
              <p:nvPr/>
            </p:nvSpPr>
            <p:spPr>
              <a:xfrm>
                <a:off x="3209350" y="2678019"/>
                <a:ext cx="259800" cy="2556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0" name="Google Shape;1140;p22"/>
              <p:cNvSpPr/>
              <p:nvPr/>
            </p:nvSpPr>
            <p:spPr>
              <a:xfrm>
                <a:off x="3255692" y="2597665"/>
                <a:ext cx="332096" cy="255602"/>
              </a:xfrm>
              <a:custGeom>
                <a:rect b="b" l="l" r="r" t="t"/>
                <a:pathLst>
                  <a:path extrusionOk="0" h="4557" w="7125">
                    <a:moveTo>
                      <a:pt x="0" y="4027"/>
                    </a:moveTo>
                    <a:cubicBezTo>
                      <a:pt x="1930" y="5955"/>
                      <a:pt x="5196" y="1929"/>
                      <a:pt x="7125" y="0"/>
                    </a:cubicBezTo>
                  </a:path>
                </a:pathLst>
              </a:cu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141" name="Google Shape;1141;p22"/>
              <p:cNvSpPr/>
              <p:nvPr/>
            </p:nvSpPr>
            <p:spPr>
              <a:xfrm rot="10800000">
                <a:off x="1757782" y="2416703"/>
                <a:ext cx="167100" cy="101400"/>
              </a:xfrm>
              <a:prstGeom prst="triangle">
                <a:avLst>
                  <a:gd fmla="val 50000" name="adj"/>
                </a:avLst>
              </a:prstGeom>
              <a:solidFill>
                <a:srgbClr val="B7B7B7"/>
              </a:solidFill>
              <a:ln cap="flat" cmpd="sng" w="952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40175" lIns="140175" spcFirstLastPara="1" rIns="140175" wrap="square" tIns="1401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0"/>
              </a:p>
            </p:txBody>
          </p:sp>
          <p:sp>
            <p:nvSpPr>
              <p:cNvPr id="1142" name="Google Shape;1142;p22"/>
              <p:cNvSpPr/>
              <p:nvPr/>
            </p:nvSpPr>
            <p:spPr>
              <a:xfrm rot="10800000">
                <a:off x="1757782" y="2774054"/>
                <a:ext cx="167100" cy="101400"/>
              </a:xfrm>
              <a:prstGeom prst="triangle">
                <a:avLst>
                  <a:gd fmla="val 50000" name="adj"/>
                </a:avLst>
              </a:prstGeom>
              <a:solidFill>
                <a:srgbClr val="B7B7B7"/>
              </a:solidFill>
              <a:ln cap="flat" cmpd="sng" w="952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40175" lIns="140175" spcFirstLastPara="1" rIns="140175" wrap="square" tIns="1401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0"/>
              </a:p>
            </p:txBody>
          </p:sp>
        </p:grpSp>
        <p:sp>
          <p:nvSpPr>
            <p:cNvPr id="1143" name="Google Shape;1143;p22"/>
            <p:cNvSpPr/>
            <p:nvPr/>
          </p:nvSpPr>
          <p:spPr>
            <a:xfrm>
              <a:off x="370627" y="2085481"/>
              <a:ext cx="1469400" cy="25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200">
                  <a:solidFill>
                    <a:srgbClr val="666666"/>
                  </a:solidFill>
                </a:rPr>
                <a:t>New buildings</a:t>
              </a:r>
              <a:endParaRPr i="1" sz="1200">
                <a:solidFill>
                  <a:srgbClr val="666666"/>
                </a:solidFill>
              </a:endParaRPr>
            </a:p>
          </p:txBody>
        </p:sp>
        <p:sp>
          <p:nvSpPr>
            <p:cNvPr id="1144" name="Google Shape;1144;p22"/>
            <p:cNvSpPr/>
            <p:nvPr/>
          </p:nvSpPr>
          <p:spPr>
            <a:xfrm>
              <a:off x="370625" y="3350145"/>
              <a:ext cx="1785900" cy="25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200">
                  <a:solidFill>
                    <a:srgbClr val="666666"/>
                  </a:solidFill>
                </a:rPr>
                <a:t>Demolished buildings</a:t>
              </a:r>
              <a:endParaRPr i="1" sz="1200">
                <a:solidFill>
                  <a:srgbClr val="666666"/>
                </a:solidFill>
              </a:endParaRPr>
            </a:p>
          </p:txBody>
        </p:sp>
        <p:cxnSp>
          <p:nvCxnSpPr>
            <p:cNvPr id="1145" name="Google Shape;1145;p22"/>
            <p:cNvCxnSpPr/>
            <p:nvPr/>
          </p:nvCxnSpPr>
          <p:spPr>
            <a:xfrm>
              <a:off x="493000" y="3256804"/>
              <a:ext cx="3267600" cy="11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146" name="Google Shape;1146;p22"/>
            <p:cNvGrpSpPr/>
            <p:nvPr/>
          </p:nvGrpSpPr>
          <p:grpSpPr>
            <a:xfrm>
              <a:off x="697217" y="3687384"/>
              <a:ext cx="2619425" cy="255631"/>
              <a:chOff x="697213" y="2331250"/>
              <a:chExt cx="2619425" cy="255631"/>
            </a:xfrm>
          </p:grpSpPr>
          <p:grpSp>
            <p:nvGrpSpPr>
              <p:cNvPr id="1147" name="Google Shape;1147;p22"/>
              <p:cNvGrpSpPr/>
              <p:nvPr/>
            </p:nvGrpSpPr>
            <p:grpSpPr>
              <a:xfrm>
                <a:off x="3099738" y="2352810"/>
                <a:ext cx="216900" cy="218100"/>
                <a:chOff x="3105213" y="1846663"/>
                <a:chExt cx="216900" cy="218100"/>
              </a:xfrm>
            </p:grpSpPr>
            <p:cxnSp>
              <p:nvCxnSpPr>
                <p:cNvPr id="1148" name="Google Shape;1148;p22"/>
                <p:cNvCxnSpPr/>
                <p:nvPr/>
              </p:nvCxnSpPr>
              <p:spPr>
                <a:xfrm flipH="1">
                  <a:off x="3213513" y="1846663"/>
                  <a:ext cx="300" cy="218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149" name="Google Shape;1149;p22"/>
                <p:cNvCxnSpPr/>
                <p:nvPr/>
              </p:nvCxnSpPr>
              <p:spPr>
                <a:xfrm>
                  <a:off x="3105213" y="1953913"/>
                  <a:ext cx="216900" cy="36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150" name="Google Shape;1150;p22"/>
              <p:cNvSpPr/>
              <p:nvPr/>
            </p:nvSpPr>
            <p:spPr>
              <a:xfrm>
                <a:off x="697213" y="2331250"/>
                <a:ext cx="1276800" cy="2556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666666"/>
                    </a:solidFill>
                  </a:rPr>
                  <a:t>Barracks</a:t>
                </a:r>
                <a:endParaRPr sz="1000">
                  <a:solidFill>
                    <a:srgbClr val="666666"/>
                  </a:solidFill>
                </a:endParaRPr>
              </a:p>
            </p:txBody>
          </p:sp>
          <p:sp>
            <p:nvSpPr>
              <p:cNvPr id="1151" name="Google Shape;1151;p22"/>
              <p:cNvSpPr/>
              <p:nvPr/>
            </p:nvSpPr>
            <p:spPr>
              <a:xfrm>
                <a:off x="2041578" y="2331281"/>
                <a:ext cx="1002600" cy="2556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666666"/>
                    </a:solidFill>
                  </a:rPr>
                  <a:t>50,000</a:t>
                </a:r>
                <a:endParaRPr sz="1000">
                  <a:solidFill>
                    <a:srgbClr val="666666"/>
                  </a:solidFill>
                </a:endParaRPr>
              </a:p>
            </p:txBody>
          </p:sp>
          <p:sp>
            <p:nvSpPr>
              <p:cNvPr id="1152" name="Google Shape;1152;p22"/>
              <p:cNvSpPr/>
              <p:nvPr/>
            </p:nvSpPr>
            <p:spPr>
              <a:xfrm rot="10800000">
                <a:off x="1757782" y="2416703"/>
                <a:ext cx="167100" cy="101400"/>
              </a:xfrm>
              <a:prstGeom prst="triangle">
                <a:avLst>
                  <a:gd fmla="val 50000" name="adj"/>
                </a:avLst>
              </a:prstGeom>
              <a:solidFill>
                <a:srgbClr val="B7B7B7"/>
              </a:solidFill>
              <a:ln cap="flat" cmpd="sng" w="952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40175" lIns="140175" spcFirstLastPara="1" rIns="140175" wrap="square" tIns="1401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0"/>
              </a:p>
            </p:txBody>
          </p:sp>
        </p:grpSp>
      </p:grpSp>
      <p:sp>
        <p:nvSpPr>
          <p:cNvPr id="1153" name="Google Shape;1153;p22"/>
          <p:cNvSpPr/>
          <p:nvPr/>
        </p:nvSpPr>
        <p:spPr>
          <a:xfrm>
            <a:off x="-3678" y="-1570"/>
            <a:ext cx="13725900" cy="811200"/>
          </a:xfrm>
          <a:prstGeom prst="rect">
            <a:avLst/>
          </a:prstGeom>
          <a:solidFill>
            <a:srgbClr val="EDF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54" name="Google Shape;1154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1400" y="140109"/>
            <a:ext cx="672433" cy="510249"/>
          </a:xfrm>
          <a:prstGeom prst="rect">
            <a:avLst/>
          </a:prstGeom>
          <a:noFill/>
          <a:ln>
            <a:noFill/>
          </a:ln>
        </p:spPr>
      </p:pic>
      <p:sp>
        <p:nvSpPr>
          <p:cNvPr id="1155" name="Google Shape;1155;p22"/>
          <p:cNvSpPr txBox="1"/>
          <p:nvPr>
            <p:ph idx="1" type="subTitle"/>
          </p:nvPr>
        </p:nvSpPr>
        <p:spPr>
          <a:xfrm>
            <a:off x="761825" y="140088"/>
            <a:ext cx="12825300" cy="510300"/>
          </a:xfrm>
          <a:prstGeom prst="rect">
            <a:avLst/>
          </a:prstGeom>
          <a:ln>
            <a:noFill/>
          </a:ln>
        </p:spPr>
        <p:txBody>
          <a:bodyPr anchorCtr="0" anchor="t" bIns="140175" lIns="140175" spcFirstLastPara="1" rIns="140175" wrap="square" tIns="140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Merriweather"/>
                <a:ea typeface="Merriweather"/>
                <a:cs typeface="Merriweather"/>
                <a:sym typeface="Merriweather"/>
              </a:rPr>
              <a:t>Building Supply chain Material Analysis and Risk Trade-off Tool (BuildSMART v1)</a:t>
            </a:r>
            <a:r>
              <a:rPr b="1" lang="en" sz="1700"/>
              <a:t>           </a:t>
            </a:r>
            <a:r>
              <a:rPr b="1" lang="en" sz="1700">
                <a:solidFill>
                  <a:srgbClr val="999999"/>
                </a:solidFill>
              </a:rPr>
              <a:t>Main Page         </a:t>
            </a:r>
            <a:r>
              <a:rPr b="1" lang="en" sz="1700">
                <a:solidFill>
                  <a:srgbClr val="999999"/>
                </a:solidFill>
              </a:rPr>
              <a:t>About</a:t>
            </a:r>
            <a:r>
              <a:rPr b="1" lang="en" sz="1700">
                <a:solidFill>
                  <a:srgbClr val="999999"/>
                </a:solidFill>
              </a:rPr>
              <a:t>          Contact</a:t>
            </a:r>
            <a:endParaRPr b="1" sz="1700">
              <a:solidFill>
                <a:srgbClr val="999999"/>
              </a:solidFill>
            </a:endParaRPr>
          </a:p>
        </p:txBody>
      </p:sp>
      <p:pic>
        <p:nvPicPr>
          <p:cNvPr id="1156" name="Google Shape;1156;p22" title="Chart"/>
          <p:cNvPicPr preferRelativeResize="0"/>
          <p:nvPr/>
        </p:nvPicPr>
        <p:blipFill rotWithShape="1">
          <a:blip r:embed="rId6">
            <a:alphaModFix/>
          </a:blip>
          <a:srcRect b="0" l="0" r="0" t="11174"/>
          <a:stretch/>
        </p:blipFill>
        <p:spPr>
          <a:xfrm>
            <a:off x="9117399" y="1378293"/>
            <a:ext cx="3909465" cy="21472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57" name="Google Shape;1157;p22"/>
          <p:cNvGrpSpPr/>
          <p:nvPr/>
        </p:nvGrpSpPr>
        <p:grpSpPr>
          <a:xfrm>
            <a:off x="4340597" y="7083175"/>
            <a:ext cx="4557232" cy="618331"/>
            <a:chOff x="4268193" y="552116"/>
            <a:chExt cx="6213843" cy="697025"/>
          </a:xfrm>
        </p:grpSpPr>
        <p:sp>
          <p:nvSpPr>
            <p:cNvPr id="1158" name="Google Shape;1158;p22"/>
            <p:cNvSpPr/>
            <p:nvPr/>
          </p:nvSpPr>
          <p:spPr>
            <a:xfrm>
              <a:off x="6760562" y="609015"/>
              <a:ext cx="3546300" cy="255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8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1100" lIns="81100" spcFirstLastPara="1" rIns="81100" wrap="square" tIns="811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41"/>
            </a:p>
          </p:txBody>
        </p:sp>
        <p:sp>
          <p:nvSpPr>
            <p:cNvPr id="1159" name="Google Shape;1159;p22"/>
            <p:cNvSpPr txBox="1"/>
            <p:nvPr/>
          </p:nvSpPr>
          <p:spPr>
            <a:xfrm>
              <a:off x="4268193" y="552116"/>
              <a:ext cx="28551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100" lIns="81100" spcFirstLastPara="1" rIns="81100" wrap="square" tIns="8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86">
                  <a:solidFill>
                    <a:srgbClr val="B7B7B7"/>
                  </a:solidFill>
                </a:rPr>
                <a:t>CONSTRUCTION YEAR</a:t>
              </a:r>
              <a:endParaRPr b="1" sz="1186">
                <a:solidFill>
                  <a:srgbClr val="B7B7B7"/>
                </a:solidFill>
              </a:endParaRPr>
            </a:p>
          </p:txBody>
        </p:sp>
        <p:sp>
          <p:nvSpPr>
            <p:cNvPr id="1160" name="Google Shape;1160;p22"/>
            <p:cNvSpPr txBox="1"/>
            <p:nvPr/>
          </p:nvSpPr>
          <p:spPr>
            <a:xfrm>
              <a:off x="6732035" y="810841"/>
              <a:ext cx="37500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100" lIns="81100" spcFirstLastPara="1" rIns="81100" wrap="square" tIns="8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20">
                  <a:solidFill>
                    <a:schemeClr val="dk2"/>
                  </a:solidFill>
                </a:rPr>
                <a:t>2020	2030	2040	2050	2060	2070</a:t>
              </a:r>
              <a:endParaRPr sz="620">
                <a:solidFill>
                  <a:schemeClr val="dk2"/>
                </a:solidFill>
              </a:endParaRPr>
            </a:p>
          </p:txBody>
        </p:sp>
        <p:sp>
          <p:nvSpPr>
            <p:cNvPr id="1161" name="Google Shape;1161;p22"/>
            <p:cNvSpPr/>
            <p:nvPr/>
          </p:nvSpPr>
          <p:spPr>
            <a:xfrm>
              <a:off x="6766012" y="605859"/>
              <a:ext cx="1957500" cy="255600"/>
            </a:xfrm>
            <a:prstGeom prst="roundRect">
              <a:avLst>
                <a:gd fmla="val 16667" name="adj"/>
              </a:avLst>
            </a:prstGeom>
            <a:solidFill>
              <a:srgbClr val="AAD3E0"/>
            </a:solidFill>
            <a:ln cap="flat" cmpd="sng" w="8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1100" lIns="81100" spcFirstLastPara="1" rIns="81100" wrap="square" tIns="811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41"/>
            </a:p>
          </p:txBody>
        </p:sp>
      </p:grpSp>
      <p:grpSp>
        <p:nvGrpSpPr>
          <p:cNvPr id="1162" name="Google Shape;1162;p22"/>
          <p:cNvGrpSpPr/>
          <p:nvPr/>
        </p:nvGrpSpPr>
        <p:grpSpPr>
          <a:xfrm>
            <a:off x="8869612" y="4172248"/>
            <a:ext cx="4405034" cy="2794775"/>
            <a:chOff x="9037729" y="4704523"/>
            <a:chExt cx="4405034" cy="2794775"/>
          </a:xfrm>
        </p:grpSpPr>
        <p:grpSp>
          <p:nvGrpSpPr>
            <p:cNvPr id="1163" name="Google Shape;1163;p22"/>
            <p:cNvGrpSpPr/>
            <p:nvPr/>
          </p:nvGrpSpPr>
          <p:grpSpPr>
            <a:xfrm>
              <a:off x="9037729" y="4704523"/>
              <a:ext cx="4405034" cy="2794775"/>
              <a:chOff x="9079752" y="3946051"/>
              <a:chExt cx="4405034" cy="2794775"/>
            </a:xfrm>
          </p:grpSpPr>
          <p:sp>
            <p:nvSpPr>
              <p:cNvPr id="1164" name="Google Shape;1164;p22"/>
              <p:cNvSpPr txBox="1"/>
              <p:nvPr/>
            </p:nvSpPr>
            <p:spPr>
              <a:xfrm>
                <a:off x="9079752" y="3946051"/>
                <a:ext cx="40734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73200" lIns="73200" spcFirstLastPara="1" rIns="73200" wrap="square" tIns="732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81">
                    <a:solidFill>
                      <a:srgbClr val="666666"/>
                    </a:solidFill>
                  </a:rPr>
                  <a:t>PROJECTED MATERIAL AVAILABILITY</a:t>
                </a:r>
                <a:endParaRPr b="1" sz="360">
                  <a:solidFill>
                    <a:srgbClr val="666666"/>
                  </a:solidFill>
                </a:endParaRPr>
              </a:p>
            </p:txBody>
          </p:sp>
          <p:sp>
            <p:nvSpPr>
              <p:cNvPr id="1165" name="Google Shape;1165;p22"/>
              <p:cNvSpPr/>
              <p:nvPr/>
            </p:nvSpPr>
            <p:spPr>
              <a:xfrm>
                <a:off x="9148885" y="4259825"/>
                <a:ext cx="4335900" cy="2481000"/>
              </a:xfrm>
              <a:prstGeom prst="rect">
                <a:avLst/>
              </a:prstGeom>
              <a:noFill/>
              <a:ln cap="flat" cmpd="sng" w="7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3200" lIns="73200" spcFirstLastPara="1" rIns="73200" wrap="square" tIns="732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120"/>
              </a:p>
            </p:txBody>
          </p:sp>
          <p:pic>
            <p:nvPicPr>
              <p:cNvPr id="1166" name="Google Shape;1166;p22" title="Screenshot 2026-02-19 at 10.15.05 AM.png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-281" t="0"/>
              <a:stretch/>
            </p:blipFill>
            <p:spPr>
              <a:xfrm>
                <a:off x="9286250" y="4386900"/>
                <a:ext cx="4073401" cy="2226850"/>
              </a:xfrm>
              <a:prstGeom prst="rect">
                <a:avLst/>
              </a:prstGeom>
              <a:noFill/>
              <a:ln cap="flat" cmpd="sng" w="9525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</p:pic>
        </p:grpSp>
        <p:pic>
          <p:nvPicPr>
            <p:cNvPr id="1167" name="Google Shape;1167;p22" title="expand-icon-symbol-design-illustration-vector.jpg"/>
            <p:cNvPicPr preferRelativeResize="0"/>
            <p:nvPr/>
          </p:nvPicPr>
          <p:blipFill rotWithShape="1">
            <a:blip r:embed="rId8">
              <a:alphaModFix/>
            </a:blip>
            <a:srcRect b="11143" l="12219" r="0" t="0"/>
            <a:stretch/>
          </p:blipFill>
          <p:spPr>
            <a:xfrm>
              <a:off x="13211244" y="5054337"/>
              <a:ext cx="224376" cy="22712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168" name="Google Shape;1168;p22"/>
          <p:cNvCxnSpPr/>
          <p:nvPr/>
        </p:nvCxnSpPr>
        <p:spPr>
          <a:xfrm>
            <a:off x="4426782" y="4027001"/>
            <a:ext cx="8858100" cy="6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169" name="Google Shape;1169;p22"/>
          <p:cNvGrpSpPr/>
          <p:nvPr/>
        </p:nvGrpSpPr>
        <p:grpSpPr>
          <a:xfrm>
            <a:off x="4349911" y="934411"/>
            <a:ext cx="4421103" cy="2819555"/>
            <a:chOff x="4043712" y="1229950"/>
            <a:chExt cx="5522238" cy="3521803"/>
          </a:xfrm>
        </p:grpSpPr>
        <p:sp>
          <p:nvSpPr>
            <p:cNvPr id="1170" name="Google Shape;1170;p22"/>
            <p:cNvSpPr/>
            <p:nvPr/>
          </p:nvSpPr>
          <p:spPr>
            <a:xfrm>
              <a:off x="4150050" y="1612488"/>
              <a:ext cx="5415900" cy="3099000"/>
            </a:xfrm>
            <a:prstGeom prst="rect">
              <a:avLst/>
            </a:prstGeom>
            <a:noFill/>
            <a:ln cap="flat" cmpd="sng" w="76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200" lIns="73200" spcFirstLastPara="1" rIns="73200" wrap="square" tIns="73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20"/>
            </a:p>
          </p:txBody>
        </p:sp>
        <p:sp>
          <p:nvSpPr>
            <p:cNvPr id="1171" name="Google Shape;1171;p22"/>
            <p:cNvSpPr txBox="1"/>
            <p:nvPr/>
          </p:nvSpPr>
          <p:spPr>
            <a:xfrm>
              <a:off x="4043712" y="1229950"/>
              <a:ext cx="4417800" cy="46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3200" lIns="73200" spcFirstLastPara="1" rIns="73200" wrap="square" tIns="732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81">
                  <a:solidFill>
                    <a:srgbClr val="666666"/>
                  </a:solidFill>
                </a:rPr>
                <a:t>BASELINE MATERIAL DEMAND</a:t>
              </a:r>
              <a:endParaRPr b="1" sz="360">
                <a:solidFill>
                  <a:srgbClr val="666666"/>
                </a:solidFill>
              </a:endParaRPr>
            </a:p>
          </p:txBody>
        </p:sp>
        <p:grpSp>
          <p:nvGrpSpPr>
            <p:cNvPr id="1172" name="Google Shape;1172;p22"/>
            <p:cNvGrpSpPr/>
            <p:nvPr/>
          </p:nvGrpSpPr>
          <p:grpSpPr>
            <a:xfrm>
              <a:off x="4056895" y="4214633"/>
              <a:ext cx="1923164" cy="537120"/>
              <a:chOff x="4257757" y="4214633"/>
              <a:chExt cx="1923164" cy="537120"/>
            </a:xfrm>
          </p:grpSpPr>
          <p:sp>
            <p:nvSpPr>
              <p:cNvPr id="1173" name="Google Shape;1173;p22"/>
              <p:cNvSpPr txBox="1"/>
              <p:nvPr/>
            </p:nvSpPr>
            <p:spPr>
              <a:xfrm>
                <a:off x="4257757" y="4241453"/>
                <a:ext cx="1269300" cy="51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56000" lIns="156000" spcFirstLastPara="1" rIns="156000" wrap="square" tIns="1560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61">
                    <a:solidFill>
                      <a:srgbClr val="999999"/>
                    </a:solidFill>
                  </a:rPr>
                  <a:t>Sankey diagram</a:t>
                </a:r>
                <a:endParaRPr sz="761">
                  <a:solidFill>
                    <a:srgbClr val="999999"/>
                  </a:solidFill>
                </a:endParaRPr>
              </a:p>
            </p:txBody>
          </p:sp>
          <p:grpSp>
            <p:nvGrpSpPr>
              <p:cNvPr id="1174" name="Google Shape;1174;p22"/>
              <p:cNvGrpSpPr/>
              <p:nvPr/>
            </p:nvGrpSpPr>
            <p:grpSpPr>
              <a:xfrm>
                <a:off x="5387374" y="4214633"/>
                <a:ext cx="793547" cy="433200"/>
                <a:chOff x="5387374" y="4214633"/>
                <a:chExt cx="793547" cy="433200"/>
              </a:xfrm>
            </p:grpSpPr>
            <p:grpSp>
              <p:nvGrpSpPr>
                <p:cNvPr id="1175" name="Google Shape;1175;p22"/>
                <p:cNvGrpSpPr/>
                <p:nvPr/>
              </p:nvGrpSpPr>
              <p:grpSpPr>
                <a:xfrm>
                  <a:off x="5387374" y="4365780"/>
                  <a:ext cx="761210" cy="261650"/>
                  <a:chOff x="5509499" y="4365730"/>
                  <a:chExt cx="761210" cy="261650"/>
                </a:xfrm>
              </p:grpSpPr>
              <p:sp>
                <p:nvSpPr>
                  <p:cNvPr id="1176" name="Google Shape;1176;p22"/>
                  <p:cNvSpPr/>
                  <p:nvPr/>
                </p:nvSpPr>
                <p:spPr>
                  <a:xfrm rot="-10800000">
                    <a:off x="5513034" y="4365730"/>
                    <a:ext cx="757675" cy="261650"/>
                  </a:xfrm>
                  <a:prstGeom prst="flowChartMagneticDrum">
                    <a:avLst/>
                  </a:prstGeom>
                  <a:solidFill>
                    <a:srgbClr val="CCCCCC"/>
                  </a:solidFill>
                  <a:ln cap="flat" cmpd="sng" w="10600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156000" lIns="156000" spcFirstLastPara="1" rIns="156000" wrap="square" tIns="156000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336"/>
                  </a:p>
                </p:txBody>
              </p:sp>
              <p:sp>
                <p:nvSpPr>
                  <p:cNvPr id="1177" name="Google Shape;1177;p22"/>
                  <p:cNvSpPr/>
                  <p:nvPr/>
                </p:nvSpPr>
                <p:spPr>
                  <a:xfrm>
                    <a:off x="5509499" y="4370260"/>
                    <a:ext cx="259500" cy="252600"/>
                  </a:xfrm>
                  <a:prstGeom prst="ellipse">
                    <a:avLst/>
                  </a:prstGeom>
                  <a:solidFill>
                    <a:schemeClr val="lt1"/>
                  </a:solidFill>
                  <a:ln cap="flat" cmpd="sng" w="10600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156000" lIns="156000" spcFirstLastPara="1" rIns="156000" wrap="square" tIns="156000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336"/>
                  </a:p>
                </p:txBody>
              </p:sp>
            </p:grpSp>
            <p:sp>
              <p:nvSpPr>
                <p:cNvPr id="1178" name="Google Shape;1178;p22"/>
                <p:cNvSpPr txBox="1"/>
                <p:nvPr/>
              </p:nvSpPr>
              <p:spPr>
                <a:xfrm>
                  <a:off x="5508621" y="4214633"/>
                  <a:ext cx="672300" cy="433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56000" lIns="156000" spcFirstLastPara="1" rIns="156000" wrap="square" tIns="1560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001">
                      <a:solidFill>
                        <a:schemeClr val="lt1"/>
                      </a:solidFill>
                    </a:rPr>
                    <a:t>Off</a:t>
                  </a:r>
                  <a:endParaRPr sz="1001">
                    <a:solidFill>
                      <a:schemeClr val="lt1"/>
                    </a:solidFill>
                  </a:endParaRPr>
                </a:p>
              </p:txBody>
            </p:sp>
          </p:grpSp>
        </p:grpSp>
      </p:grpSp>
      <p:pic>
        <p:nvPicPr>
          <p:cNvPr id="1179" name="Google Shape;1179;p22" title="download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474425" y="1284577"/>
            <a:ext cx="259800" cy="259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80" name="Google Shape;1180;p22"/>
          <p:cNvGrpSpPr/>
          <p:nvPr/>
        </p:nvGrpSpPr>
        <p:grpSpPr>
          <a:xfrm>
            <a:off x="4349911" y="4181419"/>
            <a:ext cx="4421103" cy="2819555"/>
            <a:chOff x="4349911" y="4181419"/>
            <a:chExt cx="4421103" cy="2819555"/>
          </a:xfrm>
        </p:grpSpPr>
        <p:grpSp>
          <p:nvGrpSpPr>
            <p:cNvPr id="1181" name="Google Shape;1181;p22"/>
            <p:cNvGrpSpPr/>
            <p:nvPr/>
          </p:nvGrpSpPr>
          <p:grpSpPr>
            <a:xfrm>
              <a:off x="4349911" y="4181419"/>
              <a:ext cx="4421103" cy="2819555"/>
              <a:chOff x="4043712" y="1229950"/>
              <a:chExt cx="5522238" cy="3521803"/>
            </a:xfrm>
          </p:grpSpPr>
          <p:sp>
            <p:nvSpPr>
              <p:cNvPr id="1182" name="Google Shape;1182;p22"/>
              <p:cNvSpPr/>
              <p:nvPr/>
            </p:nvSpPr>
            <p:spPr>
              <a:xfrm>
                <a:off x="4150050" y="1612488"/>
                <a:ext cx="5415900" cy="3099000"/>
              </a:xfrm>
              <a:prstGeom prst="rect">
                <a:avLst/>
              </a:prstGeom>
              <a:noFill/>
              <a:ln cap="flat" cmpd="sng" w="7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3200" lIns="73200" spcFirstLastPara="1" rIns="73200" wrap="square" tIns="732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120"/>
              </a:p>
            </p:txBody>
          </p:sp>
          <p:sp>
            <p:nvSpPr>
              <p:cNvPr id="1183" name="Google Shape;1183;p22"/>
              <p:cNvSpPr txBox="1"/>
              <p:nvPr/>
            </p:nvSpPr>
            <p:spPr>
              <a:xfrm>
                <a:off x="4043712" y="1229950"/>
                <a:ext cx="4417800" cy="469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73200" lIns="73200" spcFirstLastPara="1" rIns="73200" wrap="square" tIns="732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81">
                    <a:solidFill>
                      <a:srgbClr val="666666"/>
                    </a:solidFill>
                  </a:rPr>
                  <a:t>PROJECTED MATERIAL DEMAND</a:t>
                </a:r>
                <a:endParaRPr b="1" sz="360">
                  <a:solidFill>
                    <a:srgbClr val="666666"/>
                  </a:solidFill>
                </a:endParaRPr>
              </a:p>
            </p:txBody>
          </p:sp>
          <p:grpSp>
            <p:nvGrpSpPr>
              <p:cNvPr id="1184" name="Google Shape;1184;p22"/>
              <p:cNvGrpSpPr/>
              <p:nvPr/>
            </p:nvGrpSpPr>
            <p:grpSpPr>
              <a:xfrm>
                <a:off x="4056895" y="4208337"/>
                <a:ext cx="1928164" cy="543415"/>
                <a:chOff x="4257757" y="4208337"/>
                <a:chExt cx="1928164" cy="543415"/>
              </a:xfrm>
            </p:grpSpPr>
            <p:sp>
              <p:nvSpPr>
                <p:cNvPr id="1185" name="Google Shape;1185;p22"/>
                <p:cNvSpPr txBox="1"/>
                <p:nvPr/>
              </p:nvSpPr>
              <p:spPr>
                <a:xfrm>
                  <a:off x="4257757" y="4241453"/>
                  <a:ext cx="1269300" cy="510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56000" lIns="156000" spcFirstLastPara="1" rIns="156000" wrap="square" tIns="1560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761">
                      <a:solidFill>
                        <a:srgbClr val="999999"/>
                      </a:solidFill>
                    </a:rPr>
                    <a:t>Sankey diagram</a:t>
                  </a:r>
                  <a:endParaRPr sz="761">
                    <a:solidFill>
                      <a:srgbClr val="999999"/>
                    </a:solidFill>
                  </a:endParaRPr>
                </a:p>
              </p:txBody>
            </p:sp>
            <p:grpSp>
              <p:nvGrpSpPr>
                <p:cNvPr id="1186" name="Google Shape;1186;p22"/>
                <p:cNvGrpSpPr/>
                <p:nvPr/>
              </p:nvGrpSpPr>
              <p:grpSpPr>
                <a:xfrm>
                  <a:off x="5383729" y="4208337"/>
                  <a:ext cx="802192" cy="433200"/>
                  <a:chOff x="5383729" y="4208337"/>
                  <a:chExt cx="802192" cy="433200"/>
                </a:xfrm>
              </p:grpSpPr>
              <p:grpSp>
                <p:nvGrpSpPr>
                  <p:cNvPr id="1187" name="Google Shape;1187;p22"/>
                  <p:cNvGrpSpPr/>
                  <p:nvPr/>
                </p:nvGrpSpPr>
                <p:grpSpPr>
                  <a:xfrm>
                    <a:off x="5383729" y="4365780"/>
                    <a:ext cx="764855" cy="261650"/>
                    <a:chOff x="5505854" y="4365730"/>
                    <a:chExt cx="764855" cy="261650"/>
                  </a:xfrm>
                </p:grpSpPr>
                <p:sp>
                  <p:nvSpPr>
                    <p:cNvPr id="1188" name="Google Shape;1188;p22"/>
                    <p:cNvSpPr/>
                    <p:nvPr/>
                  </p:nvSpPr>
                  <p:spPr>
                    <a:xfrm rot="-10800000">
                      <a:off x="5513034" y="4365730"/>
                      <a:ext cx="757675" cy="261650"/>
                    </a:xfrm>
                    <a:prstGeom prst="flowChartMagneticDrum">
                      <a:avLst/>
                    </a:prstGeom>
                    <a:solidFill>
                      <a:srgbClr val="CCCCCC"/>
                    </a:solidFill>
                    <a:ln cap="flat" cmpd="sng" w="106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156000" lIns="156000" spcFirstLastPara="1" rIns="156000" wrap="square" tIns="156000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36"/>
                    </a:p>
                  </p:txBody>
                </p:sp>
                <p:sp>
                  <p:nvSpPr>
                    <p:cNvPr id="1189" name="Google Shape;1189;p22"/>
                    <p:cNvSpPr/>
                    <p:nvPr/>
                  </p:nvSpPr>
                  <p:spPr>
                    <a:xfrm>
                      <a:off x="5505854" y="4370260"/>
                      <a:ext cx="259500" cy="252600"/>
                    </a:xfrm>
                    <a:prstGeom prst="ellipse">
                      <a:avLst/>
                    </a:prstGeom>
                    <a:solidFill>
                      <a:schemeClr val="lt1"/>
                    </a:solidFill>
                    <a:ln cap="flat" cmpd="sng" w="106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156000" lIns="156000" spcFirstLastPara="1" rIns="156000" wrap="square" tIns="156000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36"/>
                    </a:p>
                  </p:txBody>
                </p:sp>
              </p:grpSp>
              <p:sp>
                <p:nvSpPr>
                  <p:cNvPr id="1190" name="Google Shape;1190;p22"/>
                  <p:cNvSpPr txBox="1"/>
                  <p:nvPr/>
                </p:nvSpPr>
                <p:spPr>
                  <a:xfrm>
                    <a:off x="5513621" y="4208337"/>
                    <a:ext cx="672300" cy="433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156000" lIns="156000" spcFirstLastPara="1" rIns="156000" wrap="square" tIns="1560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1001">
                        <a:solidFill>
                          <a:schemeClr val="lt1"/>
                        </a:solidFill>
                      </a:rPr>
                      <a:t>Off</a:t>
                    </a:r>
                    <a:endParaRPr sz="1001">
                      <a:solidFill>
                        <a:schemeClr val="lt1"/>
                      </a:solidFill>
                    </a:endParaRPr>
                  </a:p>
                </p:txBody>
              </p:sp>
            </p:grpSp>
          </p:grpSp>
        </p:grpSp>
        <p:pic>
          <p:nvPicPr>
            <p:cNvPr id="1191" name="Google Shape;1191;p22" title="download.png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8474425" y="4518577"/>
              <a:ext cx="259800" cy="259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92" name="Google Shape;1192;p22"/>
          <p:cNvSpPr txBox="1"/>
          <p:nvPr/>
        </p:nvSpPr>
        <p:spPr>
          <a:xfrm>
            <a:off x="10027381" y="3473355"/>
            <a:ext cx="24513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74700" lIns="74700" spcFirstLastPara="1" rIns="74700" wrap="square" tIns="74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2">
                <a:solidFill>
                  <a:schemeClr val="dk1"/>
                </a:solidFill>
              </a:rPr>
              <a:t>Material Cost (USD)</a:t>
            </a:r>
            <a:endParaRPr sz="702">
              <a:solidFill>
                <a:schemeClr val="dk1"/>
              </a:solidFill>
            </a:endParaRPr>
          </a:p>
        </p:txBody>
      </p:sp>
      <p:sp>
        <p:nvSpPr>
          <p:cNvPr id="1193" name="Google Shape;1193;p22"/>
          <p:cNvSpPr txBox="1"/>
          <p:nvPr/>
        </p:nvSpPr>
        <p:spPr>
          <a:xfrm>
            <a:off x="8869623" y="932880"/>
            <a:ext cx="3537000" cy="3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200" lIns="73200" spcFirstLastPara="1" rIns="73200" wrap="square" tIns="732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81">
                <a:solidFill>
                  <a:srgbClr val="666666"/>
                </a:solidFill>
              </a:rPr>
              <a:t>BASELINE MATERIAL COST</a:t>
            </a:r>
            <a:endParaRPr b="1" sz="360">
              <a:solidFill>
                <a:srgbClr val="666666"/>
              </a:solidFill>
            </a:endParaRPr>
          </a:p>
        </p:txBody>
      </p:sp>
      <p:pic>
        <p:nvPicPr>
          <p:cNvPr id="1194" name="Google Shape;1194;p22" title="download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2975775" y="1284577"/>
            <a:ext cx="259800" cy="25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5" name="Google Shape;1195;p2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0513496" y="6236751"/>
            <a:ext cx="332100" cy="332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96" name="Google Shape;1196;p22"/>
          <p:cNvGrpSpPr/>
          <p:nvPr/>
        </p:nvGrpSpPr>
        <p:grpSpPr>
          <a:xfrm rot="-7747678">
            <a:off x="6731768" y="2298973"/>
            <a:ext cx="917135" cy="927853"/>
            <a:chOff x="5893568" y="3081812"/>
            <a:chExt cx="1184774" cy="1198522"/>
          </a:xfrm>
        </p:grpSpPr>
        <p:grpSp>
          <p:nvGrpSpPr>
            <p:cNvPr id="1197" name="Google Shape;1197;p22"/>
            <p:cNvGrpSpPr/>
            <p:nvPr/>
          </p:nvGrpSpPr>
          <p:grpSpPr>
            <a:xfrm rot="-2553858">
              <a:off x="6121452" y="3202192"/>
              <a:ext cx="729006" cy="957763"/>
              <a:chOff x="6057691" y="2542624"/>
              <a:chExt cx="729025" cy="957787"/>
            </a:xfrm>
          </p:grpSpPr>
          <p:cxnSp>
            <p:nvCxnSpPr>
              <p:cNvPr id="1198" name="Google Shape;1198;p22"/>
              <p:cNvCxnSpPr/>
              <p:nvPr/>
            </p:nvCxnSpPr>
            <p:spPr>
              <a:xfrm flipH="1" rot="-8246357">
                <a:off x="6228918" y="2725045"/>
                <a:ext cx="588139" cy="125058"/>
              </a:xfrm>
              <a:prstGeom prst="straightConnector1">
                <a:avLst/>
              </a:prstGeom>
              <a:noFill/>
              <a:ln cap="flat" cmpd="sng" w="22125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199" name="Google Shape;1199;p22"/>
              <p:cNvCxnSpPr/>
              <p:nvPr/>
            </p:nvCxnSpPr>
            <p:spPr>
              <a:xfrm flipH="1" rot="10800000">
                <a:off x="6097647" y="3383711"/>
                <a:ext cx="594300" cy="116700"/>
              </a:xfrm>
              <a:prstGeom prst="straightConnector1">
                <a:avLst/>
              </a:prstGeom>
              <a:noFill/>
              <a:ln cap="flat" cmpd="sng" w="22125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00" name="Google Shape;1200;p22"/>
              <p:cNvSpPr/>
              <p:nvPr/>
            </p:nvSpPr>
            <p:spPr>
              <a:xfrm>
                <a:off x="6057691" y="2616591"/>
                <a:ext cx="202398" cy="870834"/>
              </a:xfrm>
              <a:custGeom>
                <a:rect b="b" l="l" r="r" t="t"/>
                <a:pathLst>
                  <a:path extrusionOk="0" h="29905" w="4740">
                    <a:moveTo>
                      <a:pt x="1229" y="29905"/>
                    </a:moveTo>
                    <a:cubicBezTo>
                      <a:pt x="-1533" y="20256"/>
                      <a:pt x="780" y="9222"/>
                      <a:pt x="4741" y="0"/>
                    </a:cubicBezTo>
                  </a:path>
                </a:pathLst>
              </a:custGeom>
              <a:noFill/>
              <a:ln cap="flat" cmpd="sng" w="22125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201" name="Google Shape;1201;p22"/>
              <p:cNvSpPr/>
              <p:nvPr/>
            </p:nvSpPr>
            <p:spPr>
              <a:xfrm>
                <a:off x="6679189" y="2926345"/>
                <a:ext cx="107527" cy="463154"/>
              </a:xfrm>
              <a:custGeom>
                <a:rect b="b" l="l" r="r" t="t"/>
                <a:pathLst>
                  <a:path extrusionOk="0" h="29905" w="4740">
                    <a:moveTo>
                      <a:pt x="1229" y="29905"/>
                    </a:moveTo>
                    <a:cubicBezTo>
                      <a:pt x="-1533" y="20256"/>
                      <a:pt x="780" y="9222"/>
                      <a:pt x="4741" y="0"/>
                    </a:cubicBezTo>
                  </a:path>
                </a:pathLst>
              </a:custGeom>
              <a:noFill/>
              <a:ln cap="flat" cmpd="sng" w="22125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cxnSp>
          <p:nvCxnSpPr>
            <p:cNvPr id="1202" name="Google Shape;1202;p22"/>
            <p:cNvCxnSpPr/>
            <p:nvPr/>
          </p:nvCxnSpPr>
          <p:spPr>
            <a:xfrm flipH="1" rot="10800000">
              <a:off x="6147225" y="3487550"/>
              <a:ext cx="109200" cy="1746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3" name="Google Shape;1203;p22"/>
            <p:cNvCxnSpPr/>
            <p:nvPr/>
          </p:nvCxnSpPr>
          <p:spPr>
            <a:xfrm flipH="1" rot="10800000">
              <a:off x="6173600" y="3466000"/>
              <a:ext cx="183000" cy="2856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4" name="Google Shape;1204;p22"/>
            <p:cNvCxnSpPr/>
            <p:nvPr/>
          </p:nvCxnSpPr>
          <p:spPr>
            <a:xfrm flipH="1" rot="10800000">
              <a:off x="6209650" y="3456063"/>
              <a:ext cx="228600" cy="3618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5" name="Google Shape;1205;p22"/>
            <p:cNvCxnSpPr/>
            <p:nvPr/>
          </p:nvCxnSpPr>
          <p:spPr>
            <a:xfrm flipH="1" rot="10800000">
              <a:off x="6241950" y="3433763"/>
              <a:ext cx="283500" cy="4476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6" name="Google Shape;1206;p22"/>
            <p:cNvCxnSpPr/>
            <p:nvPr/>
          </p:nvCxnSpPr>
          <p:spPr>
            <a:xfrm flipH="1" rot="10800000">
              <a:off x="6283850" y="3414388"/>
              <a:ext cx="331200" cy="5382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7" name="Google Shape;1207;p22"/>
            <p:cNvCxnSpPr/>
            <p:nvPr/>
          </p:nvCxnSpPr>
          <p:spPr>
            <a:xfrm flipH="1" rot="10800000">
              <a:off x="6322550" y="3425213"/>
              <a:ext cx="367500" cy="5910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8" name="Google Shape;1208;p22"/>
            <p:cNvCxnSpPr/>
            <p:nvPr/>
          </p:nvCxnSpPr>
          <p:spPr>
            <a:xfrm flipH="1" rot="10800000">
              <a:off x="6367875" y="3522238"/>
              <a:ext cx="351600" cy="5487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09" name="Google Shape;1209;p22"/>
            <p:cNvCxnSpPr/>
            <p:nvPr/>
          </p:nvCxnSpPr>
          <p:spPr>
            <a:xfrm flipH="1" rot="10800000">
              <a:off x="6414850" y="3600463"/>
              <a:ext cx="346500" cy="5229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0" name="Google Shape;1210;p22"/>
            <p:cNvCxnSpPr/>
            <p:nvPr/>
          </p:nvCxnSpPr>
          <p:spPr>
            <a:xfrm flipH="1" rot="10800000">
              <a:off x="6474550" y="3673138"/>
              <a:ext cx="328800" cy="4863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1" name="Google Shape;1211;p22"/>
            <p:cNvCxnSpPr/>
            <p:nvPr/>
          </p:nvCxnSpPr>
          <p:spPr>
            <a:xfrm flipH="1" rot="10800000">
              <a:off x="6525450" y="3712838"/>
              <a:ext cx="328800" cy="4863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1212" name="Google Shape;1212;p2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3120917" y="4636022"/>
            <a:ext cx="259800" cy="38889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13" name="Google Shape;1213;p22"/>
          <p:cNvGrpSpPr/>
          <p:nvPr/>
        </p:nvGrpSpPr>
        <p:grpSpPr>
          <a:xfrm>
            <a:off x="7438542" y="1829965"/>
            <a:ext cx="1435621" cy="519947"/>
            <a:chOff x="8548175" y="2668550"/>
            <a:chExt cx="1435621" cy="519947"/>
          </a:xfrm>
        </p:grpSpPr>
        <p:sp>
          <p:nvSpPr>
            <p:cNvPr id="1214" name="Google Shape;1214;p22"/>
            <p:cNvSpPr txBox="1"/>
            <p:nvPr/>
          </p:nvSpPr>
          <p:spPr>
            <a:xfrm>
              <a:off x="8548175" y="2668550"/>
              <a:ext cx="672300" cy="29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60">
                  <a:solidFill>
                    <a:schemeClr val="dk2"/>
                  </a:solidFill>
                </a:rPr>
                <a:t>Legend</a:t>
              </a:r>
              <a:endParaRPr b="1" sz="860">
                <a:solidFill>
                  <a:schemeClr val="dk2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0">
                <a:solidFill>
                  <a:schemeClr val="dk2"/>
                </a:solidFill>
              </a:endParaRPr>
            </a:p>
          </p:txBody>
        </p:sp>
        <p:sp>
          <p:nvSpPr>
            <p:cNvPr id="1215" name="Google Shape;1215;p22"/>
            <p:cNvSpPr/>
            <p:nvPr/>
          </p:nvSpPr>
          <p:spPr>
            <a:xfrm>
              <a:off x="8698150" y="2959475"/>
              <a:ext cx="146700" cy="141900"/>
            </a:xfrm>
            <a:prstGeom prst="rect">
              <a:avLst/>
            </a:prstGeom>
            <a:noFill/>
            <a:ln cap="flat" cmpd="sng" w="9525">
              <a:solidFill>
                <a:srgbClr val="93C4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22"/>
            <p:cNvSpPr txBox="1"/>
            <p:nvPr/>
          </p:nvSpPr>
          <p:spPr>
            <a:xfrm>
              <a:off x="8795496" y="2871397"/>
              <a:ext cx="1188300" cy="3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60">
                  <a:solidFill>
                    <a:schemeClr val="dk2"/>
                  </a:solidFill>
                </a:rPr>
                <a:t>Reused material</a:t>
              </a:r>
              <a:endParaRPr sz="860">
                <a:solidFill>
                  <a:schemeClr val="dk2"/>
                </a:solidFill>
              </a:endParaRPr>
            </a:p>
          </p:txBody>
        </p:sp>
        <p:cxnSp>
          <p:nvCxnSpPr>
            <p:cNvPr id="1217" name="Google Shape;1217;p22"/>
            <p:cNvCxnSpPr>
              <a:stCxn id="1215" idx="1"/>
            </p:cNvCxnSpPr>
            <p:nvPr/>
          </p:nvCxnSpPr>
          <p:spPr>
            <a:xfrm flipH="1" rot="10800000">
              <a:off x="8698150" y="2959625"/>
              <a:ext cx="73500" cy="70800"/>
            </a:xfrm>
            <a:prstGeom prst="straightConnector1">
              <a:avLst/>
            </a:prstGeom>
            <a:noFill/>
            <a:ln cap="flat" cmpd="sng" w="9525">
              <a:solidFill>
                <a:srgbClr val="93C47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8" name="Google Shape;1218;p22"/>
            <p:cNvCxnSpPr/>
            <p:nvPr/>
          </p:nvCxnSpPr>
          <p:spPr>
            <a:xfrm flipH="1" rot="10800000">
              <a:off x="8698150" y="2963225"/>
              <a:ext cx="146400" cy="138000"/>
            </a:xfrm>
            <a:prstGeom prst="straightConnector1">
              <a:avLst/>
            </a:prstGeom>
            <a:noFill/>
            <a:ln cap="flat" cmpd="sng" w="9525">
              <a:solidFill>
                <a:srgbClr val="93C47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19" name="Google Shape;1219;p22"/>
            <p:cNvCxnSpPr/>
            <p:nvPr/>
          </p:nvCxnSpPr>
          <p:spPr>
            <a:xfrm flipH="1" rot="10800000">
              <a:off x="8771650" y="3030425"/>
              <a:ext cx="73500" cy="70800"/>
            </a:xfrm>
            <a:prstGeom prst="straightConnector1">
              <a:avLst/>
            </a:prstGeom>
            <a:noFill/>
            <a:ln cap="flat" cmpd="sng" w="9525">
              <a:solidFill>
                <a:srgbClr val="93C47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1220" name="Google Shape;1220;p22" title="Chart"/>
          <p:cNvPicPr preferRelativeResize="0"/>
          <p:nvPr/>
        </p:nvPicPr>
        <p:blipFill rotWithShape="1">
          <a:blip r:embed="rId3">
            <a:alphaModFix/>
          </a:blip>
          <a:srcRect b="0" l="0" r="0" t="11143"/>
          <a:stretch/>
        </p:blipFill>
        <p:spPr>
          <a:xfrm>
            <a:off x="4681700" y="4636018"/>
            <a:ext cx="3723375" cy="20450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21" name="Google Shape;1221;p22"/>
          <p:cNvGrpSpPr/>
          <p:nvPr/>
        </p:nvGrpSpPr>
        <p:grpSpPr>
          <a:xfrm rot="6466707">
            <a:off x="5814315" y="4528678"/>
            <a:ext cx="984756" cy="912842"/>
            <a:chOff x="5971561" y="3175271"/>
            <a:chExt cx="1209504" cy="1223549"/>
          </a:xfrm>
        </p:grpSpPr>
        <p:grpSp>
          <p:nvGrpSpPr>
            <p:cNvPr id="1222" name="Google Shape;1222;p22"/>
            <p:cNvGrpSpPr/>
            <p:nvPr/>
          </p:nvGrpSpPr>
          <p:grpSpPr>
            <a:xfrm rot="-2553858">
              <a:off x="6204240" y="3298126"/>
              <a:ext cx="744146" cy="977838"/>
              <a:chOff x="6044991" y="2671759"/>
              <a:chExt cx="744165" cy="977863"/>
            </a:xfrm>
          </p:grpSpPr>
          <p:cxnSp>
            <p:nvCxnSpPr>
              <p:cNvPr id="1223" name="Google Shape;1223;p22"/>
              <p:cNvCxnSpPr/>
              <p:nvPr/>
            </p:nvCxnSpPr>
            <p:spPr>
              <a:xfrm flipH="1" rot="-3778148">
                <a:off x="6491854" y="2506298"/>
                <a:ext cx="16503" cy="617403"/>
              </a:xfrm>
              <a:prstGeom prst="straightConnector1">
                <a:avLst/>
              </a:prstGeom>
              <a:noFill/>
              <a:ln cap="flat" cmpd="sng" w="24325">
                <a:solidFill>
                  <a:srgbClr val="FFFF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24" name="Google Shape;1224;p22"/>
              <p:cNvCxnSpPr/>
              <p:nvPr/>
            </p:nvCxnSpPr>
            <p:spPr>
              <a:xfrm rot="-3787876">
                <a:off x="6196996" y="3097494"/>
                <a:ext cx="379690" cy="554057"/>
              </a:xfrm>
              <a:prstGeom prst="straightConnector1">
                <a:avLst/>
              </a:prstGeom>
              <a:noFill/>
              <a:ln cap="flat" cmpd="sng" w="24325">
                <a:solidFill>
                  <a:srgbClr val="FFFF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25" name="Google Shape;1225;p22"/>
              <p:cNvSpPr/>
              <p:nvPr/>
            </p:nvSpPr>
            <p:spPr>
              <a:xfrm rot="143870">
                <a:off x="6063203" y="2674379"/>
                <a:ext cx="140202" cy="763728"/>
              </a:xfrm>
              <a:custGeom>
                <a:rect b="b" l="l" r="r" t="t"/>
                <a:pathLst>
                  <a:path extrusionOk="0" h="29905" w="4740">
                    <a:moveTo>
                      <a:pt x="1229" y="29905"/>
                    </a:moveTo>
                    <a:cubicBezTo>
                      <a:pt x="-1533" y="20256"/>
                      <a:pt x="780" y="9222"/>
                      <a:pt x="4741" y="0"/>
                    </a:cubicBezTo>
                  </a:path>
                </a:pathLst>
              </a:custGeom>
              <a:noFill/>
              <a:ln cap="flat" cmpd="sng" w="24325">
                <a:solidFill>
                  <a:srgbClr val="FFFF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226" name="Google Shape;1226;p22"/>
              <p:cNvSpPr/>
              <p:nvPr/>
            </p:nvSpPr>
            <p:spPr>
              <a:xfrm>
                <a:off x="6704190" y="2926332"/>
                <a:ext cx="82523" cy="396989"/>
              </a:xfrm>
              <a:custGeom>
                <a:rect b="b" l="l" r="r" t="t"/>
                <a:pathLst>
                  <a:path extrusionOk="0" h="29905" w="4740">
                    <a:moveTo>
                      <a:pt x="1229" y="29905"/>
                    </a:moveTo>
                    <a:cubicBezTo>
                      <a:pt x="-1533" y="20256"/>
                      <a:pt x="780" y="9222"/>
                      <a:pt x="4741" y="0"/>
                    </a:cubicBezTo>
                  </a:path>
                </a:pathLst>
              </a:custGeom>
              <a:noFill/>
              <a:ln cap="flat" cmpd="sng" w="24325">
                <a:solidFill>
                  <a:srgbClr val="FFFF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cxnSp>
          <p:nvCxnSpPr>
            <p:cNvPr id="1227" name="Google Shape;1227;p22"/>
            <p:cNvCxnSpPr/>
            <p:nvPr/>
          </p:nvCxnSpPr>
          <p:spPr>
            <a:xfrm rot="-6338134">
              <a:off x="6145992" y="3526121"/>
              <a:ext cx="99066" cy="131358"/>
            </a:xfrm>
            <a:prstGeom prst="straightConnector1">
              <a:avLst/>
            </a:prstGeom>
            <a:noFill/>
            <a:ln cap="flat" cmpd="sng" w="8125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8" name="Google Shape;1228;p22"/>
            <p:cNvCxnSpPr/>
            <p:nvPr/>
          </p:nvCxnSpPr>
          <p:spPr>
            <a:xfrm rot="-6341519">
              <a:off x="6163077" y="3507611"/>
              <a:ext cx="186345" cy="229677"/>
            </a:xfrm>
            <a:prstGeom prst="straightConnector1">
              <a:avLst/>
            </a:prstGeom>
            <a:noFill/>
            <a:ln cap="flat" cmpd="sng" w="8125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9" name="Google Shape;1229;p22"/>
            <p:cNvCxnSpPr/>
            <p:nvPr/>
          </p:nvCxnSpPr>
          <p:spPr>
            <a:xfrm flipH="1" rot="10800000">
              <a:off x="6209650" y="3456063"/>
              <a:ext cx="228600" cy="361800"/>
            </a:xfrm>
            <a:prstGeom prst="straightConnector1">
              <a:avLst/>
            </a:prstGeom>
            <a:noFill/>
            <a:ln cap="flat" cmpd="sng" w="8125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0" name="Google Shape;1230;p22"/>
            <p:cNvCxnSpPr/>
            <p:nvPr/>
          </p:nvCxnSpPr>
          <p:spPr>
            <a:xfrm flipH="1" rot="10800000">
              <a:off x="6241950" y="3433763"/>
              <a:ext cx="283500" cy="447600"/>
            </a:xfrm>
            <a:prstGeom prst="straightConnector1">
              <a:avLst/>
            </a:prstGeom>
            <a:noFill/>
            <a:ln cap="flat" cmpd="sng" w="8125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1" name="Google Shape;1231;p22"/>
            <p:cNvCxnSpPr/>
            <p:nvPr/>
          </p:nvCxnSpPr>
          <p:spPr>
            <a:xfrm flipH="1" rot="10800000">
              <a:off x="6283850" y="3414388"/>
              <a:ext cx="331200" cy="538200"/>
            </a:xfrm>
            <a:prstGeom prst="straightConnector1">
              <a:avLst/>
            </a:prstGeom>
            <a:noFill/>
            <a:ln cap="flat" cmpd="sng" w="8125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2" name="Google Shape;1232;p22"/>
            <p:cNvCxnSpPr/>
            <p:nvPr/>
          </p:nvCxnSpPr>
          <p:spPr>
            <a:xfrm rot="-6341247">
              <a:off x="6292767" y="3448055"/>
              <a:ext cx="439366" cy="530916"/>
            </a:xfrm>
            <a:prstGeom prst="straightConnector1">
              <a:avLst/>
            </a:prstGeom>
            <a:noFill/>
            <a:ln cap="flat" cmpd="sng" w="8125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3" name="Google Shape;1233;p22"/>
            <p:cNvCxnSpPr/>
            <p:nvPr/>
          </p:nvCxnSpPr>
          <p:spPr>
            <a:xfrm rot="-6340423">
              <a:off x="6351293" y="3538944"/>
              <a:ext cx="399765" cy="505388"/>
            </a:xfrm>
            <a:prstGeom prst="straightConnector1">
              <a:avLst/>
            </a:prstGeom>
            <a:noFill/>
            <a:ln cap="flat" cmpd="sng" w="8125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4" name="Google Shape;1234;p22"/>
            <p:cNvCxnSpPr/>
            <p:nvPr/>
          </p:nvCxnSpPr>
          <p:spPr>
            <a:xfrm rot="-6340407">
              <a:off x="6404298" y="3607469"/>
              <a:ext cx="382004" cy="494187"/>
            </a:xfrm>
            <a:prstGeom prst="straightConnector1">
              <a:avLst/>
            </a:prstGeom>
            <a:noFill/>
            <a:ln cap="flat" cmpd="sng" w="8125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5" name="Google Shape;1235;p22"/>
            <p:cNvCxnSpPr/>
            <p:nvPr/>
          </p:nvCxnSpPr>
          <p:spPr>
            <a:xfrm rot="-6341762">
              <a:off x="6466915" y="3656902"/>
              <a:ext cx="369270" cy="483371"/>
            </a:xfrm>
            <a:prstGeom prst="straightConnector1">
              <a:avLst/>
            </a:prstGeom>
            <a:noFill/>
            <a:ln cap="flat" cmpd="sng" w="8125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36" name="Google Shape;1236;p22"/>
          <p:cNvGrpSpPr/>
          <p:nvPr/>
        </p:nvGrpSpPr>
        <p:grpSpPr>
          <a:xfrm rot="-7747678">
            <a:off x="6713808" y="5451802"/>
            <a:ext cx="917135" cy="927853"/>
            <a:chOff x="5893568" y="3081812"/>
            <a:chExt cx="1184774" cy="1198522"/>
          </a:xfrm>
        </p:grpSpPr>
        <p:grpSp>
          <p:nvGrpSpPr>
            <p:cNvPr id="1237" name="Google Shape;1237;p22"/>
            <p:cNvGrpSpPr/>
            <p:nvPr/>
          </p:nvGrpSpPr>
          <p:grpSpPr>
            <a:xfrm rot="-2553858">
              <a:off x="6121452" y="3202192"/>
              <a:ext cx="729006" cy="957763"/>
              <a:chOff x="6057691" y="2542624"/>
              <a:chExt cx="729025" cy="957787"/>
            </a:xfrm>
          </p:grpSpPr>
          <p:cxnSp>
            <p:nvCxnSpPr>
              <p:cNvPr id="1238" name="Google Shape;1238;p22"/>
              <p:cNvCxnSpPr/>
              <p:nvPr/>
            </p:nvCxnSpPr>
            <p:spPr>
              <a:xfrm flipH="1" rot="-8246357">
                <a:off x="6228918" y="2725045"/>
                <a:ext cx="588139" cy="125058"/>
              </a:xfrm>
              <a:prstGeom prst="straightConnector1">
                <a:avLst/>
              </a:prstGeom>
              <a:noFill/>
              <a:ln cap="flat" cmpd="sng" w="22125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239" name="Google Shape;1239;p22"/>
              <p:cNvCxnSpPr/>
              <p:nvPr/>
            </p:nvCxnSpPr>
            <p:spPr>
              <a:xfrm flipH="1" rot="10800000">
                <a:off x="6097647" y="3383711"/>
                <a:ext cx="594300" cy="116700"/>
              </a:xfrm>
              <a:prstGeom prst="straightConnector1">
                <a:avLst/>
              </a:prstGeom>
              <a:noFill/>
              <a:ln cap="flat" cmpd="sng" w="22125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240" name="Google Shape;1240;p22"/>
              <p:cNvSpPr/>
              <p:nvPr/>
            </p:nvSpPr>
            <p:spPr>
              <a:xfrm>
                <a:off x="6057691" y="2616591"/>
                <a:ext cx="202398" cy="870834"/>
              </a:xfrm>
              <a:custGeom>
                <a:rect b="b" l="l" r="r" t="t"/>
                <a:pathLst>
                  <a:path extrusionOk="0" h="29905" w="4740">
                    <a:moveTo>
                      <a:pt x="1229" y="29905"/>
                    </a:moveTo>
                    <a:cubicBezTo>
                      <a:pt x="-1533" y="20256"/>
                      <a:pt x="780" y="9222"/>
                      <a:pt x="4741" y="0"/>
                    </a:cubicBezTo>
                  </a:path>
                </a:pathLst>
              </a:custGeom>
              <a:noFill/>
              <a:ln cap="flat" cmpd="sng" w="22125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241" name="Google Shape;1241;p22"/>
              <p:cNvSpPr/>
              <p:nvPr/>
            </p:nvSpPr>
            <p:spPr>
              <a:xfrm>
                <a:off x="6679189" y="2926345"/>
                <a:ext cx="107527" cy="463154"/>
              </a:xfrm>
              <a:custGeom>
                <a:rect b="b" l="l" r="r" t="t"/>
                <a:pathLst>
                  <a:path extrusionOk="0" h="29905" w="4740">
                    <a:moveTo>
                      <a:pt x="1229" y="29905"/>
                    </a:moveTo>
                    <a:cubicBezTo>
                      <a:pt x="-1533" y="20256"/>
                      <a:pt x="780" y="9222"/>
                      <a:pt x="4741" y="0"/>
                    </a:cubicBezTo>
                  </a:path>
                </a:pathLst>
              </a:custGeom>
              <a:noFill/>
              <a:ln cap="flat" cmpd="sng" w="22125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cxnSp>
          <p:nvCxnSpPr>
            <p:cNvPr id="1242" name="Google Shape;1242;p22"/>
            <p:cNvCxnSpPr/>
            <p:nvPr/>
          </p:nvCxnSpPr>
          <p:spPr>
            <a:xfrm flipH="1" rot="10800000">
              <a:off x="6147225" y="3487550"/>
              <a:ext cx="109200" cy="1746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3" name="Google Shape;1243;p22"/>
            <p:cNvCxnSpPr/>
            <p:nvPr/>
          </p:nvCxnSpPr>
          <p:spPr>
            <a:xfrm flipH="1" rot="10800000">
              <a:off x="6173600" y="3466000"/>
              <a:ext cx="183000" cy="2856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4" name="Google Shape;1244;p22"/>
            <p:cNvCxnSpPr/>
            <p:nvPr/>
          </p:nvCxnSpPr>
          <p:spPr>
            <a:xfrm flipH="1" rot="10800000">
              <a:off x="6209650" y="3456063"/>
              <a:ext cx="228600" cy="3618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5" name="Google Shape;1245;p22"/>
            <p:cNvCxnSpPr/>
            <p:nvPr/>
          </p:nvCxnSpPr>
          <p:spPr>
            <a:xfrm flipH="1" rot="10800000">
              <a:off x="6241950" y="3433763"/>
              <a:ext cx="283500" cy="4476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6" name="Google Shape;1246;p22"/>
            <p:cNvCxnSpPr/>
            <p:nvPr/>
          </p:nvCxnSpPr>
          <p:spPr>
            <a:xfrm flipH="1" rot="10800000">
              <a:off x="6283850" y="3414388"/>
              <a:ext cx="331200" cy="5382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7" name="Google Shape;1247;p22"/>
            <p:cNvCxnSpPr/>
            <p:nvPr/>
          </p:nvCxnSpPr>
          <p:spPr>
            <a:xfrm flipH="1" rot="10800000">
              <a:off x="6322550" y="3425213"/>
              <a:ext cx="367500" cy="5910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8" name="Google Shape;1248;p22"/>
            <p:cNvCxnSpPr/>
            <p:nvPr/>
          </p:nvCxnSpPr>
          <p:spPr>
            <a:xfrm flipH="1" rot="10800000">
              <a:off x="6367875" y="3522238"/>
              <a:ext cx="351600" cy="5487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49" name="Google Shape;1249;p22"/>
            <p:cNvCxnSpPr/>
            <p:nvPr/>
          </p:nvCxnSpPr>
          <p:spPr>
            <a:xfrm flipH="1" rot="10800000">
              <a:off x="6414850" y="3600463"/>
              <a:ext cx="346500" cy="5229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0" name="Google Shape;1250;p22"/>
            <p:cNvCxnSpPr/>
            <p:nvPr/>
          </p:nvCxnSpPr>
          <p:spPr>
            <a:xfrm flipH="1" rot="10800000">
              <a:off x="6474550" y="3673138"/>
              <a:ext cx="328800" cy="4863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1" name="Google Shape;1251;p22"/>
            <p:cNvCxnSpPr/>
            <p:nvPr/>
          </p:nvCxnSpPr>
          <p:spPr>
            <a:xfrm flipH="1" rot="10800000">
              <a:off x="6525450" y="3712838"/>
              <a:ext cx="328800" cy="4863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52" name="Google Shape;1252;p22"/>
          <p:cNvGrpSpPr/>
          <p:nvPr/>
        </p:nvGrpSpPr>
        <p:grpSpPr>
          <a:xfrm>
            <a:off x="7438542" y="5030383"/>
            <a:ext cx="1435621" cy="519947"/>
            <a:chOff x="8548175" y="2668550"/>
            <a:chExt cx="1435621" cy="519947"/>
          </a:xfrm>
        </p:grpSpPr>
        <p:sp>
          <p:nvSpPr>
            <p:cNvPr id="1253" name="Google Shape;1253;p22"/>
            <p:cNvSpPr txBox="1"/>
            <p:nvPr/>
          </p:nvSpPr>
          <p:spPr>
            <a:xfrm>
              <a:off x="8548175" y="2668550"/>
              <a:ext cx="672300" cy="29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60">
                  <a:solidFill>
                    <a:schemeClr val="dk2"/>
                  </a:solidFill>
                </a:rPr>
                <a:t>Legend</a:t>
              </a:r>
              <a:endParaRPr b="1" sz="860">
                <a:solidFill>
                  <a:schemeClr val="dk2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0">
                <a:solidFill>
                  <a:schemeClr val="dk2"/>
                </a:solidFill>
              </a:endParaRPr>
            </a:p>
          </p:txBody>
        </p:sp>
        <p:sp>
          <p:nvSpPr>
            <p:cNvPr id="1254" name="Google Shape;1254;p22"/>
            <p:cNvSpPr/>
            <p:nvPr/>
          </p:nvSpPr>
          <p:spPr>
            <a:xfrm>
              <a:off x="8698150" y="2959475"/>
              <a:ext cx="146700" cy="141900"/>
            </a:xfrm>
            <a:prstGeom prst="rect">
              <a:avLst/>
            </a:prstGeom>
            <a:noFill/>
            <a:ln cap="flat" cmpd="sng" w="9525">
              <a:solidFill>
                <a:srgbClr val="93C4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22"/>
            <p:cNvSpPr txBox="1"/>
            <p:nvPr/>
          </p:nvSpPr>
          <p:spPr>
            <a:xfrm>
              <a:off x="8795496" y="2871397"/>
              <a:ext cx="1188300" cy="3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60">
                  <a:solidFill>
                    <a:schemeClr val="dk2"/>
                  </a:solidFill>
                </a:rPr>
                <a:t>Reused material</a:t>
              </a:r>
              <a:endParaRPr sz="860">
                <a:solidFill>
                  <a:schemeClr val="dk2"/>
                </a:solidFill>
              </a:endParaRPr>
            </a:p>
          </p:txBody>
        </p:sp>
        <p:cxnSp>
          <p:nvCxnSpPr>
            <p:cNvPr id="1256" name="Google Shape;1256;p22"/>
            <p:cNvCxnSpPr>
              <a:stCxn id="1254" idx="1"/>
            </p:cNvCxnSpPr>
            <p:nvPr/>
          </p:nvCxnSpPr>
          <p:spPr>
            <a:xfrm flipH="1" rot="10800000">
              <a:off x="8698150" y="2959625"/>
              <a:ext cx="73500" cy="70800"/>
            </a:xfrm>
            <a:prstGeom prst="straightConnector1">
              <a:avLst/>
            </a:prstGeom>
            <a:noFill/>
            <a:ln cap="flat" cmpd="sng" w="9525">
              <a:solidFill>
                <a:srgbClr val="93C47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7" name="Google Shape;1257;p22"/>
            <p:cNvCxnSpPr/>
            <p:nvPr/>
          </p:nvCxnSpPr>
          <p:spPr>
            <a:xfrm flipH="1" rot="10800000">
              <a:off x="8698150" y="2963225"/>
              <a:ext cx="146400" cy="138000"/>
            </a:xfrm>
            <a:prstGeom prst="straightConnector1">
              <a:avLst/>
            </a:prstGeom>
            <a:noFill/>
            <a:ln cap="flat" cmpd="sng" w="9525">
              <a:solidFill>
                <a:srgbClr val="93C47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58" name="Google Shape;1258;p22"/>
            <p:cNvCxnSpPr/>
            <p:nvPr/>
          </p:nvCxnSpPr>
          <p:spPr>
            <a:xfrm flipH="1" rot="10800000">
              <a:off x="8771650" y="3030425"/>
              <a:ext cx="73500" cy="70800"/>
            </a:xfrm>
            <a:prstGeom prst="straightConnector1">
              <a:avLst/>
            </a:prstGeom>
            <a:noFill/>
            <a:ln cap="flat" cmpd="sng" w="9525">
              <a:solidFill>
                <a:srgbClr val="93C47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59" name="Google Shape;1259;p22"/>
          <p:cNvGrpSpPr/>
          <p:nvPr/>
        </p:nvGrpSpPr>
        <p:grpSpPr>
          <a:xfrm>
            <a:off x="7593906" y="5462204"/>
            <a:ext cx="1964213" cy="315600"/>
            <a:chOff x="8698150" y="2879721"/>
            <a:chExt cx="1964213" cy="315600"/>
          </a:xfrm>
        </p:grpSpPr>
        <p:sp>
          <p:nvSpPr>
            <p:cNvPr id="1260" name="Google Shape;1260;p22"/>
            <p:cNvSpPr/>
            <p:nvPr/>
          </p:nvSpPr>
          <p:spPr>
            <a:xfrm>
              <a:off x="8698150" y="2959475"/>
              <a:ext cx="146700" cy="141900"/>
            </a:xfrm>
            <a:prstGeom prst="rect">
              <a:avLst/>
            </a:prstGeom>
            <a:noFill/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22"/>
            <p:cNvSpPr txBox="1"/>
            <p:nvPr/>
          </p:nvSpPr>
          <p:spPr>
            <a:xfrm>
              <a:off x="8806563" y="2879721"/>
              <a:ext cx="1855800" cy="3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chemeClr val="dk2"/>
                  </a:solidFill>
                </a:rPr>
                <a:t>Limited availability</a:t>
              </a:r>
              <a:endParaRPr sz="850">
                <a:solidFill>
                  <a:schemeClr val="dk2"/>
                </a:solidFill>
              </a:endParaRPr>
            </a:p>
          </p:txBody>
        </p:sp>
        <p:cxnSp>
          <p:nvCxnSpPr>
            <p:cNvPr id="1262" name="Google Shape;1262;p22"/>
            <p:cNvCxnSpPr>
              <a:stCxn id="1260" idx="1"/>
            </p:cNvCxnSpPr>
            <p:nvPr/>
          </p:nvCxnSpPr>
          <p:spPr>
            <a:xfrm flipH="1" rot="10800000">
              <a:off x="8698150" y="2959625"/>
              <a:ext cx="73500" cy="70800"/>
            </a:xfrm>
            <a:prstGeom prst="straightConnector1">
              <a:avLst/>
            </a:prstGeom>
            <a:noFill/>
            <a:ln cap="flat" cmpd="sng" w="9525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3" name="Google Shape;1263;p22"/>
            <p:cNvCxnSpPr/>
            <p:nvPr/>
          </p:nvCxnSpPr>
          <p:spPr>
            <a:xfrm flipH="1" rot="10800000">
              <a:off x="8698150" y="2963225"/>
              <a:ext cx="146400" cy="138000"/>
            </a:xfrm>
            <a:prstGeom prst="straightConnector1">
              <a:avLst/>
            </a:prstGeom>
            <a:noFill/>
            <a:ln cap="flat" cmpd="sng" w="9525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64" name="Google Shape;1264;p22"/>
            <p:cNvCxnSpPr/>
            <p:nvPr/>
          </p:nvCxnSpPr>
          <p:spPr>
            <a:xfrm flipH="1" rot="10800000">
              <a:off x="8771650" y="3030425"/>
              <a:ext cx="73500" cy="70800"/>
            </a:xfrm>
            <a:prstGeom prst="straightConnector1">
              <a:avLst/>
            </a:prstGeom>
            <a:noFill/>
            <a:ln cap="flat" cmpd="sng" w="9525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265" name="Google Shape;1265;p22"/>
          <p:cNvGrpSpPr/>
          <p:nvPr/>
        </p:nvGrpSpPr>
        <p:grpSpPr>
          <a:xfrm>
            <a:off x="8834336" y="7111675"/>
            <a:ext cx="4557232" cy="618331"/>
            <a:chOff x="4268193" y="552116"/>
            <a:chExt cx="6213843" cy="697025"/>
          </a:xfrm>
        </p:grpSpPr>
        <p:sp>
          <p:nvSpPr>
            <p:cNvPr id="1266" name="Google Shape;1266;p22"/>
            <p:cNvSpPr/>
            <p:nvPr/>
          </p:nvSpPr>
          <p:spPr>
            <a:xfrm>
              <a:off x="6760562" y="609015"/>
              <a:ext cx="3546300" cy="255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8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1100" lIns="81100" spcFirstLastPara="1" rIns="81100" wrap="square" tIns="811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41"/>
            </a:p>
          </p:txBody>
        </p:sp>
        <p:sp>
          <p:nvSpPr>
            <p:cNvPr id="1267" name="Google Shape;1267;p22"/>
            <p:cNvSpPr txBox="1"/>
            <p:nvPr/>
          </p:nvSpPr>
          <p:spPr>
            <a:xfrm>
              <a:off x="4268193" y="552116"/>
              <a:ext cx="28551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100" lIns="81100" spcFirstLastPara="1" rIns="81100" wrap="square" tIns="8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86">
                  <a:solidFill>
                    <a:srgbClr val="B7B7B7"/>
                  </a:solidFill>
                </a:rPr>
                <a:t>CONSTRUCTION YEAR</a:t>
              </a:r>
              <a:endParaRPr b="1" sz="1186">
                <a:solidFill>
                  <a:srgbClr val="B7B7B7"/>
                </a:solidFill>
              </a:endParaRPr>
            </a:p>
          </p:txBody>
        </p:sp>
        <p:sp>
          <p:nvSpPr>
            <p:cNvPr id="1268" name="Google Shape;1268;p22"/>
            <p:cNvSpPr txBox="1"/>
            <p:nvPr/>
          </p:nvSpPr>
          <p:spPr>
            <a:xfrm>
              <a:off x="6732035" y="810841"/>
              <a:ext cx="37500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100" lIns="81100" spcFirstLastPara="1" rIns="81100" wrap="square" tIns="8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20">
                  <a:solidFill>
                    <a:schemeClr val="dk2"/>
                  </a:solidFill>
                </a:rPr>
                <a:t>2020	2030	2040	2050	2060	2070</a:t>
              </a:r>
              <a:endParaRPr sz="620">
                <a:solidFill>
                  <a:schemeClr val="dk2"/>
                </a:solidFill>
              </a:endParaRPr>
            </a:p>
          </p:txBody>
        </p:sp>
        <p:sp>
          <p:nvSpPr>
            <p:cNvPr id="1269" name="Google Shape;1269;p22"/>
            <p:cNvSpPr/>
            <p:nvPr/>
          </p:nvSpPr>
          <p:spPr>
            <a:xfrm>
              <a:off x="6766012" y="605859"/>
              <a:ext cx="1957500" cy="255600"/>
            </a:xfrm>
            <a:prstGeom prst="roundRect">
              <a:avLst>
                <a:gd fmla="val 16667" name="adj"/>
              </a:avLst>
            </a:prstGeom>
            <a:solidFill>
              <a:srgbClr val="AAD3E0"/>
            </a:solidFill>
            <a:ln cap="flat" cmpd="sng" w="8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1100" lIns="81100" spcFirstLastPara="1" rIns="81100" wrap="square" tIns="811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41"/>
            </a:p>
          </p:txBody>
        </p:sp>
      </p:grpSp>
      <p:pic>
        <p:nvPicPr>
          <p:cNvPr id="1270" name="Google Shape;1270;p22" title="Chart"/>
          <p:cNvPicPr preferRelativeResize="0"/>
          <p:nvPr/>
        </p:nvPicPr>
        <p:blipFill rotWithShape="1">
          <a:blip r:embed="rId12">
            <a:alphaModFix/>
          </a:blip>
          <a:srcRect b="0" l="17945" r="0" t="0"/>
          <a:stretch/>
        </p:blipFill>
        <p:spPr>
          <a:xfrm>
            <a:off x="7521449" y="6050600"/>
            <a:ext cx="1076499" cy="811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1" name="Google Shape;1271;p22" title="Chart"/>
          <p:cNvPicPr preferRelativeResize="0"/>
          <p:nvPr/>
        </p:nvPicPr>
        <p:blipFill rotWithShape="1">
          <a:blip r:embed="rId12">
            <a:alphaModFix/>
          </a:blip>
          <a:srcRect b="0" l="17945" r="0" t="0"/>
          <a:stretch/>
        </p:blipFill>
        <p:spPr>
          <a:xfrm>
            <a:off x="7521449" y="2836275"/>
            <a:ext cx="1076499" cy="811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23"/>
          <p:cNvSpPr/>
          <p:nvPr/>
        </p:nvSpPr>
        <p:spPr>
          <a:xfrm>
            <a:off x="8938762" y="1239935"/>
            <a:ext cx="4335900" cy="2481000"/>
          </a:xfrm>
          <a:prstGeom prst="rect">
            <a:avLst/>
          </a:prstGeom>
          <a:noFill/>
          <a:ln cap="flat" cmpd="sng" w="76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200" lIns="73200" spcFirstLastPara="1" rIns="73200" wrap="square" tIns="732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20"/>
          </a:p>
        </p:txBody>
      </p:sp>
      <p:pic>
        <p:nvPicPr>
          <p:cNvPr id="1277" name="Google Shape;1277;p23" title="Chart"/>
          <p:cNvPicPr preferRelativeResize="0"/>
          <p:nvPr/>
        </p:nvPicPr>
        <p:blipFill rotWithShape="1">
          <a:blip r:embed="rId4">
            <a:alphaModFix/>
          </a:blip>
          <a:srcRect b="0" l="0" r="0" t="11143"/>
          <a:stretch/>
        </p:blipFill>
        <p:spPr>
          <a:xfrm>
            <a:off x="4681700" y="1506280"/>
            <a:ext cx="3723375" cy="204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78" name="Google Shape;1278;p23"/>
          <p:cNvSpPr txBox="1"/>
          <p:nvPr>
            <p:ph type="ctrTitle"/>
          </p:nvPr>
        </p:nvSpPr>
        <p:spPr>
          <a:xfrm rot="-5400000">
            <a:off x="-4744350" y="3581200"/>
            <a:ext cx="8572500" cy="916200"/>
          </a:xfrm>
          <a:prstGeom prst="rect">
            <a:avLst/>
          </a:prstGeom>
        </p:spPr>
        <p:txBody>
          <a:bodyPr anchorCtr="0" anchor="b" bIns="140175" lIns="140175" spcFirstLastPara="1" rIns="140175" wrap="square" tIns="14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000"/>
              <a:t>MATERIAL AVAILABILITY CHOROPLETH</a:t>
            </a:r>
            <a:endParaRPr sz="3000"/>
          </a:p>
        </p:txBody>
      </p:sp>
      <p:cxnSp>
        <p:nvCxnSpPr>
          <p:cNvPr id="1279" name="Google Shape;1279;p23"/>
          <p:cNvCxnSpPr>
            <a:stCxn id="1280" idx="1"/>
          </p:cNvCxnSpPr>
          <p:nvPr/>
        </p:nvCxnSpPr>
        <p:spPr>
          <a:xfrm>
            <a:off x="1921100" y="232040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81" name="Google Shape;1281;p23"/>
          <p:cNvSpPr/>
          <p:nvPr/>
        </p:nvSpPr>
        <p:spPr>
          <a:xfrm>
            <a:off x="322450" y="1045650"/>
            <a:ext cx="3608700" cy="43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0175" lIns="140175" spcFirstLastPara="1" rIns="140175" wrap="square" tIns="140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999999"/>
                </a:solidFill>
              </a:rPr>
              <a:t>       Ventura County, CA</a:t>
            </a:r>
            <a:endParaRPr sz="1500">
              <a:solidFill>
                <a:srgbClr val="999999"/>
              </a:solidFill>
            </a:endParaRPr>
          </a:p>
        </p:txBody>
      </p:sp>
      <p:pic>
        <p:nvPicPr>
          <p:cNvPr id="1282" name="Google Shape;1282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0625" y="1067100"/>
            <a:ext cx="388875" cy="38887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283" name="Google Shape;1283;p23"/>
          <p:cNvSpPr/>
          <p:nvPr/>
        </p:nvSpPr>
        <p:spPr>
          <a:xfrm>
            <a:off x="2459334" y="1900354"/>
            <a:ext cx="167100" cy="101400"/>
          </a:xfrm>
          <a:prstGeom prst="triangle">
            <a:avLst>
              <a:gd fmla="val 50000" name="adj"/>
            </a:avLst>
          </a:prstGeom>
          <a:solidFill>
            <a:srgbClr val="B7B7B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0175" lIns="140175" spcFirstLastPara="1" rIns="140175" wrap="square" tIns="14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grpSp>
        <p:nvGrpSpPr>
          <p:cNvPr id="1284" name="Google Shape;1284;p23"/>
          <p:cNvGrpSpPr/>
          <p:nvPr/>
        </p:nvGrpSpPr>
        <p:grpSpPr>
          <a:xfrm>
            <a:off x="309438" y="1697506"/>
            <a:ext cx="4170545" cy="4407388"/>
            <a:chOff x="309438" y="1697506"/>
            <a:chExt cx="4170545" cy="4407388"/>
          </a:xfrm>
        </p:grpSpPr>
        <p:grpSp>
          <p:nvGrpSpPr>
            <p:cNvPr id="1285" name="Google Shape;1285;p23"/>
            <p:cNvGrpSpPr/>
            <p:nvPr/>
          </p:nvGrpSpPr>
          <p:grpSpPr>
            <a:xfrm>
              <a:off x="313773" y="4847330"/>
              <a:ext cx="4165083" cy="530564"/>
              <a:chOff x="313761" y="2357618"/>
              <a:chExt cx="4165083" cy="530564"/>
            </a:xfrm>
          </p:grpSpPr>
          <p:grpSp>
            <p:nvGrpSpPr>
              <p:cNvPr id="1286" name="Google Shape;1286;p23"/>
              <p:cNvGrpSpPr/>
              <p:nvPr/>
            </p:nvGrpSpPr>
            <p:grpSpPr>
              <a:xfrm>
                <a:off x="313788" y="2357618"/>
                <a:ext cx="4165056" cy="530564"/>
                <a:chOff x="314635" y="1491757"/>
                <a:chExt cx="2464093" cy="381728"/>
              </a:xfrm>
            </p:grpSpPr>
            <p:sp>
              <p:nvSpPr>
                <p:cNvPr id="1287" name="Google Shape;1287;p23"/>
                <p:cNvSpPr/>
                <p:nvPr/>
              </p:nvSpPr>
              <p:spPr>
                <a:xfrm>
                  <a:off x="314635" y="1532085"/>
                  <a:ext cx="2135100" cy="341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194825" lIns="194825" spcFirstLastPara="1" rIns="194825" wrap="square" tIns="1948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250">
                    <a:solidFill>
                      <a:schemeClr val="dk1"/>
                    </a:solidFill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250">
                    <a:solidFill>
                      <a:schemeClr val="dk1"/>
                    </a:solidFill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250">
                    <a:solidFill>
                      <a:schemeClr val="dk1"/>
                    </a:solidFill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250">
                    <a:solidFill>
                      <a:schemeClr val="dk1"/>
                    </a:solidFill>
                  </a:endParaRPr>
                </a:p>
              </p:txBody>
            </p:sp>
            <p:grpSp>
              <p:nvGrpSpPr>
                <p:cNvPr id="1288" name="Google Shape;1288;p23"/>
                <p:cNvGrpSpPr/>
                <p:nvPr/>
              </p:nvGrpSpPr>
              <p:grpSpPr>
                <a:xfrm>
                  <a:off x="1905750" y="1491757"/>
                  <a:ext cx="872978" cy="317400"/>
                  <a:chOff x="1905813" y="1491907"/>
                  <a:chExt cx="872978" cy="317400"/>
                </a:xfrm>
              </p:grpSpPr>
              <p:sp>
                <p:nvSpPr>
                  <p:cNvPr id="1289" name="Google Shape;1289;p23"/>
                  <p:cNvSpPr/>
                  <p:nvPr/>
                </p:nvSpPr>
                <p:spPr>
                  <a:xfrm rot="-10800000">
                    <a:off x="1905813" y="1608215"/>
                    <a:ext cx="421893" cy="181722"/>
                  </a:xfrm>
                  <a:prstGeom prst="flowChartMagneticDrum">
                    <a:avLst/>
                  </a:prstGeom>
                  <a:solidFill>
                    <a:srgbClr val="CCCCCC"/>
                  </a:solidFill>
                  <a:ln cap="flat" cmpd="sng" w="13250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194825" lIns="194825" spcFirstLastPara="1" rIns="194825" wrap="square" tIns="1948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918"/>
                  </a:p>
                </p:txBody>
              </p:sp>
              <p:sp>
                <p:nvSpPr>
                  <p:cNvPr id="1290" name="Google Shape;1290;p23"/>
                  <p:cNvSpPr/>
                  <p:nvPr/>
                </p:nvSpPr>
                <p:spPr>
                  <a:xfrm>
                    <a:off x="1905813" y="1605800"/>
                    <a:ext cx="153600" cy="181800"/>
                  </a:xfrm>
                  <a:prstGeom prst="ellipse">
                    <a:avLst/>
                  </a:prstGeom>
                  <a:solidFill>
                    <a:schemeClr val="lt1"/>
                  </a:solidFill>
                  <a:ln cap="flat" cmpd="sng" w="13250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194825" lIns="194825" spcFirstLastPara="1" rIns="194825" wrap="square" tIns="1948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918"/>
                  </a:p>
                </p:txBody>
              </p:sp>
              <p:sp>
                <p:nvSpPr>
                  <p:cNvPr id="1291" name="Google Shape;1291;p23"/>
                  <p:cNvSpPr txBox="1"/>
                  <p:nvPr/>
                </p:nvSpPr>
                <p:spPr>
                  <a:xfrm>
                    <a:off x="1962790" y="1491907"/>
                    <a:ext cx="816000" cy="317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194825" lIns="194825" spcFirstLastPara="1" rIns="194825" wrap="square" tIns="1948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1250">
                        <a:solidFill>
                          <a:schemeClr val="lt1"/>
                        </a:solidFill>
                      </a:rPr>
                      <a:t>Off</a:t>
                    </a:r>
                    <a:endParaRPr sz="1250">
                      <a:solidFill>
                        <a:schemeClr val="lt1"/>
                      </a:solidFill>
                    </a:endParaRPr>
                  </a:p>
                </p:txBody>
              </p:sp>
            </p:grpSp>
          </p:grpSp>
          <p:sp>
            <p:nvSpPr>
              <p:cNvPr id="1292" name="Google Shape;1292;p23"/>
              <p:cNvSpPr txBox="1"/>
              <p:nvPr/>
            </p:nvSpPr>
            <p:spPr>
              <a:xfrm>
                <a:off x="313761" y="2449239"/>
                <a:ext cx="2615400" cy="384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chemeClr val="dk1"/>
                    </a:solidFill>
                  </a:rPr>
                  <a:t>Material Availability Scenarios</a:t>
                </a:r>
                <a:endParaRPr b="1"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293" name="Google Shape;1293;p23"/>
            <p:cNvGrpSpPr/>
            <p:nvPr/>
          </p:nvGrpSpPr>
          <p:grpSpPr>
            <a:xfrm>
              <a:off x="309438" y="5570271"/>
              <a:ext cx="4170545" cy="534623"/>
              <a:chOff x="313750" y="2353562"/>
              <a:chExt cx="4170545" cy="534623"/>
            </a:xfrm>
          </p:grpSpPr>
          <p:grpSp>
            <p:nvGrpSpPr>
              <p:cNvPr id="1294" name="Google Shape;1294;p23"/>
              <p:cNvGrpSpPr/>
              <p:nvPr/>
            </p:nvGrpSpPr>
            <p:grpSpPr>
              <a:xfrm>
                <a:off x="313775" y="2353562"/>
                <a:ext cx="4170520" cy="534623"/>
                <a:chOff x="314627" y="1488838"/>
                <a:chExt cx="2467325" cy="384649"/>
              </a:xfrm>
            </p:grpSpPr>
            <p:sp>
              <p:nvSpPr>
                <p:cNvPr id="1295" name="Google Shape;1295;p23"/>
                <p:cNvSpPr/>
                <p:nvPr/>
              </p:nvSpPr>
              <p:spPr>
                <a:xfrm>
                  <a:off x="314627" y="1532087"/>
                  <a:ext cx="2135100" cy="341400"/>
                </a:xfrm>
                <a:prstGeom prst="rect">
                  <a:avLst/>
                </a:prstGeom>
                <a:solidFill>
                  <a:schemeClr val="lt1"/>
                </a:solidFill>
                <a:ln cap="flat" cmpd="sng" w="9525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194825" lIns="194825" spcFirstLastPara="1" rIns="194825" wrap="square" tIns="1948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250">
                    <a:solidFill>
                      <a:schemeClr val="dk1"/>
                    </a:solidFill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250">
                    <a:solidFill>
                      <a:schemeClr val="dk1"/>
                    </a:solidFill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250">
                    <a:solidFill>
                      <a:schemeClr val="dk1"/>
                    </a:solidFill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b="1" sz="1250">
                    <a:solidFill>
                      <a:schemeClr val="dk1"/>
                    </a:solidFill>
                  </a:endParaRPr>
                </a:p>
              </p:txBody>
            </p:sp>
            <p:grpSp>
              <p:nvGrpSpPr>
                <p:cNvPr id="1296" name="Google Shape;1296;p23"/>
                <p:cNvGrpSpPr/>
                <p:nvPr/>
              </p:nvGrpSpPr>
              <p:grpSpPr>
                <a:xfrm>
                  <a:off x="1905750" y="1488838"/>
                  <a:ext cx="876202" cy="317400"/>
                  <a:chOff x="1905813" y="1488988"/>
                  <a:chExt cx="876202" cy="317400"/>
                </a:xfrm>
              </p:grpSpPr>
              <p:sp>
                <p:nvSpPr>
                  <p:cNvPr id="1297" name="Google Shape;1297;p23"/>
                  <p:cNvSpPr/>
                  <p:nvPr/>
                </p:nvSpPr>
                <p:spPr>
                  <a:xfrm rot="-10800000">
                    <a:off x="1905813" y="1608215"/>
                    <a:ext cx="421893" cy="181722"/>
                  </a:xfrm>
                  <a:prstGeom prst="flowChartMagneticDrum">
                    <a:avLst/>
                  </a:prstGeom>
                  <a:solidFill>
                    <a:srgbClr val="CCCCCC"/>
                  </a:solidFill>
                  <a:ln cap="flat" cmpd="sng" w="13250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194825" lIns="194825" spcFirstLastPara="1" rIns="194825" wrap="square" tIns="1948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918"/>
                  </a:p>
                </p:txBody>
              </p:sp>
              <p:sp>
                <p:nvSpPr>
                  <p:cNvPr id="1298" name="Google Shape;1298;p23"/>
                  <p:cNvSpPr/>
                  <p:nvPr/>
                </p:nvSpPr>
                <p:spPr>
                  <a:xfrm>
                    <a:off x="1905813" y="1605800"/>
                    <a:ext cx="153600" cy="181800"/>
                  </a:xfrm>
                  <a:prstGeom prst="ellipse">
                    <a:avLst/>
                  </a:prstGeom>
                  <a:solidFill>
                    <a:schemeClr val="lt1"/>
                  </a:solidFill>
                  <a:ln cap="flat" cmpd="sng" w="13250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194825" lIns="194825" spcFirstLastPara="1" rIns="194825" wrap="square" tIns="194825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918"/>
                  </a:p>
                </p:txBody>
              </p:sp>
              <p:sp>
                <p:nvSpPr>
                  <p:cNvPr id="1299" name="Google Shape;1299;p23"/>
                  <p:cNvSpPr txBox="1"/>
                  <p:nvPr/>
                </p:nvSpPr>
                <p:spPr>
                  <a:xfrm>
                    <a:off x="1966015" y="1488988"/>
                    <a:ext cx="816000" cy="317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194825" lIns="194825" spcFirstLastPara="1" rIns="194825" wrap="square" tIns="1948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1250">
                        <a:solidFill>
                          <a:schemeClr val="lt1"/>
                        </a:solidFill>
                      </a:rPr>
                      <a:t>Off</a:t>
                    </a:r>
                    <a:endParaRPr sz="1250">
                      <a:solidFill>
                        <a:schemeClr val="lt1"/>
                      </a:solidFill>
                    </a:endParaRPr>
                  </a:p>
                </p:txBody>
              </p:sp>
            </p:grpSp>
          </p:grpSp>
          <p:sp>
            <p:nvSpPr>
              <p:cNvPr id="1300" name="Google Shape;1300;p23"/>
              <p:cNvSpPr txBox="1"/>
              <p:nvPr/>
            </p:nvSpPr>
            <p:spPr>
              <a:xfrm>
                <a:off x="313750" y="2449250"/>
                <a:ext cx="3000000" cy="400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>
                    <a:solidFill>
                      <a:schemeClr val="dk1"/>
                    </a:solidFill>
                  </a:rPr>
                  <a:t>Alternative Materials</a:t>
                </a:r>
                <a:endParaRPr b="1">
                  <a:solidFill>
                    <a:schemeClr val="dk1"/>
                  </a:solidFill>
                </a:endParaRPr>
              </a:p>
            </p:txBody>
          </p:sp>
        </p:grpSp>
        <p:sp>
          <p:nvSpPr>
            <p:cNvPr id="1301" name="Google Shape;1301;p23"/>
            <p:cNvSpPr/>
            <p:nvPr/>
          </p:nvSpPr>
          <p:spPr>
            <a:xfrm>
              <a:off x="319850" y="1697506"/>
              <a:ext cx="3608700" cy="29298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40175" lIns="140175" spcFirstLastPara="1" rIns="140175" wrap="square" tIns="1401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Building Specifications</a:t>
              </a:r>
              <a:endParaRPr b="1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300">
                  <a:solidFill>
                    <a:srgbClr val="666666"/>
                  </a:solidFill>
                </a:rPr>
                <a:t>         </a:t>
              </a:r>
              <a:endParaRPr sz="13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100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666666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1300">
                <a:solidFill>
                  <a:srgbClr val="666666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13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i="1" sz="13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rgbClr val="666666"/>
                </a:solidFill>
              </a:endParaRPr>
            </a:p>
          </p:txBody>
        </p:sp>
        <p:sp>
          <p:nvSpPr>
            <p:cNvPr id="1302" name="Google Shape;1302;p23"/>
            <p:cNvSpPr/>
            <p:nvPr/>
          </p:nvSpPr>
          <p:spPr>
            <a:xfrm>
              <a:off x="501850" y="4122119"/>
              <a:ext cx="3249900" cy="332100"/>
            </a:xfrm>
            <a:prstGeom prst="roundRect">
              <a:avLst>
                <a:gd fmla="val 16667" name="adj"/>
              </a:avLst>
            </a:prstGeom>
            <a:solidFill>
              <a:srgbClr val="AAD3E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300">
                  <a:solidFill>
                    <a:srgbClr val="666666"/>
                  </a:solidFill>
                </a:rPr>
                <a:t>Estimate material demands and cost</a:t>
              </a:r>
              <a:endParaRPr/>
            </a:p>
          </p:txBody>
        </p:sp>
        <p:sp>
          <p:nvSpPr>
            <p:cNvPr id="1303" name="Google Shape;1303;p23"/>
            <p:cNvSpPr/>
            <p:nvPr/>
          </p:nvSpPr>
          <p:spPr>
            <a:xfrm>
              <a:off x="2975093" y="2085491"/>
              <a:ext cx="738600" cy="25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666666"/>
                  </a:solidFill>
                </a:rPr>
                <a:t>Reuse </a:t>
              </a:r>
              <a:endParaRPr sz="900">
                <a:solidFill>
                  <a:srgbClr val="666666"/>
                </a:solidFill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rgbClr val="666666"/>
                  </a:solidFill>
                </a:rPr>
                <a:t>materials?</a:t>
              </a:r>
              <a:endParaRPr sz="900">
                <a:solidFill>
                  <a:srgbClr val="666666"/>
                </a:solidFill>
              </a:endParaRPr>
            </a:p>
          </p:txBody>
        </p:sp>
        <p:grpSp>
          <p:nvGrpSpPr>
            <p:cNvPr id="1304" name="Google Shape;1304;p23"/>
            <p:cNvGrpSpPr/>
            <p:nvPr/>
          </p:nvGrpSpPr>
          <p:grpSpPr>
            <a:xfrm>
              <a:off x="697213" y="2405891"/>
              <a:ext cx="3106838" cy="610955"/>
              <a:chOff x="697213" y="2331245"/>
              <a:chExt cx="3106838" cy="610955"/>
            </a:xfrm>
          </p:grpSpPr>
          <p:grpSp>
            <p:nvGrpSpPr>
              <p:cNvPr id="1305" name="Google Shape;1305;p23"/>
              <p:cNvGrpSpPr/>
              <p:nvPr/>
            </p:nvGrpSpPr>
            <p:grpSpPr>
              <a:xfrm>
                <a:off x="3587150" y="2696772"/>
                <a:ext cx="216900" cy="218100"/>
                <a:chOff x="3592625" y="2190625"/>
                <a:chExt cx="216900" cy="218100"/>
              </a:xfrm>
            </p:grpSpPr>
            <p:cxnSp>
              <p:nvCxnSpPr>
                <p:cNvPr id="1306" name="Google Shape;1306;p23"/>
                <p:cNvCxnSpPr/>
                <p:nvPr/>
              </p:nvCxnSpPr>
              <p:spPr>
                <a:xfrm flipH="1">
                  <a:off x="3700925" y="2190625"/>
                  <a:ext cx="300" cy="218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07" name="Google Shape;1307;p23"/>
                <p:cNvCxnSpPr/>
                <p:nvPr/>
              </p:nvCxnSpPr>
              <p:spPr>
                <a:xfrm>
                  <a:off x="3592625" y="2297875"/>
                  <a:ext cx="216900" cy="36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308" name="Google Shape;1308;p23"/>
              <p:cNvSpPr/>
              <p:nvPr/>
            </p:nvSpPr>
            <p:spPr>
              <a:xfrm>
                <a:off x="697213" y="2331250"/>
                <a:ext cx="1276800" cy="2556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666666"/>
                    </a:solidFill>
                  </a:rPr>
                  <a:t>Health services</a:t>
                </a:r>
                <a:endParaRPr sz="1000">
                  <a:solidFill>
                    <a:srgbClr val="666666"/>
                  </a:solidFill>
                </a:endParaRPr>
              </a:p>
            </p:txBody>
          </p:sp>
          <p:sp>
            <p:nvSpPr>
              <p:cNvPr id="1309" name="Google Shape;1309;p23"/>
              <p:cNvSpPr/>
              <p:nvPr/>
            </p:nvSpPr>
            <p:spPr>
              <a:xfrm>
                <a:off x="2041578" y="2331281"/>
                <a:ext cx="1002600" cy="2556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666666"/>
                    </a:solidFill>
                  </a:rPr>
                  <a:t>10,000</a:t>
                </a:r>
                <a:endParaRPr sz="1000">
                  <a:solidFill>
                    <a:srgbClr val="666666"/>
                  </a:solidFill>
                </a:endParaRPr>
              </a:p>
            </p:txBody>
          </p:sp>
          <p:sp>
            <p:nvSpPr>
              <p:cNvPr id="1310" name="Google Shape;1310;p23"/>
              <p:cNvSpPr/>
              <p:nvPr/>
            </p:nvSpPr>
            <p:spPr>
              <a:xfrm>
                <a:off x="3209350" y="2331245"/>
                <a:ext cx="259800" cy="2556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1" name="Google Shape;1311;p23"/>
              <p:cNvSpPr/>
              <p:nvPr/>
            </p:nvSpPr>
            <p:spPr>
              <a:xfrm>
                <a:off x="697213" y="2686600"/>
                <a:ext cx="1276800" cy="2556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666666"/>
                    </a:solidFill>
                  </a:rPr>
                  <a:t>Laboratory</a:t>
                </a:r>
                <a:endParaRPr sz="1000">
                  <a:solidFill>
                    <a:srgbClr val="666666"/>
                  </a:solidFill>
                </a:endParaRPr>
              </a:p>
            </p:txBody>
          </p:sp>
          <p:sp>
            <p:nvSpPr>
              <p:cNvPr id="1312" name="Google Shape;1312;p23"/>
              <p:cNvSpPr/>
              <p:nvPr/>
            </p:nvSpPr>
            <p:spPr>
              <a:xfrm>
                <a:off x="2041578" y="2681179"/>
                <a:ext cx="1002600" cy="2556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666666"/>
                    </a:solidFill>
                  </a:rPr>
                  <a:t>20,000</a:t>
                </a:r>
                <a:endParaRPr sz="1000">
                  <a:solidFill>
                    <a:srgbClr val="666666"/>
                  </a:solidFill>
                </a:endParaRPr>
              </a:p>
            </p:txBody>
          </p:sp>
          <p:sp>
            <p:nvSpPr>
              <p:cNvPr id="1313" name="Google Shape;1313;p23"/>
              <p:cNvSpPr/>
              <p:nvPr/>
            </p:nvSpPr>
            <p:spPr>
              <a:xfrm>
                <a:off x="3209350" y="2678019"/>
                <a:ext cx="259800" cy="2556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4" name="Google Shape;1314;p23"/>
              <p:cNvSpPr/>
              <p:nvPr/>
            </p:nvSpPr>
            <p:spPr>
              <a:xfrm>
                <a:off x="3255692" y="2597665"/>
                <a:ext cx="332096" cy="255602"/>
              </a:xfrm>
              <a:custGeom>
                <a:rect b="b" l="l" r="r" t="t"/>
                <a:pathLst>
                  <a:path extrusionOk="0" h="4557" w="7125">
                    <a:moveTo>
                      <a:pt x="0" y="4027"/>
                    </a:moveTo>
                    <a:cubicBezTo>
                      <a:pt x="1930" y="5955"/>
                      <a:pt x="5196" y="1929"/>
                      <a:pt x="7125" y="0"/>
                    </a:cubicBezTo>
                  </a:path>
                </a:pathLst>
              </a:custGeom>
              <a:noFill/>
              <a:ln cap="flat" cmpd="sng" w="19050">
                <a:solidFill>
                  <a:schemeClr val="dk2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315" name="Google Shape;1315;p23"/>
              <p:cNvSpPr/>
              <p:nvPr/>
            </p:nvSpPr>
            <p:spPr>
              <a:xfrm rot="10800000">
                <a:off x="1757782" y="2416703"/>
                <a:ext cx="167100" cy="101400"/>
              </a:xfrm>
              <a:prstGeom prst="triangle">
                <a:avLst>
                  <a:gd fmla="val 50000" name="adj"/>
                </a:avLst>
              </a:prstGeom>
              <a:solidFill>
                <a:srgbClr val="B7B7B7"/>
              </a:solidFill>
              <a:ln cap="flat" cmpd="sng" w="952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40175" lIns="140175" spcFirstLastPara="1" rIns="140175" wrap="square" tIns="1401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0"/>
              </a:p>
            </p:txBody>
          </p:sp>
          <p:sp>
            <p:nvSpPr>
              <p:cNvPr id="1316" name="Google Shape;1316;p23"/>
              <p:cNvSpPr/>
              <p:nvPr/>
            </p:nvSpPr>
            <p:spPr>
              <a:xfrm rot="10800000">
                <a:off x="1757782" y="2774054"/>
                <a:ext cx="167100" cy="101400"/>
              </a:xfrm>
              <a:prstGeom prst="triangle">
                <a:avLst>
                  <a:gd fmla="val 50000" name="adj"/>
                </a:avLst>
              </a:prstGeom>
              <a:solidFill>
                <a:srgbClr val="B7B7B7"/>
              </a:solidFill>
              <a:ln cap="flat" cmpd="sng" w="952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40175" lIns="140175" spcFirstLastPara="1" rIns="140175" wrap="square" tIns="1401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0"/>
              </a:p>
            </p:txBody>
          </p:sp>
        </p:grpSp>
        <p:sp>
          <p:nvSpPr>
            <p:cNvPr id="1317" name="Google Shape;1317;p23"/>
            <p:cNvSpPr/>
            <p:nvPr/>
          </p:nvSpPr>
          <p:spPr>
            <a:xfrm>
              <a:off x="370627" y="2085481"/>
              <a:ext cx="1469400" cy="25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200">
                  <a:solidFill>
                    <a:srgbClr val="666666"/>
                  </a:solidFill>
                </a:rPr>
                <a:t>New buildings</a:t>
              </a:r>
              <a:endParaRPr i="1" sz="1200">
                <a:solidFill>
                  <a:srgbClr val="666666"/>
                </a:solidFill>
              </a:endParaRPr>
            </a:p>
          </p:txBody>
        </p:sp>
        <p:sp>
          <p:nvSpPr>
            <p:cNvPr id="1318" name="Google Shape;1318;p23"/>
            <p:cNvSpPr/>
            <p:nvPr/>
          </p:nvSpPr>
          <p:spPr>
            <a:xfrm>
              <a:off x="370625" y="3350145"/>
              <a:ext cx="1785900" cy="25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" sz="1200">
                  <a:solidFill>
                    <a:srgbClr val="666666"/>
                  </a:solidFill>
                </a:rPr>
                <a:t>Demolished buildings</a:t>
              </a:r>
              <a:endParaRPr i="1" sz="1200">
                <a:solidFill>
                  <a:srgbClr val="666666"/>
                </a:solidFill>
              </a:endParaRPr>
            </a:p>
          </p:txBody>
        </p:sp>
        <p:cxnSp>
          <p:nvCxnSpPr>
            <p:cNvPr id="1319" name="Google Shape;1319;p23"/>
            <p:cNvCxnSpPr/>
            <p:nvPr/>
          </p:nvCxnSpPr>
          <p:spPr>
            <a:xfrm>
              <a:off x="493000" y="3256804"/>
              <a:ext cx="3267600" cy="11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1320" name="Google Shape;1320;p23"/>
            <p:cNvGrpSpPr/>
            <p:nvPr/>
          </p:nvGrpSpPr>
          <p:grpSpPr>
            <a:xfrm>
              <a:off x="697217" y="3687384"/>
              <a:ext cx="2619425" cy="255631"/>
              <a:chOff x="697213" y="2331250"/>
              <a:chExt cx="2619425" cy="255631"/>
            </a:xfrm>
          </p:grpSpPr>
          <p:grpSp>
            <p:nvGrpSpPr>
              <p:cNvPr id="1321" name="Google Shape;1321;p23"/>
              <p:cNvGrpSpPr/>
              <p:nvPr/>
            </p:nvGrpSpPr>
            <p:grpSpPr>
              <a:xfrm>
                <a:off x="3099738" y="2352810"/>
                <a:ext cx="216900" cy="218100"/>
                <a:chOff x="3105213" y="1846663"/>
                <a:chExt cx="216900" cy="218100"/>
              </a:xfrm>
            </p:grpSpPr>
            <p:cxnSp>
              <p:nvCxnSpPr>
                <p:cNvPr id="1322" name="Google Shape;1322;p23"/>
                <p:cNvCxnSpPr/>
                <p:nvPr/>
              </p:nvCxnSpPr>
              <p:spPr>
                <a:xfrm flipH="1">
                  <a:off x="3213513" y="1846663"/>
                  <a:ext cx="300" cy="2181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323" name="Google Shape;1323;p23"/>
                <p:cNvCxnSpPr/>
                <p:nvPr/>
              </p:nvCxnSpPr>
              <p:spPr>
                <a:xfrm>
                  <a:off x="3105213" y="1953913"/>
                  <a:ext cx="216900" cy="360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2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sp>
            <p:nvSpPr>
              <p:cNvPr id="1324" name="Google Shape;1324;p23"/>
              <p:cNvSpPr/>
              <p:nvPr/>
            </p:nvSpPr>
            <p:spPr>
              <a:xfrm>
                <a:off x="697213" y="2331250"/>
                <a:ext cx="1276800" cy="2556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666666"/>
                    </a:solidFill>
                  </a:rPr>
                  <a:t>Barracks</a:t>
                </a:r>
                <a:endParaRPr sz="1000">
                  <a:solidFill>
                    <a:srgbClr val="666666"/>
                  </a:solidFill>
                </a:endParaRPr>
              </a:p>
            </p:txBody>
          </p:sp>
          <p:sp>
            <p:nvSpPr>
              <p:cNvPr id="1325" name="Google Shape;1325;p23"/>
              <p:cNvSpPr/>
              <p:nvPr/>
            </p:nvSpPr>
            <p:spPr>
              <a:xfrm>
                <a:off x="2041578" y="2331281"/>
                <a:ext cx="1002600" cy="255600"/>
              </a:xfrm>
              <a:prstGeom prst="rect">
                <a:avLst/>
              </a:prstGeom>
              <a:noFill/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000">
                    <a:solidFill>
                      <a:srgbClr val="666666"/>
                    </a:solidFill>
                  </a:rPr>
                  <a:t>50,000</a:t>
                </a:r>
                <a:endParaRPr sz="1000">
                  <a:solidFill>
                    <a:srgbClr val="666666"/>
                  </a:solidFill>
                </a:endParaRPr>
              </a:p>
            </p:txBody>
          </p:sp>
          <p:sp>
            <p:nvSpPr>
              <p:cNvPr id="1326" name="Google Shape;1326;p23"/>
              <p:cNvSpPr/>
              <p:nvPr/>
            </p:nvSpPr>
            <p:spPr>
              <a:xfrm rot="10800000">
                <a:off x="1757782" y="2416703"/>
                <a:ext cx="167100" cy="101400"/>
              </a:xfrm>
              <a:prstGeom prst="triangle">
                <a:avLst>
                  <a:gd fmla="val 50000" name="adj"/>
                </a:avLst>
              </a:prstGeom>
              <a:solidFill>
                <a:srgbClr val="B7B7B7"/>
              </a:solidFill>
              <a:ln cap="flat" cmpd="sng" w="9525">
                <a:solidFill>
                  <a:srgbClr val="B7B7B7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140175" lIns="140175" spcFirstLastPara="1" rIns="140175" wrap="square" tIns="14017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100"/>
              </a:p>
            </p:txBody>
          </p:sp>
        </p:grpSp>
      </p:grpSp>
      <p:sp>
        <p:nvSpPr>
          <p:cNvPr id="1327" name="Google Shape;1327;p23"/>
          <p:cNvSpPr/>
          <p:nvPr/>
        </p:nvSpPr>
        <p:spPr>
          <a:xfrm>
            <a:off x="-3678" y="-1570"/>
            <a:ext cx="13725900" cy="811200"/>
          </a:xfrm>
          <a:prstGeom prst="rect">
            <a:avLst/>
          </a:prstGeom>
          <a:solidFill>
            <a:srgbClr val="EDF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28" name="Google Shape;1328;p2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1400" y="140109"/>
            <a:ext cx="672433" cy="510249"/>
          </a:xfrm>
          <a:prstGeom prst="rect">
            <a:avLst/>
          </a:prstGeom>
          <a:noFill/>
          <a:ln>
            <a:noFill/>
          </a:ln>
        </p:spPr>
      </p:pic>
      <p:sp>
        <p:nvSpPr>
          <p:cNvPr id="1329" name="Google Shape;1329;p23"/>
          <p:cNvSpPr txBox="1"/>
          <p:nvPr>
            <p:ph idx="1" type="subTitle"/>
          </p:nvPr>
        </p:nvSpPr>
        <p:spPr>
          <a:xfrm>
            <a:off x="761825" y="140088"/>
            <a:ext cx="12825300" cy="510300"/>
          </a:xfrm>
          <a:prstGeom prst="rect">
            <a:avLst/>
          </a:prstGeom>
          <a:ln>
            <a:noFill/>
          </a:ln>
        </p:spPr>
        <p:txBody>
          <a:bodyPr anchorCtr="0" anchor="t" bIns="140175" lIns="140175" spcFirstLastPara="1" rIns="140175" wrap="square" tIns="140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Merriweather"/>
                <a:ea typeface="Merriweather"/>
                <a:cs typeface="Merriweather"/>
                <a:sym typeface="Merriweather"/>
              </a:rPr>
              <a:t>Building Supply chain Material Analysis and Risk Trade-off Tool (BuildSMART v1)</a:t>
            </a:r>
            <a:r>
              <a:rPr b="1" lang="en" sz="1700"/>
              <a:t>           </a:t>
            </a:r>
            <a:r>
              <a:rPr b="1" lang="en" sz="1700">
                <a:solidFill>
                  <a:srgbClr val="999999"/>
                </a:solidFill>
              </a:rPr>
              <a:t>Main Page         </a:t>
            </a:r>
            <a:r>
              <a:rPr b="1" lang="en" sz="1700">
                <a:solidFill>
                  <a:srgbClr val="999999"/>
                </a:solidFill>
              </a:rPr>
              <a:t>About</a:t>
            </a:r>
            <a:r>
              <a:rPr b="1" lang="en" sz="1700">
                <a:solidFill>
                  <a:srgbClr val="999999"/>
                </a:solidFill>
              </a:rPr>
              <a:t>          Contact</a:t>
            </a:r>
            <a:endParaRPr b="1" sz="1700">
              <a:solidFill>
                <a:srgbClr val="999999"/>
              </a:solidFill>
            </a:endParaRPr>
          </a:p>
        </p:txBody>
      </p:sp>
      <p:pic>
        <p:nvPicPr>
          <p:cNvPr id="1330" name="Google Shape;1330;p23" title="Chart"/>
          <p:cNvPicPr preferRelativeResize="0"/>
          <p:nvPr/>
        </p:nvPicPr>
        <p:blipFill rotWithShape="1">
          <a:blip r:embed="rId7">
            <a:alphaModFix/>
          </a:blip>
          <a:srcRect b="0" l="0" r="0" t="11174"/>
          <a:stretch/>
        </p:blipFill>
        <p:spPr>
          <a:xfrm>
            <a:off x="9117399" y="1378293"/>
            <a:ext cx="3909465" cy="214728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31" name="Google Shape;1331;p23"/>
          <p:cNvGrpSpPr/>
          <p:nvPr/>
        </p:nvGrpSpPr>
        <p:grpSpPr>
          <a:xfrm>
            <a:off x="4340597" y="7083175"/>
            <a:ext cx="4557232" cy="618331"/>
            <a:chOff x="4268193" y="552116"/>
            <a:chExt cx="6213843" cy="697025"/>
          </a:xfrm>
        </p:grpSpPr>
        <p:sp>
          <p:nvSpPr>
            <p:cNvPr id="1332" name="Google Shape;1332;p23"/>
            <p:cNvSpPr/>
            <p:nvPr/>
          </p:nvSpPr>
          <p:spPr>
            <a:xfrm>
              <a:off x="6760562" y="609015"/>
              <a:ext cx="3546300" cy="255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8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1100" lIns="81100" spcFirstLastPara="1" rIns="81100" wrap="square" tIns="811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41"/>
            </a:p>
          </p:txBody>
        </p:sp>
        <p:sp>
          <p:nvSpPr>
            <p:cNvPr id="1333" name="Google Shape;1333;p23"/>
            <p:cNvSpPr txBox="1"/>
            <p:nvPr/>
          </p:nvSpPr>
          <p:spPr>
            <a:xfrm>
              <a:off x="4268193" y="552116"/>
              <a:ext cx="28551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100" lIns="81100" spcFirstLastPara="1" rIns="81100" wrap="square" tIns="8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86">
                  <a:solidFill>
                    <a:srgbClr val="B7B7B7"/>
                  </a:solidFill>
                </a:rPr>
                <a:t>CONSTRUCTION YEAR</a:t>
              </a:r>
              <a:endParaRPr b="1" sz="1186">
                <a:solidFill>
                  <a:srgbClr val="B7B7B7"/>
                </a:solidFill>
              </a:endParaRPr>
            </a:p>
          </p:txBody>
        </p:sp>
        <p:sp>
          <p:nvSpPr>
            <p:cNvPr id="1334" name="Google Shape;1334;p23"/>
            <p:cNvSpPr txBox="1"/>
            <p:nvPr/>
          </p:nvSpPr>
          <p:spPr>
            <a:xfrm>
              <a:off x="6732035" y="810841"/>
              <a:ext cx="37500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100" lIns="81100" spcFirstLastPara="1" rIns="81100" wrap="square" tIns="8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20">
                  <a:solidFill>
                    <a:schemeClr val="dk2"/>
                  </a:solidFill>
                </a:rPr>
                <a:t>2020	2030	2040	2050	2060	2070</a:t>
              </a:r>
              <a:endParaRPr sz="620">
                <a:solidFill>
                  <a:schemeClr val="dk2"/>
                </a:solidFill>
              </a:endParaRPr>
            </a:p>
          </p:txBody>
        </p:sp>
        <p:sp>
          <p:nvSpPr>
            <p:cNvPr id="1335" name="Google Shape;1335;p23"/>
            <p:cNvSpPr/>
            <p:nvPr/>
          </p:nvSpPr>
          <p:spPr>
            <a:xfrm>
              <a:off x="6766012" y="605859"/>
              <a:ext cx="1957500" cy="255600"/>
            </a:xfrm>
            <a:prstGeom prst="roundRect">
              <a:avLst>
                <a:gd fmla="val 16667" name="adj"/>
              </a:avLst>
            </a:prstGeom>
            <a:solidFill>
              <a:srgbClr val="AAD3E0"/>
            </a:solidFill>
            <a:ln cap="flat" cmpd="sng" w="8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1100" lIns="81100" spcFirstLastPara="1" rIns="81100" wrap="square" tIns="811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41"/>
            </a:p>
          </p:txBody>
        </p:sp>
      </p:grpSp>
      <p:grpSp>
        <p:nvGrpSpPr>
          <p:cNvPr id="1336" name="Google Shape;1336;p23"/>
          <p:cNvGrpSpPr/>
          <p:nvPr/>
        </p:nvGrpSpPr>
        <p:grpSpPr>
          <a:xfrm>
            <a:off x="8869612" y="4172248"/>
            <a:ext cx="4405034" cy="2794775"/>
            <a:chOff x="9037729" y="4704523"/>
            <a:chExt cx="4405034" cy="2794775"/>
          </a:xfrm>
        </p:grpSpPr>
        <p:grpSp>
          <p:nvGrpSpPr>
            <p:cNvPr id="1337" name="Google Shape;1337;p23"/>
            <p:cNvGrpSpPr/>
            <p:nvPr/>
          </p:nvGrpSpPr>
          <p:grpSpPr>
            <a:xfrm>
              <a:off x="9037729" y="4704523"/>
              <a:ext cx="4405034" cy="2794775"/>
              <a:chOff x="9079752" y="3946051"/>
              <a:chExt cx="4405034" cy="2794775"/>
            </a:xfrm>
          </p:grpSpPr>
          <p:sp>
            <p:nvSpPr>
              <p:cNvPr id="1338" name="Google Shape;1338;p23"/>
              <p:cNvSpPr txBox="1"/>
              <p:nvPr/>
            </p:nvSpPr>
            <p:spPr>
              <a:xfrm>
                <a:off x="9079752" y="3946051"/>
                <a:ext cx="40734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73200" lIns="73200" spcFirstLastPara="1" rIns="73200" wrap="square" tIns="732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81">
                    <a:solidFill>
                      <a:srgbClr val="666666"/>
                    </a:solidFill>
                  </a:rPr>
                  <a:t>PROJECTED MATERIAL AVAILABILITY</a:t>
                </a:r>
                <a:endParaRPr b="1" sz="360">
                  <a:solidFill>
                    <a:srgbClr val="666666"/>
                  </a:solidFill>
                </a:endParaRPr>
              </a:p>
            </p:txBody>
          </p:sp>
          <p:sp>
            <p:nvSpPr>
              <p:cNvPr id="1339" name="Google Shape;1339;p23"/>
              <p:cNvSpPr/>
              <p:nvPr/>
            </p:nvSpPr>
            <p:spPr>
              <a:xfrm>
                <a:off x="9148885" y="4259825"/>
                <a:ext cx="4335900" cy="2481000"/>
              </a:xfrm>
              <a:prstGeom prst="rect">
                <a:avLst/>
              </a:prstGeom>
              <a:noFill/>
              <a:ln cap="flat" cmpd="sng" w="7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3200" lIns="73200" spcFirstLastPara="1" rIns="73200" wrap="square" tIns="732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120"/>
              </a:p>
            </p:txBody>
          </p:sp>
          <p:pic>
            <p:nvPicPr>
              <p:cNvPr id="1340" name="Google Shape;1340;p23" title="Screenshot 2026-02-19 at 10.15.05 AM.png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-281" t="0"/>
              <a:stretch/>
            </p:blipFill>
            <p:spPr>
              <a:xfrm>
                <a:off x="9286250" y="4386900"/>
                <a:ext cx="4073401" cy="2226850"/>
              </a:xfrm>
              <a:prstGeom prst="rect">
                <a:avLst/>
              </a:prstGeom>
              <a:noFill/>
              <a:ln cap="flat" cmpd="sng" w="9525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</p:pic>
        </p:grpSp>
        <p:pic>
          <p:nvPicPr>
            <p:cNvPr id="1341" name="Google Shape;1341;p23" title="expand-icon-symbol-design-illustration-vector.jpg"/>
            <p:cNvPicPr preferRelativeResize="0"/>
            <p:nvPr/>
          </p:nvPicPr>
          <p:blipFill rotWithShape="1">
            <a:blip r:embed="rId9">
              <a:alphaModFix/>
            </a:blip>
            <a:srcRect b="11143" l="12219" r="0" t="0"/>
            <a:stretch/>
          </p:blipFill>
          <p:spPr>
            <a:xfrm>
              <a:off x="13211244" y="5054337"/>
              <a:ext cx="224376" cy="227125"/>
            </a:xfrm>
            <a:prstGeom prst="rect">
              <a:avLst/>
            </a:prstGeom>
            <a:noFill/>
            <a:ln>
              <a:noFill/>
            </a:ln>
          </p:spPr>
        </p:pic>
      </p:grpSp>
      <p:cxnSp>
        <p:nvCxnSpPr>
          <p:cNvPr id="1342" name="Google Shape;1342;p23"/>
          <p:cNvCxnSpPr/>
          <p:nvPr/>
        </p:nvCxnSpPr>
        <p:spPr>
          <a:xfrm>
            <a:off x="4426782" y="4027001"/>
            <a:ext cx="8858100" cy="6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343" name="Google Shape;1343;p23"/>
          <p:cNvGrpSpPr/>
          <p:nvPr/>
        </p:nvGrpSpPr>
        <p:grpSpPr>
          <a:xfrm>
            <a:off x="4349911" y="934411"/>
            <a:ext cx="4421103" cy="2819555"/>
            <a:chOff x="4043712" y="1229950"/>
            <a:chExt cx="5522238" cy="3521803"/>
          </a:xfrm>
        </p:grpSpPr>
        <p:sp>
          <p:nvSpPr>
            <p:cNvPr id="1344" name="Google Shape;1344;p23"/>
            <p:cNvSpPr/>
            <p:nvPr/>
          </p:nvSpPr>
          <p:spPr>
            <a:xfrm>
              <a:off x="4150050" y="1612488"/>
              <a:ext cx="5415900" cy="3099000"/>
            </a:xfrm>
            <a:prstGeom prst="rect">
              <a:avLst/>
            </a:prstGeom>
            <a:noFill/>
            <a:ln cap="flat" cmpd="sng" w="76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200" lIns="73200" spcFirstLastPara="1" rIns="73200" wrap="square" tIns="73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20"/>
            </a:p>
          </p:txBody>
        </p:sp>
        <p:sp>
          <p:nvSpPr>
            <p:cNvPr id="1345" name="Google Shape;1345;p23"/>
            <p:cNvSpPr txBox="1"/>
            <p:nvPr/>
          </p:nvSpPr>
          <p:spPr>
            <a:xfrm>
              <a:off x="4043712" y="1229950"/>
              <a:ext cx="4417800" cy="46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3200" lIns="73200" spcFirstLastPara="1" rIns="73200" wrap="square" tIns="732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81">
                  <a:solidFill>
                    <a:srgbClr val="666666"/>
                  </a:solidFill>
                </a:rPr>
                <a:t>BASELINE MATERIAL DEMAND</a:t>
              </a:r>
              <a:endParaRPr b="1" sz="360">
                <a:solidFill>
                  <a:srgbClr val="666666"/>
                </a:solidFill>
              </a:endParaRPr>
            </a:p>
          </p:txBody>
        </p:sp>
        <p:grpSp>
          <p:nvGrpSpPr>
            <p:cNvPr id="1346" name="Google Shape;1346;p23"/>
            <p:cNvGrpSpPr/>
            <p:nvPr/>
          </p:nvGrpSpPr>
          <p:grpSpPr>
            <a:xfrm>
              <a:off x="4056895" y="4214633"/>
              <a:ext cx="1923164" cy="537120"/>
              <a:chOff x="4257757" y="4214633"/>
              <a:chExt cx="1923164" cy="537120"/>
            </a:xfrm>
          </p:grpSpPr>
          <p:sp>
            <p:nvSpPr>
              <p:cNvPr id="1347" name="Google Shape;1347;p23"/>
              <p:cNvSpPr txBox="1"/>
              <p:nvPr/>
            </p:nvSpPr>
            <p:spPr>
              <a:xfrm>
                <a:off x="4257757" y="4241453"/>
                <a:ext cx="1269300" cy="51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56000" lIns="156000" spcFirstLastPara="1" rIns="156000" wrap="square" tIns="1560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61">
                    <a:solidFill>
                      <a:srgbClr val="999999"/>
                    </a:solidFill>
                  </a:rPr>
                  <a:t>Sankey diagram</a:t>
                </a:r>
                <a:endParaRPr sz="761">
                  <a:solidFill>
                    <a:srgbClr val="999999"/>
                  </a:solidFill>
                </a:endParaRPr>
              </a:p>
            </p:txBody>
          </p:sp>
          <p:grpSp>
            <p:nvGrpSpPr>
              <p:cNvPr id="1348" name="Google Shape;1348;p23"/>
              <p:cNvGrpSpPr/>
              <p:nvPr/>
            </p:nvGrpSpPr>
            <p:grpSpPr>
              <a:xfrm>
                <a:off x="5387374" y="4214633"/>
                <a:ext cx="793547" cy="433200"/>
                <a:chOff x="5387374" y="4214633"/>
                <a:chExt cx="793547" cy="433200"/>
              </a:xfrm>
            </p:grpSpPr>
            <p:grpSp>
              <p:nvGrpSpPr>
                <p:cNvPr id="1349" name="Google Shape;1349;p23"/>
                <p:cNvGrpSpPr/>
                <p:nvPr/>
              </p:nvGrpSpPr>
              <p:grpSpPr>
                <a:xfrm>
                  <a:off x="5387374" y="4365780"/>
                  <a:ext cx="761210" cy="261650"/>
                  <a:chOff x="5509499" y="4365730"/>
                  <a:chExt cx="761210" cy="261650"/>
                </a:xfrm>
              </p:grpSpPr>
              <p:sp>
                <p:nvSpPr>
                  <p:cNvPr id="1350" name="Google Shape;1350;p23"/>
                  <p:cNvSpPr/>
                  <p:nvPr/>
                </p:nvSpPr>
                <p:spPr>
                  <a:xfrm rot="-10800000">
                    <a:off x="5513034" y="4365730"/>
                    <a:ext cx="757675" cy="261650"/>
                  </a:xfrm>
                  <a:prstGeom prst="flowChartMagneticDrum">
                    <a:avLst/>
                  </a:prstGeom>
                  <a:solidFill>
                    <a:srgbClr val="CCCCCC"/>
                  </a:solidFill>
                  <a:ln cap="flat" cmpd="sng" w="10600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156000" lIns="156000" spcFirstLastPara="1" rIns="156000" wrap="square" tIns="156000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336"/>
                  </a:p>
                </p:txBody>
              </p:sp>
              <p:sp>
                <p:nvSpPr>
                  <p:cNvPr id="1351" name="Google Shape;1351;p23"/>
                  <p:cNvSpPr/>
                  <p:nvPr/>
                </p:nvSpPr>
                <p:spPr>
                  <a:xfrm>
                    <a:off x="5509499" y="4370260"/>
                    <a:ext cx="259500" cy="252600"/>
                  </a:xfrm>
                  <a:prstGeom prst="ellipse">
                    <a:avLst/>
                  </a:prstGeom>
                  <a:solidFill>
                    <a:schemeClr val="lt1"/>
                  </a:solidFill>
                  <a:ln cap="flat" cmpd="sng" w="10600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156000" lIns="156000" spcFirstLastPara="1" rIns="156000" wrap="square" tIns="156000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336"/>
                  </a:p>
                </p:txBody>
              </p:sp>
            </p:grpSp>
            <p:sp>
              <p:nvSpPr>
                <p:cNvPr id="1352" name="Google Shape;1352;p23"/>
                <p:cNvSpPr txBox="1"/>
                <p:nvPr/>
              </p:nvSpPr>
              <p:spPr>
                <a:xfrm>
                  <a:off x="5508621" y="4214633"/>
                  <a:ext cx="672300" cy="433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56000" lIns="156000" spcFirstLastPara="1" rIns="156000" wrap="square" tIns="1560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001">
                      <a:solidFill>
                        <a:schemeClr val="lt1"/>
                      </a:solidFill>
                    </a:rPr>
                    <a:t>Off</a:t>
                  </a:r>
                  <a:endParaRPr sz="1001">
                    <a:solidFill>
                      <a:schemeClr val="lt1"/>
                    </a:solidFill>
                  </a:endParaRPr>
                </a:p>
              </p:txBody>
            </p:sp>
          </p:grpSp>
        </p:grpSp>
      </p:grpSp>
      <p:pic>
        <p:nvPicPr>
          <p:cNvPr id="1353" name="Google Shape;1353;p23" title="download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474425" y="1284577"/>
            <a:ext cx="259800" cy="2598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54" name="Google Shape;1354;p23"/>
          <p:cNvGrpSpPr/>
          <p:nvPr/>
        </p:nvGrpSpPr>
        <p:grpSpPr>
          <a:xfrm>
            <a:off x="4349911" y="4181419"/>
            <a:ext cx="4421103" cy="2819555"/>
            <a:chOff x="4349911" y="4181419"/>
            <a:chExt cx="4421103" cy="2819555"/>
          </a:xfrm>
        </p:grpSpPr>
        <p:grpSp>
          <p:nvGrpSpPr>
            <p:cNvPr id="1355" name="Google Shape;1355;p23"/>
            <p:cNvGrpSpPr/>
            <p:nvPr/>
          </p:nvGrpSpPr>
          <p:grpSpPr>
            <a:xfrm>
              <a:off x="4349911" y="4181419"/>
              <a:ext cx="4421103" cy="2819555"/>
              <a:chOff x="4043712" y="1229950"/>
              <a:chExt cx="5522238" cy="3521803"/>
            </a:xfrm>
          </p:grpSpPr>
          <p:sp>
            <p:nvSpPr>
              <p:cNvPr id="1356" name="Google Shape;1356;p23"/>
              <p:cNvSpPr/>
              <p:nvPr/>
            </p:nvSpPr>
            <p:spPr>
              <a:xfrm>
                <a:off x="4150050" y="1612488"/>
                <a:ext cx="5415900" cy="3099000"/>
              </a:xfrm>
              <a:prstGeom prst="rect">
                <a:avLst/>
              </a:prstGeom>
              <a:noFill/>
              <a:ln cap="flat" cmpd="sng" w="7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3200" lIns="73200" spcFirstLastPara="1" rIns="73200" wrap="square" tIns="732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120"/>
              </a:p>
            </p:txBody>
          </p:sp>
          <p:sp>
            <p:nvSpPr>
              <p:cNvPr id="1357" name="Google Shape;1357;p23"/>
              <p:cNvSpPr txBox="1"/>
              <p:nvPr/>
            </p:nvSpPr>
            <p:spPr>
              <a:xfrm>
                <a:off x="4043712" y="1229950"/>
                <a:ext cx="4417800" cy="469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73200" lIns="73200" spcFirstLastPara="1" rIns="73200" wrap="square" tIns="732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81">
                    <a:solidFill>
                      <a:srgbClr val="666666"/>
                    </a:solidFill>
                  </a:rPr>
                  <a:t>PROJECTED MATERIAL DEMAND</a:t>
                </a:r>
                <a:endParaRPr b="1" sz="360">
                  <a:solidFill>
                    <a:srgbClr val="666666"/>
                  </a:solidFill>
                </a:endParaRPr>
              </a:p>
            </p:txBody>
          </p:sp>
          <p:grpSp>
            <p:nvGrpSpPr>
              <p:cNvPr id="1358" name="Google Shape;1358;p23"/>
              <p:cNvGrpSpPr/>
              <p:nvPr/>
            </p:nvGrpSpPr>
            <p:grpSpPr>
              <a:xfrm>
                <a:off x="4056895" y="4208337"/>
                <a:ext cx="1928164" cy="543415"/>
                <a:chOff x="4257757" y="4208337"/>
                <a:chExt cx="1928164" cy="543415"/>
              </a:xfrm>
            </p:grpSpPr>
            <p:sp>
              <p:nvSpPr>
                <p:cNvPr id="1359" name="Google Shape;1359;p23"/>
                <p:cNvSpPr txBox="1"/>
                <p:nvPr/>
              </p:nvSpPr>
              <p:spPr>
                <a:xfrm>
                  <a:off x="4257757" y="4241453"/>
                  <a:ext cx="1269300" cy="510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56000" lIns="156000" spcFirstLastPara="1" rIns="156000" wrap="square" tIns="1560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761">
                      <a:solidFill>
                        <a:srgbClr val="999999"/>
                      </a:solidFill>
                    </a:rPr>
                    <a:t>Sankey diagram</a:t>
                  </a:r>
                  <a:endParaRPr sz="761">
                    <a:solidFill>
                      <a:srgbClr val="999999"/>
                    </a:solidFill>
                  </a:endParaRPr>
                </a:p>
              </p:txBody>
            </p:sp>
            <p:grpSp>
              <p:nvGrpSpPr>
                <p:cNvPr id="1360" name="Google Shape;1360;p23"/>
                <p:cNvGrpSpPr/>
                <p:nvPr/>
              </p:nvGrpSpPr>
              <p:grpSpPr>
                <a:xfrm>
                  <a:off x="5383729" y="4208337"/>
                  <a:ext cx="802192" cy="433200"/>
                  <a:chOff x="5383729" y="4208337"/>
                  <a:chExt cx="802192" cy="433200"/>
                </a:xfrm>
              </p:grpSpPr>
              <p:grpSp>
                <p:nvGrpSpPr>
                  <p:cNvPr id="1361" name="Google Shape;1361;p23"/>
                  <p:cNvGrpSpPr/>
                  <p:nvPr/>
                </p:nvGrpSpPr>
                <p:grpSpPr>
                  <a:xfrm>
                    <a:off x="5383729" y="4365780"/>
                    <a:ext cx="764855" cy="261650"/>
                    <a:chOff x="5505854" y="4365730"/>
                    <a:chExt cx="764855" cy="261650"/>
                  </a:xfrm>
                </p:grpSpPr>
                <p:sp>
                  <p:nvSpPr>
                    <p:cNvPr id="1362" name="Google Shape;1362;p23"/>
                    <p:cNvSpPr/>
                    <p:nvPr/>
                  </p:nvSpPr>
                  <p:spPr>
                    <a:xfrm rot="-10800000">
                      <a:off x="5513034" y="4365730"/>
                      <a:ext cx="757675" cy="261650"/>
                    </a:xfrm>
                    <a:prstGeom prst="flowChartMagneticDrum">
                      <a:avLst/>
                    </a:prstGeom>
                    <a:solidFill>
                      <a:srgbClr val="CCCCCC"/>
                    </a:solidFill>
                    <a:ln cap="flat" cmpd="sng" w="106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156000" lIns="156000" spcFirstLastPara="1" rIns="156000" wrap="square" tIns="156000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36"/>
                    </a:p>
                  </p:txBody>
                </p:sp>
                <p:sp>
                  <p:nvSpPr>
                    <p:cNvPr id="1363" name="Google Shape;1363;p23"/>
                    <p:cNvSpPr/>
                    <p:nvPr/>
                  </p:nvSpPr>
                  <p:spPr>
                    <a:xfrm>
                      <a:off x="5505854" y="4370260"/>
                      <a:ext cx="259500" cy="252600"/>
                    </a:xfrm>
                    <a:prstGeom prst="ellipse">
                      <a:avLst/>
                    </a:prstGeom>
                    <a:solidFill>
                      <a:schemeClr val="lt1"/>
                    </a:solidFill>
                    <a:ln cap="flat" cmpd="sng" w="106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156000" lIns="156000" spcFirstLastPara="1" rIns="156000" wrap="square" tIns="156000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36"/>
                    </a:p>
                  </p:txBody>
                </p:sp>
              </p:grpSp>
              <p:sp>
                <p:nvSpPr>
                  <p:cNvPr id="1364" name="Google Shape;1364;p23"/>
                  <p:cNvSpPr txBox="1"/>
                  <p:nvPr/>
                </p:nvSpPr>
                <p:spPr>
                  <a:xfrm>
                    <a:off x="5513621" y="4208337"/>
                    <a:ext cx="672300" cy="433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156000" lIns="156000" spcFirstLastPara="1" rIns="156000" wrap="square" tIns="1560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1001">
                        <a:solidFill>
                          <a:schemeClr val="lt1"/>
                        </a:solidFill>
                      </a:rPr>
                      <a:t>Off</a:t>
                    </a:r>
                    <a:endParaRPr sz="1001">
                      <a:solidFill>
                        <a:schemeClr val="lt1"/>
                      </a:solidFill>
                    </a:endParaRPr>
                  </a:p>
                </p:txBody>
              </p:sp>
            </p:grpSp>
          </p:grpSp>
        </p:grpSp>
        <p:pic>
          <p:nvPicPr>
            <p:cNvPr id="1365" name="Google Shape;1365;p23" title="download.png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8474425" y="4518577"/>
              <a:ext cx="259800" cy="2598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66" name="Google Shape;1366;p23"/>
          <p:cNvSpPr txBox="1"/>
          <p:nvPr/>
        </p:nvSpPr>
        <p:spPr>
          <a:xfrm>
            <a:off x="10027381" y="3473355"/>
            <a:ext cx="24513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74700" lIns="74700" spcFirstLastPara="1" rIns="74700" wrap="square" tIns="7470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702">
                <a:solidFill>
                  <a:schemeClr val="dk1"/>
                </a:solidFill>
              </a:rPr>
              <a:t>Material Cost (USD)</a:t>
            </a:r>
            <a:endParaRPr sz="702">
              <a:solidFill>
                <a:schemeClr val="dk1"/>
              </a:solidFill>
            </a:endParaRPr>
          </a:p>
        </p:txBody>
      </p:sp>
      <p:sp>
        <p:nvSpPr>
          <p:cNvPr id="1367" name="Google Shape;1367;p23"/>
          <p:cNvSpPr txBox="1"/>
          <p:nvPr/>
        </p:nvSpPr>
        <p:spPr>
          <a:xfrm>
            <a:off x="8869623" y="932880"/>
            <a:ext cx="3537000" cy="3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73200" lIns="73200" spcFirstLastPara="1" rIns="73200" wrap="square" tIns="7320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81">
                <a:solidFill>
                  <a:srgbClr val="666666"/>
                </a:solidFill>
              </a:rPr>
              <a:t>BASELINE MATERIAL COST</a:t>
            </a:r>
            <a:endParaRPr b="1" sz="360">
              <a:solidFill>
                <a:srgbClr val="666666"/>
              </a:solidFill>
            </a:endParaRPr>
          </a:p>
        </p:txBody>
      </p:sp>
      <p:pic>
        <p:nvPicPr>
          <p:cNvPr id="1368" name="Google Shape;1368;p23" title="download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12975775" y="1284577"/>
            <a:ext cx="259800" cy="25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9" name="Google Shape;1369;p2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0513496" y="6236751"/>
            <a:ext cx="332100" cy="332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70" name="Google Shape;1370;p23"/>
          <p:cNvGrpSpPr/>
          <p:nvPr/>
        </p:nvGrpSpPr>
        <p:grpSpPr>
          <a:xfrm rot="-7747678">
            <a:off x="6731768" y="2298973"/>
            <a:ext cx="917135" cy="927853"/>
            <a:chOff x="5893568" y="3081812"/>
            <a:chExt cx="1184774" cy="1198522"/>
          </a:xfrm>
        </p:grpSpPr>
        <p:grpSp>
          <p:nvGrpSpPr>
            <p:cNvPr id="1371" name="Google Shape;1371;p23"/>
            <p:cNvGrpSpPr/>
            <p:nvPr/>
          </p:nvGrpSpPr>
          <p:grpSpPr>
            <a:xfrm rot="-2553858">
              <a:off x="6121452" y="3202192"/>
              <a:ext cx="729006" cy="957763"/>
              <a:chOff x="6057691" y="2542624"/>
              <a:chExt cx="729025" cy="957787"/>
            </a:xfrm>
          </p:grpSpPr>
          <p:cxnSp>
            <p:nvCxnSpPr>
              <p:cNvPr id="1372" name="Google Shape;1372;p23"/>
              <p:cNvCxnSpPr/>
              <p:nvPr/>
            </p:nvCxnSpPr>
            <p:spPr>
              <a:xfrm flipH="1" rot="-8246357">
                <a:off x="6228918" y="2725045"/>
                <a:ext cx="588139" cy="125058"/>
              </a:xfrm>
              <a:prstGeom prst="straightConnector1">
                <a:avLst/>
              </a:prstGeom>
              <a:noFill/>
              <a:ln cap="flat" cmpd="sng" w="22125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73" name="Google Shape;1373;p23"/>
              <p:cNvCxnSpPr/>
              <p:nvPr/>
            </p:nvCxnSpPr>
            <p:spPr>
              <a:xfrm flipH="1" rot="10800000">
                <a:off x="6097647" y="3383711"/>
                <a:ext cx="594300" cy="116700"/>
              </a:xfrm>
              <a:prstGeom prst="straightConnector1">
                <a:avLst/>
              </a:prstGeom>
              <a:noFill/>
              <a:ln cap="flat" cmpd="sng" w="22125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74" name="Google Shape;1374;p23"/>
              <p:cNvSpPr/>
              <p:nvPr/>
            </p:nvSpPr>
            <p:spPr>
              <a:xfrm>
                <a:off x="6057691" y="2616591"/>
                <a:ext cx="202398" cy="870834"/>
              </a:xfrm>
              <a:custGeom>
                <a:rect b="b" l="l" r="r" t="t"/>
                <a:pathLst>
                  <a:path extrusionOk="0" h="29905" w="4740">
                    <a:moveTo>
                      <a:pt x="1229" y="29905"/>
                    </a:moveTo>
                    <a:cubicBezTo>
                      <a:pt x="-1533" y="20256"/>
                      <a:pt x="780" y="9222"/>
                      <a:pt x="4741" y="0"/>
                    </a:cubicBezTo>
                  </a:path>
                </a:pathLst>
              </a:custGeom>
              <a:noFill/>
              <a:ln cap="flat" cmpd="sng" w="22125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375" name="Google Shape;1375;p23"/>
              <p:cNvSpPr/>
              <p:nvPr/>
            </p:nvSpPr>
            <p:spPr>
              <a:xfrm>
                <a:off x="6679189" y="2926345"/>
                <a:ext cx="107527" cy="463154"/>
              </a:xfrm>
              <a:custGeom>
                <a:rect b="b" l="l" r="r" t="t"/>
                <a:pathLst>
                  <a:path extrusionOk="0" h="29905" w="4740">
                    <a:moveTo>
                      <a:pt x="1229" y="29905"/>
                    </a:moveTo>
                    <a:cubicBezTo>
                      <a:pt x="-1533" y="20256"/>
                      <a:pt x="780" y="9222"/>
                      <a:pt x="4741" y="0"/>
                    </a:cubicBezTo>
                  </a:path>
                </a:pathLst>
              </a:custGeom>
              <a:noFill/>
              <a:ln cap="flat" cmpd="sng" w="22125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cxnSp>
          <p:nvCxnSpPr>
            <p:cNvPr id="1376" name="Google Shape;1376;p23"/>
            <p:cNvCxnSpPr/>
            <p:nvPr/>
          </p:nvCxnSpPr>
          <p:spPr>
            <a:xfrm flipH="1" rot="10800000">
              <a:off x="6147225" y="3487550"/>
              <a:ext cx="109200" cy="1746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7" name="Google Shape;1377;p23"/>
            <p:cNvCxnSpPr/>
            <p:nvPr/>
          </p:nvCxnSpPr>
          <p:spPr>
            <a:xfrm flipH="1" rot="10800000">
              <a:off x="6173600" y="3466000"/>
              <a:ext cx="183000" cy="2856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8" name="Google Shape;1378;p23"/>
            <p:cNvCxnSpPr/>
            <p:nvPr/>
          </p:nvCxnSpPr>
          <p:spPr>
            <a:xfrm flipH="1" rot="10800000">
              <a:off x="6209650" y="3456063"/>
              <a:ext cx="228600" cy="3618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79" name="Google Shape;1379;p23"/>
            <p:cNvCxnSpPr/>
            <p:nvPr/>
          </p:nvCxnSpPr>
          <p:spPr>
            <a:xfrm flipH="1" rot="10800000">
              <a:off x="6241950" y="3433763"/>
              <a:ext cx="283500" cy="4476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0" name="Google Shape;1380;p23"/>
            <p:cNvCxnSpPr/>
            <p:nvPr/>
          </p:nvCxnSpPr>
          <p:spPr>
            <a:xfrm flipH="1" rot="10800000">
              <a:off x="6283850" y="3414388"/>
              <a:ext cx="331200" cy="5382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1" name="Google Shape;1381;p23"/>
            <p:cNvCxnSpPr/>
            <p:nvPr/>
          </p:nvCxnSpPr>
          <p:spPr>
            <a:xfrm flipH="1" rot="10800000">
              <a:off x="6322550" y="3425213"/>
              <a:ext cx="367500" cy="5910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2" name="Google Shape;1382;p23"/>
            <p:cNvCxnSpPr/>
            <p:nvPr/>
          </p:nvCxnSpPr>
          <p:spPr>
            <a:xfrm flipH="1" rot="10800000">
              <a:off x="6367875" y="3522238"/>
              <a:ext cx="351600" cy="5487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3" name="Google Shape;1383;p23"/>
            <p:cNvCxnSpPr/>
            <p:nvPr/>
          </p:nvCxnSpPr>
          <p:spPr>
            <a:xfrm flipH="1" rot="10800000">
              <a:off x="6414850" y="3600463"/>
              <a:ext cx="346500" cy="5229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4" name="Google Shape;1384;p23"/>
            <p:cNvCxnSpPr/>
            <p:nvPr/>
          </p:nvCxnSpPr>
          <p:spPr>
            <a:xfrm flipH="1" rot="10800000">
              <a:off x="6474550" y="3673138"/>
              <a:ext cx="328800" cy="4863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85" name="Google Shape;1385;p23"/>
            <p:cNvCxnSpPr/>
            <p:nvPr/>
          </p:nvCxnSpPr>
          <p:spPr>
            <a:xfrm flipH="1" rot="10800000">
              <a:off x="6525450" y="3712838"/>
              <a:ext cx="328800" cy="4863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386" name="Google Shape;1386;p23"/>
          <p:cNvGrpSpPr/>
          <p:nvPr/>
        </p:nvGrpSpPr>
        <p:grpSpPr>
          <a:xfrm>
            <a:off x="7438542" y="1829965"/>
            <a:ext cx="1435621" cy="519947"/>
            <a:chOff x="8548175" y="2668550"/>
            <a:chExt cx="1435621" cy="519947"/>
          </a:xfrm>
        </p:grpSpPr>
        <p:sp>
          <p:nvSpPr>
            <p:cNvPr id="1387" name="Google Shape;1387;p23"/>
            <p:cNvSpPr txBox="1"/>
            <p:nvPr/>
          </p:nvSpPr>
          <p:spPr>
            <a:xfrm>
              <a:off x="8548175" y="2668550"/>
              <a:ext cx="672300" cy="29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60">
                  <a:solidFill>
                    <a:schemeClr val="dk2"/>
                  </a:solidFill>
                </a:rPr>
                <a:t>Legend</a:t>
              </a:r>
              <a:endParaRPr b="1" sz="860">
                <a:solidFill>
                  <a:schemeClr val="dk2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0">
                <a:solidFill>
                  <a:schemeClr val="dk2"/>
                </a:solidFill>
              </a:endParaRPr>
            </a:p>
          </p:txBody>
        </p:sp>
        <p:sp>
          <p:nvSpPr>
            <p:cNvPr id="1388" name="Google Shape;1388;p23"/>
            <p:cNvSpPr/>
            <p:nvPr/>
          </p:nvSpPr>
          <p:spPr>
            <a:xfrm>
              <a:off x="8698150" y="2959475"/>
              <a:ext cx="146700" cy="141900"/>
            </a:xfrm>
            <a:prstGeom prst="rect">
              <a:avLst/>
            </a:prstGeom>
            <a:noFill/>
            <a:ln cap="flat" cmpd="sng" w="9525">
              <a:solidFill>
                <a:srgbClr val="93C4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23"/>
            <p:cNvSpPr txBox="1"/>
            <p:nvPr/>
          </p:nvSpPr>
          <p:spPr>
            <a:xfrm>
              <a:off x="8795496" y="2871397"/>
              <a:ext cx="1188300" cy="3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60">
                  <a:solidFill>
                    <a:schemeClr val="dk2"/>
                  </a:solidFill>
                </a:rPr>
                <a:t>Reused material</a:t>
              </a:r>
              <a:endParaRPr sz="860">
                <a:solidFill>
                  <a:schemeClr val="dk2"/>
                </a:solidFill>
              </a:endParaRPr>
            </a:p>
          </p:txBody>
        </p:sp>
        <p:cxnSp>
          <p:nvCxnSpPr>
            <p:cNvPr id="1390" name="Google Shape;1390;p23"/>
            <p:cNvCxnSpPr>
              <a:stCxn id="1388" idx="1"/>
            </p:cNvCxnSpPr>
            <p:nvPr/>
          </p:nvCxnSpPr>
          <p:spPr>
            <a:xfrm flipH="1" rot="10800000">
              <a:off x="8698150" y="2959625"/>
              <a:ext cx="73500" cy="70800"/>
            </a:xfrm>
            <a:prstGeom prst="straightConnector1">
              <a:avLst/>
            </a:prstGeom>
            <a:noFill/>
            <a:ln cap="flat" cmpd="sng" w="9525">
              <a:solidFill>
                <a:srgbClr val="93C47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1" name="Google Shape;1391;p23"/>
            <p:cNvCxnSpPr/>
            <p:nvPr/>
          </p:nvCxnSpPr>
          <p:spPr>
            <a:xfrm flipH="1" rot="10800000">
              <a:off x="8698150" y="2963225"/>
              <a:ext cx="146400" cy="138000"/>
            </a:xfrm>
            <a:prstGeom prst="straightConnector1">
              <a:avLst/>
            </a:prstGeom>
            <a:noFill/>
            <a:ln cap="flat" cmpd="sng" w="9525">
              <a:solidFill>
                <a:srgbClr val="93C47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392" name="Google Shape;1392;p23"/>
            <p:cNvCxnSpPr/>
            <p:nvPr/>
          </p:nvCxnSpPr>
          <p:spPr>
            <a:xfrm flipH="1" rot="10800000">
              <a:off x="8771650" y="3030425"/>
              <a:ext cx="73500" cy="70800"/>
            </a:xfrm>
            <a:prstGeom prst="straightConnector1">
              <a:avLst/>
            </a:prstGeom>
            <a:noFill/>
            <a:ln cap="flat" cmpd="sng" w="9525">
              <a:solidFill>
                <a:srgbClr val="93C47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1393" name="Google Shape;1393;p23" title="Chart"/>
          <p:cNvPicPr preferRelativeResize="0"/>
          <p:nvPr/>
        </p:nvPicPr>
        <p:blipFill rotWithShape="1">
          <a:blip r:embed="rId4">
            <a:alphaModFix/>
          </a:blip>
          <a:srcRect b="0" l="0" r="0" t="11143"/>
          <a:stretch/>
        </p:blipFill>
        <p:spPr>
          <a:xfrm>
            <a:off x="4681700" y="4636018"/>
            <a:ext cx="3723375" cy="20450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4" name="Google Shape;1394;p23"/>
          <p:cNvGrpSpPr/>
          <p:nvPr/>
        </p:nvGrpSpPr>
        <p:grpSpPr>
          <a:xfrm rot="6466707">
            <a:off x="5814315" y="4528678"/>
            <a:ext cx="984756" cy="912842"/>
            <a:chOff x="5971561" y="3175271"/>
            <a:chExt cx="1209504" cy="1223549"/>
          </a:xfrm>
        </p:grpSpPr>
        <p:grpSp>
          <p:nvGrpSpPr>
            <p:cNvPr id="1395" name="Google Shape;1395;p23"/>
            <p:cNvGrpSpPr/>
            <p:nvPr/>
          </p:nvGrpSpPr>
          <p:grpSpPr>
            <a:xfrm rot="-2553858">
              <a:off x="6204240" y="3298126"/>
              <a:ext cx="744146" cy="977838"/>
              <a:chOff x="6044991" y="2671759"/>
              <a:chExt cx="744165" cy="977863"/>
            </a:xfrm>
          </p:grpSpPr>
          <p:cxnSp>
            <p:nvCxnSpPr>
              <p:cNvPr id="1396" name="Google Shape;1396;p23"/>
              <p:cNvCxnSpPr/>
              <p:nvPr/>
            </p:nvCxnSpPr>
            <p:spPr>
              <a:xfrm flipH="1" rot="-3778148">
                <a:off x="6491854" y="2506298"/>
                <a:ext cx="16503" cy="617403"/>
              </a:xfrm>
              <a:prstGeom prst="straightConnector1">
                <a:avLst/>
              </a:prstGeom>
              <a:noFill/>
              <a:ln cap="flat" cmpd="sng" w="24325">
                <a:solidFill>
                  <a:srgbClr val="FFFF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397" name="Google Shape;1397;p23"/>
              <p:cNvCxnSpPr/>
              <p:nvPr/>
            </p:nvCxnSpPr>
            <p:spPr>
              <a:xfrm rot="-3787876">
                <a:off x="6196996" y="3097494"/>
                <a:ext cx="379690" cy="554057"/>
              </a:xfrm>
              <a:prstGeom prst="straightConnector1">
                <a:avLst/>
              </a:prstGeom>
              <a:noFill/>
              <a:ln cap="flat" cmpd="sng" w="24325">
                <a:solidFill>
                  <a:srgbClr val="FFFF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398" name="Google Shape;1398;p23"/>
              <p:cNvSpPr/>
              <p:nvPr/>
            </p:nvSpPr>
            <p:spPr>
              <a:xfrm rot="143870">
                <a:off x="6063203" y="2674379"/>
                <a:ext cx="140202" cy="763728"/>
              </a:xfrm>
              <a:custGeom>
                <a:rect b="b" l="l" r="r" t="t"/>
                <a:pathLst>
                  <a:path extrusionOk="0" h="29905" w="4740">
                    <a:moveTo>
                      <a:pt x="1229" y="29905"/>
                    </a:moveTo>
                    <a:cubicBezTo>
                      <a:pt x="-1533" y="20256"/>
                      <a:pt x="780" y="9222"/>
                      <a:pt x="4741" y="0"/>
                    </a:cubicBezTo>
                  </a:path>
                </a:pathLst>
              </a:custGeom>
              <a:noFill/>
              <a:ln cap="flat" cmpd="sng" w="24325">
                <a:solidFill>
                  <a:srgbClr val="FFFF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399" name="Google Shape;1399;p23"/>
              <p:cNvSpPr/>
              <p:nvPr/>
            </p:nvSpPr>
            <p:spPr>
              <a:xfrm>
                <a:off x="6704190" y="2926332"/>
                <a:ext cx="82523" cy="396989"/>
              </a:xfrm>
              <a:custGeom>
                <a:rect b="b" l="l" r="r" t="t"/>
                <a:pathLst>
                  <a:path extrusionOk="0" h="29905" w="4740">
                    <a:moveTo>
                      <a:pt x="1229" y="29905"/>
                    </a:moveTo>
                    <a:cubicBezTo>
                      <a:pt x="-1533" y="20256"/>
                      <a:pt x="780" y="9222"/>
                      <a:pt x="4741" y="0"/>
                    </a:cubicBezTo>
                  </a:path>
                </a:pathLst>
              </a:custGeom>
              <a:noFill/>
              <a:ln cap="flat" cmpd="sng" w="24325">
                <a:solidFill>
                  <a:srgbClr val="FFFF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cxnSp>
          <p:nvCxnSpPr>
            <p:cNvPr id="1400" name="Google Shape;1400;p23"/>
            <p:cNvCxnSpPr/>
            <p:nvPr/>
          </p:nvCxnSpPr>
          <p:spPr>
            <a:xfrm rot="-6338134">
              <a:off x="6145992" y="3526121"/>
              <a:ext cx="99066" cy="131358"/>
            </a:xfrm>
            <a:prstGeom prst="straightConnector1">
              <a:avLst/>
            </a:prstGeom>
            <a:noFill/>
            <a:ln cap="flat" cmpd="sng" w="8125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1" name="Google Shape;1401;p23"/>
            <p:cNvCxnSpPr/>
            <p:nvPr/>
          </p:nvCxnSpPr>
          <p:spPr>
            <a:xfrm rot="-6341519">
              <a:off x="6163077" y="3507611"/>
              <a:ext cx="186345" cy="229677"/>
            </a:xfrm>
            <a:prstGeom prst="straightConnector1">
              <a:avLst/>
            </a:prstGeom>
            <a:noFill/>
            <a:ln cap="flat" cmpd="sng" w="8125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2" name="Google Shape;1402;p23"/>
            <p:cNvCxnSpPr/>
            <p:nvPr/>
          </p:nvCxnSpPr>
          <p:spPr>
            <a:xfrm flipH="1" rot="10800000">
              <a:off x="6209650" y="3456063"/>
              <a:ext cx="228600" cy="361800"/>
            </a:xfrm>
            <a:prstGeom prst="straightConnector1">
              <a:avLst/>
            </a:prstGeom>
            <a:noFill/>
            <a:ln cap="flat" cmpd="sng" w="8125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3" name="Google Shape;1403;p23"/>
            <p:cNvCxnSpPr/>
            <p:nvPr/>
          </p:nvCxnSpPr>
          <p:spPr>
            <a:xfrm flipH="1" rot="10800000">
              <a:off x="6241950" y="3433763"/>
              <a:ext cx="283500" cy="447600"/>
            </a:xfrm>
            <a:prstGeom prst="straightConnector1">
              <a:avLst/>
            </a:prstGeom>
            <a:noFill/>
            <a:ln cap="flat" cmpd="sng" w="8125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4" name="Google Shape;1404;p23"/>
            <p:cNvCxnSpPr/>
            <p:nvPr/>
          </p:nvCxnSpPr>
          <p:spPr>
            <a:xfrm flipH="1" rot="10800000">
              <a:off x="6283850" y="3414388"/>
              <a:ext cx="331200" cy="538200"/>
            </a:xfrm>
            <a:prstGeom prst="straightConnector1">
              <a:avLst/>
            </a:prstGeom>
            <a:noFill/>
            <a:ln cap="flat" cmpd="sng" w="8125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5" name="Google Shape;1405;p23"/>
            <p:cNvCxnSpPr/>
            <p:nvPr/>
          </p:nvCxnSpPr>
          <p:spPr>
            <a:xfrm rot="-6341247">
              <a:off x="6292767" y="3448055"/>
              <a:ext cx="439366" cy="530916"/>
            </a:xfrm>
            <a:prstGeom prst="straightConnector1">
              <a:avLst/>
            </a:prstGeom>
            <a:noFill/>
            <a:ln cap="flat" cmpd="sng" w="8125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6" name="Google Shape;1406;p23"/>
            <p:cNvCxnSpPr/>
            <p:nvPr/>
          </p:nvCxnSpPr>
          <p:spPr>
            <a:xfrm rot="-6340423">
              <a:off x="6351293" y="3538944"/>
              <a:ext cx="399765" cy="505388"/>
            </a:xfrm>
            <a:prstGeom prst="straightConnector1">
              <a:avLst/>
            </a:prstGeom>
            <a:noFill/>
            <a:ln cap="flat" cmpd="sng" w="8125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7" name="Google Shape;1407;p23"/>
            <p:cNvCxnSpPr/>
            <p:nvPr/>
          </p:nvCxnSpPr>
          <p:spPr>
            <a:xfrm rot="-6340407">
              <a:off x="6404298" y="3607469"/>
              <a:ext cx="382004" cy="494187"/>
            </a:xfrm>
            <a:prstGeom prst="straightConnector1">
              <a:avLst/>
            </a:prstGeom>
            <a:noFill/>
            <a:ln cap="flat" cmpd="sng" w="8125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8" name="Google Shape;1408;p23"/>
            <p:cNvCxnSpPr/>
            <p:nvPr/>
          </p:nvCxnSpPr>
          <p:spPr>
            <a:xfrm rot="-6341762">
              <a:off x="6466915" y="3656902"/>
              <a:ext cx="369270" cy="483371"/>
            </a:xfrm>
            <a:prstGeom prst="straightConnector1">
              <a:avLst/>
            </a:prstGeom>
            <a:noFill/>
            <a:ln cap="flat" cmpd="sng" w="8125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09" name="Google Shape;1409;p23"/>
          <p:cNvGrpSpPr/>
          <p:nvPr/>
        </p:nvGrpSpPr>
        <p:grpSpPr>
          <a:xfrm rot="-7747678">
            <a:off x="6713808" y="5451802"/>
            <a:ext cx="917135" cy="927853"/>
            <a:chOff x="5893568" y="3081812"/>
            <a:chExt cx="1184774" cy="1198522"/>
          </a:xfrm>
        </p:grpSpPr>
        <p:grpSp>
          <p:nvGrpSpPr>
            <p:cNvPr id="1410" name="Google Shape;1410;p23"/>
            <p:cNvGrpSpPr/>
            <p:nvPr/>
          </p:nvGrpSpPr>
          <p:grpSpPr>
            <a:xfrm rot="-2553858">
              <a:off x="6121452" y="3202192"/>
              <a:ext cx="729006" cy="957763"/>
              <a:chOff x="6057691" y="2542624"/>
              <a:chExt cx="729025" cy="957787"/>
            </a:xfrm>
          </p:grpSpPr>
          <p:cxnSp>
            <p:nvCxnSpPr>
              <p:cNvPr id="1411" name="Google Shape;1411;p23"/>
              <p:cNvCxnSpPr/>
              <p:nvPr/>
            </p:nvCxnSpPr>
            <p:spPr>
              <a:xfrm flipH="1" rot="-8246357">
                <a:off x="6228918" y="2725045"/>
                <a:ext cx="588139" cy="125058"/>
              </a:xfrm>
              <a:prstGeom prst="straightConnector1">
                <a:avLst/>
              </a:prstGeom>
              <a:noFill/>
              <a:ln cap="flat" cmpd="sng" w="22125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412" name="Google Shape;1412;p23"/>
              <p:cNvCxnSpPr/>
              <p:nvPr/>
            </p:nvCxnSpPr>
            <p:spPr>
              <a:xfrm flipH="1" rot="10800000">
                <a:off x="6097647" y="3383711"/>
                <a:ext cx="594300" cy="116700"/>
              </a:xfrm>
              <a:prstGeom prst="straightConnector1">
                <a:avLst/>
              </a:prstGeom>
              <a:noFill/>
              <a:ln cap="flat" cmpd="sng" w="22125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413" name="Google Shape;1413;p23"/>
              <p:cNvSpPr/>
              <p:nvPr/>
            </p:nvSpPr>
            <p:spPr>
              <a:xfrm>
                <a:off x="6057691" y="2616591"/>
                <a:ext cx="202398" cy="870834"/>
              </a:xfrm>
              <a:custGeom>
                <a:rect b="b" l="l" r="r" t="t"/>
                <a:pathLst>
                  <a:path extrusionOk="0" h="29905" w="4740">
                    <a:moveTo>
                      <a:pt x="1229" y="29905"/>
                    </a:moveTo>
                    <a:cubicBezTo>
                      <a:pt x="-1533" y="20256"/>
                      <a:pt x="780" y="9222"/>
                      <a:pt x="4741" y="0"/>
                    </a:cubicBezTo>
                  </a:path>
                </a:pathLst>
              </a:custGeom>
              <a:noFill/>
              <a:ln cap="flat" cmpd="sng" w="22125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414" name="Google Shape;1414;p23"/>
              <p:cNvSpPr/>
              <p:nvPr/>
            </p:nvSpPr>
            <p:spPr>
              <a:xfrm>
                <a:off x="6679189" y="2926345"/>
                <a:ext cx="107527" cy="463154"/>
              </a:xfrm>
              <a:custGeom>
                <a:rect b="b" l="l" r="r" t="t"/>
                <a:pathLst>
                  <a:path extrusionOk="0" h="29905" w="4740">
                    <a:moveTo>
                      <a:pt x="1229" y="29905"/>
                    </a:moveTo>
                    <a:cubicBezTo>
                      <a:pt x="-1533" y="20256"/>
                      <a:pt x="780" y="9222"/>
                      <a:pt x="4741" y="0"/>
                    </a:cubicBezTo>
                  </a:path>
                </a:pathLst>
              </a:custGeom>
              <a:noFill/>
              <a:ln cap="flat" cmpd="sng" w="22125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cxnSp>
          <p:nvCxnSpPr>
            <p:cNvPr id="1415" name="Google Shape;1415;p23"/>
            <p:cNvCxnSpPr/>
            <p:nvPr/>
          </p:nvCxnSpPr>
          <p:spPr>
            <a:xfrm flipH="1" rot="10800000">
              <a:off x="6147225" y="3487550"/>
              <a:ext cx="109200" cy="1746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6" name="Google Shape;1416;p23"/>
            <p:cNvCxnSpPr/>
            <p:nvPr/>
          </p:nvCxnSpPr>
          <p:spPr>
            <a:xfrm flipH="1" rot="10800000">
              <a:off x="6173600" y="3466000"/>
              <a:ext cx="183000" cy="2856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7" name="Google Shape;1417;p23"/>
            <p:cNvCxnSpPr/>
            <p:nvPr/>
          </p:nvCxnSpPr>
          <p:spPr>
            <a:xfrm flipH="1" rot="10800000">
              <a:off x="6209650" y="3456063"/>
              <a:ext cx="228600" cy="3618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8" name="Google Shape;1418;p23"/>
            <p:cNvCxnSpPr/>
            <p:nvPr/>
          </p:nvCxnSpPr>
          <p:spPr>
            <a:xfrm flipH="1" rot="10800000">
              <a:off x="6241950" y="3433763"/>
              <a:ext cx="283500" cy="4476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19" name="Google Shape;1419;p23"/>
            <p:cNvCxnSpPr/>
            <p:nvPr/>
          </p:nvCxnSpPr>
          <p:spPr>
            <a:xfrm flipH="1" rot="10800000">
              <a:off x="6283850" y="3414388"/>
              <a:ext cx="331200" cy="5382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0" name="Google Shape;1420;p23"/>
            <p:cNvCxnSpPr/>
            <p:nvPr/>
          </p:nvCxnSpPr>
          <p:spPr>
            <a:xfrm flipH="1" rot="10800000">
              <a:off x="6322550" y="3425213"/>
              <a:ext cx="367500" cy="5910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1" name="Google Shape;1421;p23"/>
            <p:cNvCxnSpPr/>
            <p:nvPr/>
          </p:nvCxnSpPr>
          <p:spPr>
            <a:xfrm flipH="1" rot="10800000">
              <a:off x="6367875" y="3522238"/>
              <a:ext cx="351600" cy="5487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2" name="Google Shape;1422;p23"/>
            <p:cNvCxnSpPr/>
            <p:nvPr/>
          </p:nvCxnSpPr>
          <p:spPr>
            <a:xfrm flipH="1" rot="10800000">
              <a:off x="6414850" y="3600463"/>
              <a:ext cx="346500" cy="5229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3" name="Google Shape;1423;p23"/>
            <p:cNvCxnSpPr/>
            <p:nvPr/>
          </p:nvCxnSpPr>
          <p:spPr>
            <a:xfrm flipH="1" rot="10800000">
              <a:off x="6474550" y="3673138"/>
              <a:ext cx="328800" cy="4863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24" name="Google Shape;1424;p23"/>
            <p:cNvCxnSpPr/>
            <p:nvPr/>
          </p:nvCxnSpPr>
          <p:spPr>
            <a:xfrm flipH="1" rot="10800000">
              <a:off x="6525450" y="3712838"/>
              <a:ext cx="328800" cy="4863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25" name="Google Shape;1425;p23"/>
          <p:cNvGrpSpPr/>
          <p:nvPr/>
        </p:nvGrpSpPr>
        <p:grpSpPr>
          <a:xfrm>
            <a:off x="7438542" y="5030383"/>
            <a:ext cx="1435621" cy="519947"/>
            <a:chOff x="8548175" y="2668550"/>
            <a:chExt cx="1435621" cy="519947"/>
          </a:xfrm>
        </p:grpSpPr>
        <p:sp>
          <p:nvSpPr>
            <p:cNvPr id="1426" name="Google Shape;1426;p23"/>
            <p:cNvSpPr txBox="1"/>
            <p:nvPr/>
          </p:nvSpPr>
          <p:spPr>
            <a:xfrm>
              <a:off x="8548175" y="2668550"/>
              <a:ext cx="672300" cy="29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60">
                  <a:solidFill>
                    <a:schemeClr val="dk2"/>
                  </a:solidFill>
                </a:rPr>
                <a:t>Legend</a:t>
              </a:r>
              <a:endParaRPr b="1" sz="860">
                <a:solidFill>
                  <a:schemeClr val="dk2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0">
                <a:solidFill>
                  <a:schemeClr val="dk2"/>
                </a:solidFill>
              </a:endParaRPr>
            </a:p>
          </p:txBody>
        </p:sp>
        <p:sp>
          <p:nvSpPr>
            <p:cNvPr id="1427" name="Google Shape;1427;p23"/>
            <p:cNvSpPr/>
            <p:nvPr/>
          </p:nvSpPr>
          <p:spPr>
            <a:xfrm>
              <a:off x="8698150" y="2959475"/>
              <a:ext cx="146700" cy="141900"/>
            </a:xfrm>
            <a:prstGeom prst="rect">
              <a:avLst/>
            </a:prstGeom>
            <a:noFill/>
            <a:ln cap="flat" cmpd="sng" w="9525">
              <a:solidFill>
                <a:srgbClr val="93C4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23"/>
            <p:cNvSpPr txBox="1"/>
            <p:nvPr/>
          </p:nvSpPr>
          <p:spPr>
            <a:xfrm>
              <a:off x="8795496" y="2871397"/>
              <a:ext cx="1188300" cy="3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60">
                  <a:solidFill>
                    <a:schemeClr val="dk2"/>
                  </a:solidFill>
                </a:rPr>
                <a:t>Reused material</a:t>
              </a:r>
              <a:endParaRPr sz="860">
                <a:solidFill>
                  <a:schemeClr val="dk2"/>
                </a:solidFill>
              </a:endParaRPr>
            </a:p>
          </p:txBody>
        </p:sp>
        <p:cxnSp>
          <p:nvCxnSpPr>
            <p:cNvPr id="1429" name="Google Shape;1429;p23"/>
            <p:cNvCxnSpPr>
              <a:stCxn id="1427" idx="1"/>
            </p:cNvCxnSpPr>
            <p:nvPr/>
          </p:nvCxnSpPr>
          <p:spPr>
            <a:xfrm flipH="1" rot="10800000">
              <a:off x="8698150" y="2959625"/>
              <a:ext cx="73500" cy="70800"/>
            </a:xfrm>
            <a:prstGeom prst="straightConnector1">
              <a:avLst/>
            </a:prstGeom>
            <a:noFill/>
            <a:ln cap="flat" cmpd="sng" w="9525">
              <a:solidFill>
                <a:srgbClr val="93C47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0" name="Google Shape;1430;p23"/>
            <p:cNvCxnSpPr/>
            <p:nvPr/>
          </p:nvCxnSpPr>
          <p:spPr>
            <a:xfrm flipH="1" rot="10800000">
              <a:off x="8698150" y="2963225"/>
              <a:ext cx="146400" cy="138000"/>
            </a:xfrm>
            <a:prstGeom prst="straightConnector1">
              <a:avLst/>
            </a:prstGeom>
            <a:noFill/>
            <a:ln cap="flat" cmpd="sng" w="9525">
              <a:solidFill>
                <a:srgbClr val="93C47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1" name="Google Shape;1431;p23"/>
            <p:cNvCxnSpPr/>
            <p:nvPr/>
          </p:nvCxnSpPr>
          <p:spPr>
            <a:xfrm flipH="1" rot="10800000">
              <a:off x="8771650" y="3030425"/>
              <a:ext cx="73500" cy="70800"/>
            </a:xfrm>
            <a:prstGeom prst="straightConnector1">
              <a:avLst/>
            </a:prstGeom>
            <a:noFill/>
            <a:ln cap="flat" cmpd="sng" w="9525">
              <a:solidFill>
                <a:srgbClr val="93C47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32" name="Google Shape;1432;p23"/>
          <p:cNvGrpSpPr/>
          <p:nvPr/>
        </p:nvGrpSpPr>
        <p:grpSpPr>
          <a:xfrm>
            <a:off x="7593906" y="5462204"/>
            <a:ext cx="1964213" cy="315600"/>
            <a:chOff x="8698150" y="2879721"/>
            <a:chExt cx="1964213" cy="315600"/>
          </a:xfrm>
        </p:grpSpPr>
        <p:sp>
          <p:nvSpPr>
            <p:cNvPr id="1433" name="Google Shape;1433;p23"/>
            <p:cNvSpPr/>
            <p:nvPr/>
          </p:nvSpPr>
          <p:spPr>
            <a:xfrm>
              <a:off x="8698150" y="2959475"/>
              <a:ext cx="146700" cy="141900"/>
            </a:xfrm>
            <a:prstGeom prst="rect">
              <a:avLst/>
            </a:prstGeom>
            <a:noFill/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23"/>
            <p:cNvSpPr txBox="1"/>
            <p:nvPr/>
          </p:nvSpPr>
          <p:spPr>
            <a:xfrm>
              <a:off x="8806563" y="2879721"/>
              <a:ext cx="1855800" cy="3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chemeClr val="dk2"/>
                  </a:solidFill>
                </a:rPr>
                <a:t>Limited availability</a:t>
              </a:r>
              <a:endParaRPr sz="850">
                <a:solidFill>
                  <a:schemeClr val="dk2"/>
                </a:solidFill>
              </a:endParaRPr>
            </a:p>
          </p:txBody>
        </p:sp>
        <p:cxnSp>
          <p:nvCxnSpPr>
            <p:cNvPr id="1435" name="Google Shape;1435;p23"/>
            <p:cNvCxnSpPr>
              <a:stCxn id="1433" idx="1"/>
            </p:cNvCxnSpPr>
            <p:nvPr/>
          </p:nvCxnSpPr>
          <p:spPr>
            <a:xfrm flipH="1" rot="10800000">
              <a:off x="8698150" y="2959625"/>
              <a:ext cx="73500" cy="70800"/>
            </a:xfrm>
            <a:prstGeom prst="straightConnector1">
              <a:avLst/>
            </a:prstGeom>
            <a:noFill/>
            <a:ln cap="flat" cmpd="sng" w="9525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6" name="Google Shape;1436;p23"/>
            <p:cNvCxnSpPr/>
            <p:nvPr/>
          </p:nvCxnSpPr>
          <p:spPr>
            <a:xfrm flipH="1" rot="10800000">
              <a:off x="8698150" y="2963225"/>
              <a:ext cx="146400" cy="138000"/>
            </a:xfrm>
            <a:prstGeom prst="straightConnector1">
              <a:avLst/>
            </a:prstGeom>
            <a:noFill/>
            <a:ln cap="flat" cmpd="sng" w="9525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37" name="Google Shape;1437;p23"/>
            <p:cNvCxnSpPr/>
            <p:nvPr/>
          </p:nvCxnSpPr>
          <p:spPr>
            <a:xfrm flipH="1" rot="10800000">
              <a:off x="8771650" y="3030425"/>
              <a:ext cx="73500" cy="70800"/>
            </a:xfrm>
            <a:prstGeom prst="straightConnector1">
              <a:avLst/>
            </a:prstGeom>
            <a:noFill/>
            <a:ln cap="flat" cmpd="sng" w="9525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438" name="Google Shape;1438;p23"/>
          <p:cNvGrpSpPr/>
          <p:nvPr/>
        </p:nvGrpSpPr>
        <p:grpSpPr>
          <a:xfrm>
            <a:off x="8834336" y="7111675"/>
            <a:ext cx="4557232" cy="618331"/>
            <a:chOff x="4268193" y="552116"/>
            <a:chExt cx="6213843" cy="697025"/>
          </a:xfrm>
        </p:grpSpPr>
        <p:sp>
          <p:nvSpPr>
            <p:cNvPr id="1439" name="Google Shape;1439;p23"/>
            <p:cNvSpPr/>
            <p:nvPr/>
          </p:nvSpPr>
          <p:spPr>
            <a:xfrm>
              <a:off x="6760562" y="609015"/>
              <a:ext cx="3546300" cy="255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8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1100" lIns="81100" spcFirstLastPara="1" rIns="81100" wrap="square" tIns="811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41"/>
            </a:p>
          </p:txBody>
        </p:sp>
        <p:sp>
          <p:nvSpPr>
            <p:cNvPr id="1440" name="Google Shape;1440;p23"/>
            <p:cNvSpPr txBox="1"/>
            <p:nvPr/>
          </p:nvSpPr>
          <p:spPr>
            <a:xfrm>
              <a:off x="4268193" y="552116"/>
              <a:ext cx="28551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100" lIns="81100" spcFirstLastPara="1" rIns="81100" wrap="square" tIns="8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86">
                  <a:solidFill>
                    <a:srgbClr val="B7B7B7"/>
                  </a:solidFill>
                </a:rPr>
                <a:t>CONSTRUCTION YEAR</a:t>
              </a:r>
              <a:endParaRPr b="1" sz="1186">
                <a:solidFill>
                  <a:srgbClr val="B7B7B7"/>
                </a:solidFill>
              </a:endParaRPr>
            </a:p>
          </p:txBody>
        </p:sp>
        <p:sp>
          <p:nvSpPr>
            <p:cNvPr id="1441" name="Google Shape;1441;p23"/>
            <p:cNvSpPr txBox="1"/>
            <p:nvPr/>
          </p:nvSpPr>
          <p:spPr>
            <a:xfrm>
              <a:off x="6732035" y="810841"/>
              <a:ext cx="37500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100" lIns="81100" spcFirstLastPara="1" rIns="81100" wrap="square" tIns="8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20">
                  <a:solidFill>
                    <a:schemeClr val="dk2"/>
                  </a:solidFill>
                </a:rPr>
                <a:t>2020	2030	2040	2050	2060	2070</a:t>
              </a:r>
              <a:endParaRPr sz="620">
                <a:solidFill>
                  <a:schemeClr val="dk2"/>
                </a:solidFill>
              </a:endParaRPr>
            </a:p>
          </p:txBody>
        </p:sp>
        <p:sp>
          <p:nvSpPr>
            <p:cNvPr id="1442" name="Google Shape;1442;p23"/>
            <p:cNvSpPr/>
            <p:nvPr/>
          </p:nvSpPr>
          <p:spPr>
            <a:xfrm>
              <a:off x="6766012" y="605859"/>
              <a:ext cx="1957500" cy="255600"/>
            </a:xfrm>
            <a:prstGeom prst="roundRect">
              <a:avLst>
                <a:gd fmla="val 16667" name="adj"/>
              </a:avLst>
            </a:prstGeom>
            <a:solidFill>
              <a:srgbClr val="AAD3E0"/>
            </a:solidFill>
            <a:ln cap="flat" cmpd="sng" w="8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1100" lIns="81100" spcFirstLastPara="1" rIns="81100" wrap="square" tIns="811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41"/>
            </a:p>
          </p:txBody>
        </p:sp>
      </p:grpSp>
      <p:pic>
        <p:nvPicPr>
          <p:cNvPr id="1443" name="Google Shape;1443;p23"/>
          <p:cNvPicPr preferRelativeResize="0"/>
          <p:nvPr/>
        </p:nvPicPr>
        <p:blipFill>
          <a:blip r:embed="rId12">
            <a:alphaModFix amt="65000"/>
          </a:blip>
          <a:stretch>
            <a:fillRect/>
          </a:stretch>
        </p:blipFill>
        <p:spPr>
          <a:xfrm>
            <a:off x="1275" y="-30925"/>
            <a:ext cx="13715999" cy="8291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4" name="Google Shape;1444;p23" title="Screenshot 2026-02-19 at 11.46.04 AM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692324" y="335550"/>
            <a:ext cx="12333901" cy="7558497"/>
          </a:xfrm>
          <a:prstGeom prst="rect">
            <a:avLst/>
          </a:prstGeom>
          <a:noFill/>
          <a:ln cap="flat" cmpd="sng" w="9525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45" name="Google Shape;1445;p23"/>
          <p:cNvSpPr/>
          <p:nvPr/>
        </p:nvSpPr>
        <p:spPr>
          <a:xfrm>
            <a:off x="5232100" y="540500"/>
            <a:ext cx="2206500" cy="51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6" name="Google Shape;1446;p23"/>
          <p:cNvSpPr/>
          <p:nvPr/>
        </p:nvSpPr>
        <p:spPr>
          <a:xfrm>
            <a:off x="1074800" y="722000"/>
            <a:ext cx="3221100" cy="3249300"/>
          </a:xfrm>
          <a:prstGeom prst="roundRect">
            <a:avLst>
              <a:gd fmla="val 16667" name="adj"/>
            </a:avLst>
          </a:prstGeom>
          <a:solidFill>
            <a:srgbClr val="EDF7FF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7" name="Google Shape;1447;p23"/>
          <p:cNvSpPr txBox="1"/>
          <p:nvPr/>
        </p:nvSpPr>
        <p:spPr>
          <a:xfrm>
            <a:off x="1251300" y="82835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Material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448" name="Google Shape;1448;p23"/>
          <p:cNvSpPr/>
          <p:nvPr/>
        </p:nvSpPr>
        <p:spPr>
          <a:xfrm rot="10800000">
            <a:off x="2091396" y="984903"/>
            <a:ext cx="167100" cy="101400"/>
          </a:xfrm>
          <a:prstGeom prst="triangle">
            <a:avLst>
              <a:gd fmla="val 50000" name="adj"/>
            </a:avLst>
          </a:prstGeom>
          <a:solidFill>
            <a:srgbClr val="B7B7B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0175" lIns="140175" spcFirstLastPara="1" rIns="140175" wrap="square" tIns="14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  <p:sp>
        <p:nvSpPr>
          <p:cNvPr id="1449" name="Google Shape;1449;p23"/>
          <p:cNvSpPr txBox="1"/>
          <p:nvPr/>
        </p:nvSpPr>
        <p:spPr>
          <a:xfrm>
            <a:off x="1340600" y="1113488"/>
            <a:ext cx="3000000" cy="12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Char char="❏"/>
            </a:pPr>
            <a:r>
              <a:rPr lang="en">
                <a:solidFill>
                  <a:srgbClr val="666666"/>
                </a:solidFill>
              </a:rPr>
              <a:t>Fly ash</a:t>
            </a:r>
            <a:endParaRPr>
              <a:solidFill>
                <a:srgbClr val="666666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Char char="❏"/>
            </a:pPr>
            <a:r>
              <a:rPr lang="en">
                <a:solidFill>
                  <a:srgbClr val="666666"/>
                </a:solidFill>
              </a:rPr>
              <a:t>Blast furnace slag</a:t>
            </a:r>
            <a:endParaRPr>
              <a:solidFill>
                <a:srgbClr val="666666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Char char="❏"/>
            </a:pPr>
            <a:r>
              <a:rPr lang="en">
                <a:solidFill>
                  <a:srgbClr val="666666"/>
                </a:solidFill>
              </a:rPr>
              <a:t>Steel</a:t>
            </a:r>
            <a:endParaRPr>
              <a:solidFill>
                <a:srgbClr val="666666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Char char="❏"/>
            </a:pPr>
            <a:r>
              <a:rPr lang="en">
                <a:solidFill>
                  <a:srgbClr val="666666"/>
                </a:solidFill>
              </a:rPr>
              <a:t>Concrete</a:t>
            </a:r>
            <a:endParaRPr>
              <a:solidFill>
                <a:srgbClr val="666666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Char char="❏"/>
            </a:pPr>
            <a:r>
              <a:rPr lang="en">
                <a:solidFill>
                  <a:srgbClr val="666666"/>
                </a:solidFill>
              </a:rPr>
              <a:t>…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1450" name="Google Shape;1450;p23"/>
          <p:cNvSpPr/>
          <p:nvPr/>
        </p:nvSpPr>
        <p:spPr>
          <a:xfrm>
            <a:off x="1587086" y="1384666"/>
            <a:ext cx="167099" cy="134204"/>
          </a:xfrm>
          <a:custGeom>
            <a:rect b="b" l="l" r="r" t="t"/>
            <a:pathLst>
              <a:path extrusionOk="0" h="4557" w="7125">
                <a:moveTo>
                  <a:pt x="0" y="4027"/>
                </a:moveTo>
                <a:cubicBezTo>
                  <a:pt x="1930" y="5955"/>
                  <a:pt x="5196" y="1929"/>
                  <a:pt x="7125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451" name="Google Shape;1451;p23"/>
          <p:cNvSpPr/>
          <p:nvPr/>
        </p:nvSpPr>
        <p:spPr>
          <a:xfrm>
            <a:off x="11758075" y="3711225"/>
            <a:ext cx="1023600" cy="1751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2" name="Google Shape;1452;p23"/>
          <p:cNvSpPr txBox="1"/>
          <p:nvPr/>
        </p:nvSpPr>
        <p:spPr>
          <a:xfrm>
            <a:off x="11041253" y="2972732"/>
            <a:ext cx="1775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666666"/>
                </a:solidFill>
              </a:rPr>
              <a:t>Material availability</a:t>
            </a:r>
            <a:endParaRPr>
              <a:solidFill>
                <a:srgbClr val="666666"/>
              </a:solidFill>
            </a:endParaRPr>
          </a:p>
        </p:txBody>
      </p:sp>
      <p:pic>
        <p:nvPicPr>
          <p:cNvPr id="1453" name="Google Shape;1453;p23" title="Screenshot 2026-02-19 at 11.53.04 AM.pn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1164788" y="3381550"/>
            <a:ext cx="1238250" cy="16573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54" name="Google Shape;1454;p23"/>
          <p:cNvGrpSpPr/>
          <p:nvPr/>
        </p:nvGrpSpPr>
        <p:grpSpPr>
          <a:xfrm>
            <a:off x="8291708" y="7224286"/>
            <a:ext cx="4557232" cy="618331"/>
            <a:chOff x="4268193" y="552116"/>
            <a:chExt cx="6213843" cy="697025"/>
          </a:xfrm>
        </p:grpSpPr>
        <p:sp>
          <p:nvSpPr>
            <p:cNvPr id="1455" name="Google Shape;1455;p23"/>
            <p:cNvSpPr/>
            <p:nvPr/>
          </p:nvSpPr>
          <p:spPr>
            <a:xfrm>
              <a:off x="6760562" y="609015"/>
              <a:ext cx="3546300" cy="255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8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1100" lIns="81100" spcFirstLastPara="1" rIns="81100" wrap="square" tIns="811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41"/>
            </a:p>
          </p:txBody>
        </p:sp>
        <p:sp>
          <p:nvSpPr>
            <p:cNvPr id="1456" name="Google Shape;1456;p23"/>
            <p:cNvSpPr txBox="1"/>
            <p:nvPr/>
          </p:nvSpPr>
          <p:spPr>
            <a:xfrm>
              <a:off x="4268193" y="552116"/>
              <a:ext cx="28551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100" lIns="81100" spcFirstLastPara="1" rIns="81100" wrap="square" tIns="8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86">
                  <a:solidFill>
                    <a:srgbClr val="B7B7B7"/>
                  </a:solidFill>
                </a:rPr>
                <a:t>CONSTRUCTION YEAR</a:t>
              </a:r>
              <a:endParaRPr b="1" sz="1186">
                <a:solidFill>
                  <a:srgbClr val="B7B7B7"/>
                </a:solidFill>
              </a:endParaRPr>
            </a:p>
          </p:txBody>
        </p:sp>
        <p:sp>
          <p:nvSpPr>
            <p:cNvPr id="1457" name="Google Shape;1457;p23"/>
            <p:cNvSpPr txBox="1"/>
            <p:nvPr/>
          </p:nvSpPr>
          <p:spPr>
            <a:xfrm>
              <a:off x="6732035" y="810841"/>
              <a:ext cx="37500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100" lIns="81100" spcFirstLastPara="1" rIns="81100" wrap="square" tIns="8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20">
                  <a:solidFill>
                    <a:schemeClr val="dk2"/>
                  </a:solidFill>
                </a:rPr>
                <a:t>2020	2030	2040	2050	2060	2070</a:t>
              </a:r>
              <a:endParaRPr sz="620">
                <a:solidFill>
                  <a:schemeClr val="dk2"/>
                </a:solidFill>
              </a:endParaRPr>
            </a:p>
          </p:txBody>
        </p:sp>
        <p:sp>
          <p:nvSpPr>
            <p:cNvPr id="1458" name="Google Shape;1458;p23"/>
            <p:cNvSpPr/>
            <p:nvPr/>
          </p:nvSpPr>
          <p:spPr>
            <a:xfrm>
              <a:off x="6766012" y="605859"/>
              <a:ext cx="1957500" cy="255600"/>
            </a:xfrm>
            <a:prstGeom prst="roundRect">
              <a:avLst>
                <a:gd fmla="val 16667" name="adj"/>
              </a:avLst>
            </a:prstGeom>
            <a:solidFill>
              <a:srgbClr val="AAD3E0"/>
            </a:solidFill>
            <a:ln cap="flat" cmpd="sng" w="8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1100" lIns="81100" spcFirstLastPara="1" rIns="81100" wrap="square" tIns="811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41"/>
            </a:p>
          </p:txBody>
        </p:sp>
      </p:grpSp>
      <p:grpSp>
        <p:nvGrpSpPr>
          <p:cNvPr id="1459" name="Google Shape;1459;p23"/>
          <p:cNvGrpSpPr/>
          <p:nvPr/>
        </p:nvGrpSpPr>
        <p:grpSpPr>
          <a:xfrm>
            <a:off x="12005449" y="497748"/>
            <a:ext cx="914985" cy="604352"/>
            <a:chOff x="12640449" y="991636"/>
            <a:chExt cx="914985" cy="604352"/>
          </a:xfrm>
        </p:grpSpPr>
        <p:pic>
          <p:nvPicPr>
            <p:cNvPr id="1460" name="Google Shape;1460;p23" title="download.png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12640449" y="991636"/>
              <a:ext cx="332100" cy="3321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1" name="Google Shape;1461;p23"/>
            <p:cNvSpPr/>
            <p:nvPr/>
          </p:nvSpPr>
          <p:spPr>
            <a:xfrm>
              <a:off x="13144850" y="1035413"/>
              <a:ext cx="259800" cy="244500"/>
            </a:xfrm>
            <a:prstGeom prst="flowChartSummingJunction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462" name="Google Shape;1462;p23"/>
            <p:cNvPicPr preferRelativeResize="0"/>
            <p:nvPr/>
          </p:nvPicPr>
          <p:blipFill>
            <a:blip r:embed="rId15">
              <a:alphaModFix/>
            </a:blip>
            <a:stretch>
              <a:fillRect/>
            </a:stretch>
          </p:blipFill>
          <p:spPr>
            <a:xfrm>
              <a:off x="13295634" y="1207097"/>
              <a:ext cx="259800" cy="388892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463" name="Google Shape;1463;p23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2505446" y="4819026"/>
            <a:ext cx="332100" cy="332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4" name="Google Shape;1464;p23"/>
          <p:cNvSpPr txBox="1"/>
          <p:nvPr/>
        </p:nvSpPr>
        <p:spPr>
          <a:xfrm>
            <a:off x="1229062" y="2351868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Availability Scenario</a:t>
            </a:r>
            <a:endParaRPr b="1">
              <a:solidFill>
                <a:schemeClr val="dk1"/>
              </a:solidFill>
            </a:endParaRPr>
          </a:p>
        </p:txBody>
      </p:sp>
      <p:sp>
        <p:nvSpPr>
          <p:cNvPr id="1465" name="Google Shape;1465;p23"/>
          <p:cNvSpPr txBox="1"/>
          <p:nvPr/>
        </p:nvSpPr>
        <p:spPr>
          <a:xfrm>
            <a:off x="1318362" y="2637005"/>
            <a:ext cx="30000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❏"/>
            </a:pPr>
            <a:r>
              <a:rPr lang="en" sz="1300">
                <a:solidFill>
                  <a:srgbClr val="666666"/>
                </a:solidFill>
              </a:rPr>
              <a:t>High domestic import reliance</a:t>
            </a:r>
            <a:endParaRPr sz="1300">
              <a:solidFill>
                <a:srgbClr val="666666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❏"/>
            </a:pPr>
            <a:r>
              <a:rPr lang="en" sz="1300">
                <a:solidFill>
                  <a:srgbClr val="666666"/>
                </a:solidFill>
              </a:rPr>
              <a:t>Regional resource scarcity</a:t>
            </a:r>
            <a:endParaRPr sz="1300">
              <a:solidFill>
                <a:srgbClr val="666666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❏"/>
            </a:pPr>
            <a:r>
              <a:rPr lang="en" sz="1300">
                <a:solidFill>
                  <a:srgbClr val="666666"/>
                </a:solidFill>
              </a:rPr>
              <a:t>Reduced circularity opportunities</a:t>
            </a:r>
            <a:endParaRPr>
              <a:solidFill>
                <a:srgbClr val="666666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Char char="❏"/>
            </a:pPr>
            <a:r>
              <a:rPr lang="en">
                <a:solidFill>
                  <a:srgbClr val="666666"/>
                </a:solidFill>
              </a:rPr>
              <a:t>…</a:t>
            </a:r>
            <a:endParaRPr>
              <a:solidFill>
                <a:srgbClr val="666666"/>
              </a:solidFill>
            </a:endParaRPr>
          </a:p>
        </p:txBody>
      </p:sp>
      <p:sp>
        <p:nvSpPr>
          <p:cNvPr id="1466" name="Google Shape;1466;p23"/>
          <p:cNvSpPr/>
          <p:nvPr/>
        </p:nvSpPr>
        <p:spPr>
          <a:xfrm rot="10800000">
            <a:off x="3092456" y="2506955"/>
            <a:ext cx="167100" cy="101400"/>
          </a:xfrm>
          <a:prstGeom prst="triangle">
            <a:avLst>
              <a:gd fmla="val 50000" name="adj"/>
            </a:avLst>
          </a:prstGeom>
          <a:solidFill>
            <a:srgbClr val="B7B7B7"/>
          </a:solidFill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0175" lIns="140175" spcFirstLastPara="1" rIns="140175" wrap="square" tIns="14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1" name="Google Shape;147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400" y="211996"/>
            <a:ext cx="672433" cy="5102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72" name="Google Shape;1472;p24"/>
          <p:cNvCxnSpPr>
            <a:stCxn id="1473" idx="1"/>
          </p:cNvCxnSpPr>
          <p:nvPr/>
        </p:nvCxnSpPr>
        <p:spPr>
          <a:xfrm>
            <a:off x="1921100" y="232040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474" name="Google Shape;1474;p24"/>
          <p:cNvSpPr/>
          <p:nvPr/>
        </p:nvSpPr>
        <p:spPr>
          <a:xfrm>
            <a:off x="322450" y="1045650"/>
            <a:ext cx="3608700" cy="43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0175" lIns="140175" spcFirstLastPara="1" rIns="140175" wrap="square" tIns="140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999999"/>
                </a:solidFill>
              </a:rPr>
              <a:t>       Ventura County, CA</a:t>
            </a:r>
            <a:endParaRPr sz="1500">
              <a:solidFill>
                <a:srgbClr val="999999"/>
              </a:solidFill>
            </a:endParaRPr>
          </a:p>
        </p:txBody>
      </p:sp>
      <p:pic>
        <p:nvPicPr>
          <p:cNvPr id="1475" name="Google Shape;1475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625" y="1067100"/>
            <a:ext cx="388875" cy="38887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grpSp>
        <p:nvGrpSpPr>
          <p:cNvPr id="1476" name="Google Shape;1476;p24"/>
          <p:cNvGrpSpPr/>
          <p:nvPr/>
        </p:nvGrpSpPr>
        <p:grpSpPr>
          <a:xfrm>
            <a:off x="313743" y="1737435"/>
            <a:ext cx="3608871" cy="488553"/>
            <a:chOff x="313750" y="1747448"/>
            <a:chExt cx="3505800" cy="474600"/>
          </a:xfrm>
        </p:grpSpPr>
        <p:sp>
          <p:nvSpPr>
            <p:cNvPr id="1477" name="Google Shape;1477;p24"/>
            <p:cNvSpPr/>
            <p:nvPr/>
          </p:nvSpPr>
          <p:spPr>
            <a:xfrm>
              <a:off x="313750" y="1747448"/>
              <a:ext cx="3505800" cy="474600"/>
            </a:xfrm>
            <a:prstGeom prst="rect">
              <a:avLst/>
            </a:prstGeom>
            <a:solidFill>
              <a:schemeClr val="lt1"/>
            </a:solidFill>
            <a:ln cap="flat" cmpd="sng" w="98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44300" lIns="144300" spcFirstLastPara="1" rIns="144300" wrap="square" tIns="144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41"/>
                <a:t>Building Specifications</a:t>
              </a:r>
              <a:endParaRPr b="1" sz="1441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26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26">
                <a:solidFill>
                  <a:srgbClr val="666666"/>
                </a:solidFill>
              </a:endParaRPr>
            </a:p>
            <a:p>
              <a:pPr indent="0" lvl="0" marL="719051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26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26"/>
            </a:p>
          </p:txBody>
        </p:sp>
        <p:sp>
          <p:nvSpPr>
            <p:cNvPr id="1478" name="Google Shape;1478;p24"/>
            <p:cNvSpPr/>
            <p:nvPr/>
          </p:nvSpPr>
          <p:spPr>
            <a:xfrm rot="10800000">
              <a:off x="2469500" y="1961425"/>
              <a:ext cx="167100" cy="101400"/>
            </a:xfrm>
            <a:prstGeom prst="triangle">
              <a:avLst>
                <a:gd fmla="val 50000" name="adj"/>
              </a:avLst>
            </a:prstGeom>
            <a:solidFill>
              <a:srgbClr val="B7B7B7"/>
            </a:solidFill>
            <a:ln cap="flat" cmpd="sng" w="9800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44300" lIns="144300" spcFirstLastPara="1" rIns="144300" wrap="square" tIns="1443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61"/>
            </a:p>
          </p:txBody>
        </p:sp>
      </p:grpSp>
      <p:sp>
        <p:nvSpPr>
          <p:cNvPr id="1479" name="Google Shape;1479;p24"/>
          <p:cNvSpPr/>
          <p:nvPr/>
        </p:nvSpPr>
        <p:spPr>
          <a:xfrm>
            <a:off x="469388" y="4059375"/>
            <a:ext cx="3297600" cy="310200"/>
          </a:xfrm>
          <a:prstGeom prst="roundRect">
            <a:avLst>
              <a:gd fmla="val 16667" name="adj"/>
            </a:avLst>
          </a:prstGeom>
          <a:solidFill>
            <a:srgbClr val="AAD3E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rgbClr val="666666"/>
              </a:solidFill>
            </a:endParaRPr>
          </a:p>
        </p:txBody>
      </p:sp>
      <p:grpSp>
        <p:nvGrpSpPr>
          <p:cNvPr id="1480" name="Google Shape;1480;p24"/>
          <p:cNvGrpSpPr/>
          <p:nvPr/>
        </p:nvGrpSpPr>
        <p:grpSpPr>
          <a:xfrm>
            <a:off x="322326" y="2458301"/>
            <a:ext cx="3608960" cy="2060425"/>
            <a:chOff x="313788" y="2413670"/>
            <a:chExt cx="3608960" cy="474512"/>
          </a:xfrm>
        </p:grpSpPr>
        <p:sp>
          <p:nvSpPr>
            <p:cNvPr id="1481" name="Google Shape;1481;p24"/>
            <p:cNvSpPr/>
            <p:nvPr/>
          </p:nvSpPr>
          <p:spPr>
            <a:xfrm>
              <a:off x="313788" y="2413670"/>
              <a:ext cx="3608960" cy="474512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94825" lIns="194825" spcFirstLastPara="1" rIns="194825" wrap="square" tIns="19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5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5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5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50">
                <a:solidFill>
                  <a:schemeClr val="dk1"/>
                </a:solidFill>
              </a:endParaRPr>
            </a:p>
          </p:txBody>
        </p:sp>
        <p:sp>
          <p:nvSpPr>
            <p:cNvPr id="1482" name="Google Shape;1482;p24"/>
            <p:cNvSpPr txBox="1"/>
            <p:nvPr/>
          </p:nvSpPr>
          <p:spPr>
            <a:xfrm>
              <a:off x="370611" y="2426226"/>
              <a:ext cx="2579100" cy="8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chemeClr val="dk1"/>
                  </a:solidFill>
                </a:rPr>
                <a:t>Material Availability Scenarios</a:t>
              </a:r>
              <a:endParaRPr b="1" sz="1300">
                <a:solidFill>
                  <a:schemeClr val="dk1"/>
                </a:solidFill>
              </a:endParaRPr>
            </a:p>
          </p:txBody>
        </p:sp>
      </p:grpSp>
      <p:grpSp>
        <p:nvGrpSpPr>
          <p:cNvPr id="1483" name="Google Shape;1483;p24"/>
          <p:cNvGrpSpPr/>
          <p:nvPr/>
        </p:nvGrpSpPr>
        <p:grpSpPr>
          <a:xfrm>
            <a:off x="3041845" y="2408454"/>
            <a:ext cx="1379400" cy="441300"/>
            <a:chOff x="2288643" y="3791740"/>
            <a:chExt cx="1379400" cy="441300"/>
          </a:xfrm>
        </p:grpSpPr>
        <p:grpSp>
          <p:nvGrpSpPr>
            <p:cNvPr id="1484" name="Google Shape;1484;p24"/>
            <p:cNvGrpSpPr/>
            <p:nvPr/>
          </p:nvGrpSpPr>
          <p:grpSpPr>
            <a:xfrm>
              <a:off x="2366608" y="3951165"/>
              <a:ext cx="721768" cy="252684"/>
              <a:chOff x="1477442" y="1270191"/>
              <a:chExt cx="427006" cy="181800"/>
            </a:xfrm>
          </p:grpSpPr>
          <p:sp>
            <p:nvSpPr>
              <p:cNvPr id="1485" name="Google Shape;1485;p24"/>
              <p:cNvSpPr/>
              <p:nvPr/>
            </p:nvSpPr>
            <p:spPr>
              <a:xfrm>
                <a:off x="1477442" y="1270233"/>
                <a:ext cx="421893" cy="181722"/>
              </a:xfrm>
              <a:prstGeom prst="flowChartMagneticDrum">
                <a:avLst/>
              </a:prstGeom>
              <a:solidFill>
                <a:srgbClr val="AAD3E0"/>
              </a:solidFill>
              <a:ln cap="flat" cmpd="sng" w="132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194825" lIns="194825" spcFirstLastPara="1" rIns="194825" wrap="square" tIns="1948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918"/>
              </a:p>
            </p:txBody>
          </p:sp>
          <p:sp>
            <p:nvSpPr>
              <p:cNvPr id="1486" name="Google Shape;1486;p24"/>
              <p:cNvSpPr/>
              <p:nvPr/>
            </p:nvSpPr>
            <p:spPr>
              <a:xfrm>
                <a:off x="1750848" y="1270191"/>
                <a:ext cx="153600" cy="181800"/>
              </a:xfrm>
              <a:prstGeom prst="ellipse">
                <a:avLst/>
              </a:prstGeom>
              <a:solidFill>
                <a:schemeClr val="lt1"/>
              </a:solidFill>
              <a:ln cap="flat" cmpd="sng" w="132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194825" lIns="194825" spcFirstLastPara="1" rIns="194825" wrap="square" tIns="1948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918"/>
              </a:p>
            </p:txBody>
          </p:sp>
        </p:grpSp>
        <p:sp>
          <p:nvSpPr>
            <p:cNvPr id="1487" name="Google Shape;1487;p24"/>
            <p:cNvSpPr txBox="1"/>
            <p:nvPr/>
          </p:nvSpPr>
          <p:spPr>
            <a:xfrm>
              <a:off x="2288643" y="3791740"/>
              <a:ext cx="1379400" cy="44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4825" lIns="194825" spcFirstLastPara="1" rIns="194825" wrap="square" tIns="19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50">
                  <a:solidFill>
                    <a:schemeClr val="lt1"/>
                  </a:solidFill>
                </a:rPr>
                <a:t>On</a:t>
              </a:r>
              <a:endParaRPr sz="1250">
                <a:solidFill>
                  <a:schemeClr val="lt1"/>
                </a:solidFill>
              </a:endParaRPr>
            </a:p>
          </p:txBody>
        </p:sp>
      </p:grpSp>
      <p:sp>
        <p:nvSpPr>
          <p:cNvPr id="1488" name="Google Shape;1488;p24"/>
          <p:cNvSpPr txBox="1"/>
          <p:nvPr/>
        </p:nvSpPr>
        <p:spPr>
          <a:xfrm>
            <a:off x="414200" y="2864475"/>
            <a:ext cx="30909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❏"/>
            </a:pPr>
            <a:r>
              <a:rPr lang="en" sz="1300">
                <a:solidFill>
                  <a:srgbClr val="666666"/>
                </a:solidFill>
              </a:rPr>
              <a:t>High domestic import reliance</a:t>
            </a:r>
            <a:endParaRPr sz="1300">
              <a:solidFill>
                <a:srgbClr val="666666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❏"/>
            </a:pPr>
            <a:r>
              <a:rPr lang="en" sz="1300">
                <a:solidFill>
                  <a:srgbClr val="666666"/>
                </a:solidFill>
              </a:rPr>
              <a:t>Regional</a:t>
            </a:r>
            <a:r>
              <a:rPr lang="en" sz="1300">
                <a:solidFill>
                  <a:srgbClr val="666666"/>
                </a:solidFill>
              </a:rPr>
              <a:t> resource scarcity</a:t>
            </a:r>
            <a:endParaRPr sz="1300">
              <a:solidFill>
                <a:srgbClr val="666666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❏"/>
            </a:pPr>
            <a:r>
              <a:rPr lang="en" sz="1300">
                <a:solidFill>
                  <a:srgbClr val="666666"/>
                </a:solidFill>
              </a:rPr>
              <a:t>Reduced</a:t>
            </a:r>
            <a:r>
              <a:rPr lang="en" sz="1300">
                <a:solidFill>
                  <a:srgbClr val="666666"/>
                </a:solidFill>
              </a:rPr>
              <a:t> circularity opportunities</a:t>
            </a:r>
            <a:endParaRPr sz="1300">
              <a:solidFill>
                <a:srgbClr val="666666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❏"/>
            </a:pPr>
            <a:r>
              <a:rPr lang="en" sz="1300">
                <a:solidFill>
                  <a:srgbClr val="666666"/>
                </a:solidFill>
              </a:rPr>
              <a:t>…</a:t>
            </a:r>
            <a:endParaRPr sz="1300">
              <a:solidFill>
                <a:srgbClr val="666666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❏"/>
            </a:pPr>
            <a:r>
              <a:rPr lang="en" sz="1300">
                <a:solidFill>
                  <a:srgbClr val="666666"/>
                </a:solidFill>
              </a:rPr>
              <a:t>Increased dependence on coal</a:t>
            </a:r>
            <a:endParaRPr sz="1300">
              <a:solidFill>
                <a:srgbClr val="666666"/>
              </a:solidFill>
            </a:endParaRPr>
          </a:p>
        </p:txBody>
      </p:sp>
      <p:sp>
        <p:nvSpPr>
          <p:cNvPr id="1489" name="Google Shape;1489;p24"/>
          <p:cNvSpPr txBox="1"/>
          <p:nvPr>
            <p:ph type="ctrTitle"/>
          </p:nvPr>
        </p:nvSpPr>
        <p:spPr>
          <a:xfrm rot="-5400000">
            <a:off x="-5323225" y="3670161"/>
            <a:ext cx="9671700" cy="916200"/>
          </a:xfrm>
          <a:prstGeom prst="rect">
            <a:avLst/>
          </a:prstGeom>
        </p:spPr>
        <p:txBody>
          <a:bodyPr anchorCtr="0" anchor="b" bIns="140175" lIns="140175" spcFirstLastPara="1" rIns="140175" wrap="square" tIns="14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300"/>
              <a:t>MATERIAL </a:t>
            </a:r>
            <a:r>
              <a:rPr lang="en" sz="3300"/>
              <a:t>AVAILABILITY</a:t>
            </a:r>
            <a:r>
              <a:rPr lang="en" sz="3300"/>
              <a:t> SCENARIOS</a:t>
            </a:r>
            <a:endParaRPr sz="3300"/>
          </a:p>
        </p:txBody>
      </p:sp>
      <p:sp>
        <p:nvSpPr>
          <p:cNvPr id="1490" name="Google Shape;1490;p24"/>
          <p:cNvSpPr/>
          <p:nvPr/>
        </p:nvSpPr>
        <p:spPr>
          <a:xfrm>
            <a:off x="634583" y="2934260"/>
            <a:ext cx="167099" cy="134204"/>
          </a:xfrm>
          <a:custGeom>
            <a:rect b="b" l="l" r="r" t="t"/>
            <a:pathLst>
              <a:path extrusionOk="0" h="4557" w="7125">
                <a:moveTo>
                  <a:pt x="0" y="4027"/>
                </a:moveTo>
                <a:cubicBezTo>
                  <a:pt x="1930" y="5955"/>
                  <a:pt x="5196" y="1929"/>
                  <a:pt x="7125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grpSp>
        <p:nvGrpSpPr>
          <p:cNvPr id="1491" name="Google Shape;1491;p24"/>
          <p:cNvGrpSpPr/>
          <p:nvPr/>
        </p:nvGrpSpPr>
        <p:grpSpPr>
          <a:xfrm>
            <a:off x="319517" y="4698562"/>
            <a:ext cx="4170545" cy="534623"/>
            <a:chOff x="313750" y="2353562"/>
            <a:chExt cx="4170545" cy="534623"/>
          </a:xfrm>
        </p:grpSpPr>
        <p:grpSp>
          <p:nvGrpSpPr>
            <p:cNvPr id="1492" name="Google Shape;1492;p24"/>
            <p:cNvGrpSpPr/>
            <p:nvPr/>
          </p:nvGrpSpPr>
          <p:grpSpPr>
            <a:xfrm>
              <a:off x="313775" y="2353562"/>
              <a:ext cx="4170520" cy="534623"/>
              <a:chOff x="314627" y="1488838"/>
              <a:chExt cx="2467325" cy="384649"/>
            </a:xfrm>
          </p:grpSpPr>
          <p:sp>
            <p:nvSpPr>
              <p:cNvPr id="1493" name="Google Shape;1493;p24"/>
              <p:cNvSpPr/>
              <p:nvPr/>
            </p:nvSpPr>
            <p:spPr>
              <a:xfrm>
                <a:off x="314627" y="1532087"/>
                <a:ext cx="2135100" cy="3414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194825" lIns="194825" spcFirstLastPara="1" rIns="194825" wrap="square" tIns="1948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50">
                  <a:solidFill>
                    <a:schemeClr val="dk1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50">
                  <a:solidFill>
                    <a:schemeClr val="dk1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50">
                  <a:solidFill>
                    <a:schemeClr val="dk1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50">
                  <a:solidFill>
                    <a:schemeClr val="dk1"/>
                  </a:solidFill>
                </a:endParaRPr>
              </a:p>
            </p:txBody>
          </p:sp>
          <p:grpSp>
            <p:nvGrpSpPr>
              <p:cNvPr id="1494" name="Google Shape;1494;p24"/>
              <p:cNvGrpSpPr/>
              <p:nvPr/>
            </p:nvGrpSpPr>
            <p:grpSpPr>
              <a:xfrm>
                <a:off x="1905750" y="1488838"/>
                <a:ext cx="876202" cy="317400"/>
                <a:chOff x="1905813" y="1488988"/>
                <a:chExt cx="876202" cy="317400"/>
              </a:xfrm>
            </p:grpSpPr>
            <p:sp>
              <p:nvSpPr>
                <p:cNvPr id="1495" name="Google Shape;1495;p24"/>
                <p:cNvSpPr/>
                <p:nvPr/>
              </p:nvSpPr>
              <p:spPr>
                <a:xfrm rot="-10800000">
                  <a:off x="1905813" y="1608215"/>
                  <a:ext cx="421893" cy="181722"/>
                </a:xfrm>
                <a:prstGeom prst="flowChartMagneticDrum">
                  <a:avLst/>
                </a:prstGeom>
                <a:solidFill>
                  <a:srgbClr val="CCCCCC"/>
                </a:solidFill>
                <a:ln cap="flat" cmpd="sng" w="132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194825" lIns="194825" spcFirstLastPara="1" rIns="194825" wrap="square" tIns="1948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918"/>
                </a:p>
              </p:txBody>
            </p:sp>
            <p:sp>
              <p:nvSpPr>
                <p:cNvPr id="1496" name="Google Shape;1496;p24"/>
                <p:cNvSpPr/>
                <p:nvPr/>
              </p:nvSpPr>
              <p:spPr>
                <a:xfrm>
                  <a:off x="1905813" y="1605800"/>
                  <a:ext cx="153600" cy="181800"/>
                </a:xfrm>
                <a:prstGeom prst="ellipse">
                  <a:avLst/>
                </a:prstGeom>
                <a:solidFill>
                  <a:schemeClr val="lt1"/>
                </a:solidFill>
                <a:ln cap="flat" cmpd="sng" w="132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194825" lIns="194825" spcFirstLastPara="1" rIns="194825" wrap="square" tIns="1948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918"/>
                </a:p>
              </p:txBody>
            </p:sp>
            <p:sp>
              <p:nvSpPr>
                <p:cNvPr id="1497" name="Google Shape;1497;p24"/>
                <p:cNvSpPr txBox="1"/>
                <p:nvPr/>
              </p:nvSpPr>
              <p:spPr>
                <a:xfrm>
                  <a:off x="1966015" y="1488988"/>
                  <a:ext cx="816000" cy="317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94825" lIns="194825" spcFirstLastPara="1" rIns="194825" wrap="square" tIns="1948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250">
                      <a:solidFill>
                        <a:schemeClr val="lt1"/>
                      </a:solidFill>
                    </a:rPr>
                    <a:t>Off</a:t>
                  </a:r>
                  <a:endParaRPr sz="1250">
                    <a:solidFill>
                      <a:schemeClr val="lt1"/>
                    </a:solidFill>
                  </a:endParaRPr>
                </a:p>
              </p:txBody>
            </p:sp>
          </p:grpSp>
        </p:grpSp>
        <p:sp>
          <p:nvSpPr>
            <p:cNvPr id="1498" name="Google Shape;1498;p24"/>
            <p:cNvSpPr txBox="1"/>
            <p:nvPr/>
          </p:nvSpPr>
          <p:spPr>
            <a:xfrm>
              <a:off x="313750" y="2449250"/>
              <a:ext cx="3000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</a:rPr>
                <a:t>Alternative Materials</a:t>
              </a:r>
              <a:endParaRPr b="1">
                <a:solidFill>
                  <a:schemeClr val="dk1"/>
                </a:solidFill>
              </a:endParaRPr>
            </a:p>
          </p:txBody>
        </p:sp>
      </p:grpSp>
      <p:sp>
        <p:nvSpPr>
          <p:cNvPr id="1499" name="Google Shape;1499;p24"/>
          <p:cNvSpPr/>
          <p:nvPr/>
        </p:nvSpPr>
        <p:spPr>
          <a:xfrm>
            <a:off x="469388" y="4053953"/>
            <a:ext cx="3297600" cy="310200"/>
          </a:xfrm>
          <a:prstGeom prst="roundRect">
            <a:avLst>
              <a:gd fmla="val 16667" name="adj"/>
            </a:avLst>
          </a:prstGeom>
          <a:solidFill>
            <a:srgbClr val="AAD3E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rgbClr val="666666"/>
              </a:solidFill>
            </a:endParaRPr>
          </a:p>
        </p:txBody>
      </p:sp>
      <p:sp>
        <p:nvSpPr>
          <p:cNvPr id="1500" name="Google Shape;1500;p24"/>
          <p:cNvSpPr txBox="1"/>
          <p:nvPr/>
        </p:nvSpPr>
        <p:spPr>
          <a:xfrm>
            <a:off x="365139" y="3813998"/>
            <a:ext cx="3506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6666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666666"/>
                </a:solidFill>
              </a:rPr>
              <a:t>Estimate impact of scenario</a:t>
            </a:r>
            <a:endParaRPr sz="1300">
              <a:solidFill>
                <a:srgbClr val="666666"/>
              </a:solidFill>
            </a:endParaRPr>
          </a:p>
        </p:txBody>
      </p:sp>
      <p:pic>
        <p:nvPicPr>
          <p:cNvPr id="1501" name="Google Shape;1501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00645" y="4253268"/>
            <a:ext cx="259800" cy="388892"/>
          </a:xfrm>
          <a:prstGeom prst="rect">
            <a:avLst/>
          </a:prstGeom>
          <a:noFill/>
          <a:ln>
            <a:noFill/>
          </a:ln>
        </p:spPr>
      </p:pic>
      <p:sp>
        <p:nvSpPr>
          <p:cNvPr id="1502" name="Google Shape;1502;p24"/>
          <p:cNvSpPr txBox="1"/>
          <p:nvPr>
            <p:ph idx="1" type="subTitle"/>
          </p:nvPr>
        </p:nvSpPr>
        <p:spPr>
          <a:xfrm>
            <a:off x="761825" y="211975"/>
            <a:ext cx="12825300" cy="510300"/>
          </a:xfrm>
          <a:prstGeom prst="rect">
            <a:avLst/>
          </a:prstGeom>
          <a:ln>
            <a:noFill/>
          </a:ln>
        </p:spPr>
        <p:txBody>
          <a:bodyPr anchorCtr="0" anchor="t" bIns="140175" lIns="140175" spcFirstLastPara="1" rIns="140175" wrap="square" tIns="140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Merriweather"/>
                <a:ea typeface="Merriweather"/>
                <a:cs typeface="Merriweather"/>
                <a:sym typeface="Merriweather"/>
              </a:rPr>
              <a:t>Building Supply chain Material Analysis and Risk Trade-off Tool (BuildSMART v1)</a:t>
            </a:r>
            <a:r>
              <a:rPr b="1" lang="en" sz="1700"/>
              <a:t>           </a:t>
            </a:r>
            <a:r>
              <a:rPr b="1" lang="en" sz="1700">
                <a:solidFill>
                  <a:srgbClr val="999999"/>
                </a:solidFill>
              </a:rPr>
              <a:t>Main Page         About          Contact</a:t>
            </a:r>
            <a:endParaRPr b="1" sz="1700">
              <a:solidFill>
                <a:srgbClr val="999999"/>
              </a:solidFill>
            </a:endParaRPr>
          </a:p>
        </p:txBody>
      </p:sp>
      <p:sp>
        <p:nvSpPr>
          <p:cNvPr id="1503" name="Google Shape;1503;p24"/>
          <p:cNvSpPr/>
          <p:nvPr/>
        </p:nvSpPr>
        <p:spPr>
          <a:xfrm>
            <a:off x="-3678" y="-1570"/>
            <a:ext cx="13725900" cy="811200"/>
          </a:xfrm>
          <a:prstGeom prst="rect">
            <a:avLst/>
          </a:prstGeom>
          <a:solidFill>
            <a:srgbClr val="EDF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04" name="Google Shape;150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400" y="140109"/>
            <a:ext cx="672433" cy="510249"/>
          </a:xfrm>
          <a:prstGeom prst="rect">
            <a:avLst/>
          </a:prstGeom>
          <a:noFill/>
          <a:ln>
            <a:noFill/>
          </a:ln>
        </p:spPr>
      </p:pic>
      <p:sp>
        <p:nvSpPr>
          <p:cNvPr id="1505" name="Google Shape;1505;p24"/>
          <p:cNvSpPr txBox="1"/>
          <p:nvPr>
            <p:ph idx="1" type="subTitle"/>
          </p:nvPr>
        </p:nvSpPr>
        <p:spPr>
          <a:xfrm>
            <a:off x="761825" y="140088"/>
            <a:ext cx="12825300" cy="510300"/>
          </a:xfrm>
          <a:prstGeom prst="rect">
            <a:avLst/>
          </a:prstGeom>
          <a:ln>
            <a:noFill/>
          </a:ln>
        </p:spPr>
        <p:txBody>
          <a:bodyPr anchorCtr="0" anchor="t" bIns="140175" lIns="140175" spcFirstLastPara="1" rIns="140175" wrap="square" tIns="140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Merriweather"/>
                <a:ea typeface="Merriweather"/>
                <a:cs typeface="Merriweather"/>
                <a:sym typeface="Merriweather"/>
              </a:rPr>
              <a:t>Building Supply chain Material Analysis and Risk Trade-off Tool (BuildSMART v1)</a:t>
            </a:r>
            <a:r>
              <a:rPr b="1" lang="en" sz="1700"/>
              <a:t>           </a:t>
            </a:r>
            <a:r>
              <a:rPr b="1" lang="en" sz="1700">
                <a:solidFill>
                  <a:srgbClr val="999999"/>
                </a:solidFill>
              </a:rPr>
              <a:t>Main Page         </a:t>
            </a:r>
            <a:r>
              <a:rPr b="1" lang="en" sz="1700">
                <a:solidFill>
                  <a:srgbClr val="999999"/>
                </a:solidFill>
              </a:rPr>
              <a:t>About</a:t>
            </a:r>
            <a:r>
              <a:rPr b="1" lang="en" sz="1700">
                <a:solidFill>
                  <a:srgbClr val="999999"/>
                </a:solidFill>
              </a:rPr>
              <a:t>          Contact</a:t>
            </a:r>
            <a:endParaRPr b="1" sz="1700">
              <a:solidFill>
                <a:srgbClr val="999999"/>
              </a:solidFill>
            </a:endParaRPr>
          </a:p>
        </p:txBody>
      </p:sp>
      <p:cxnSp>
        <p:nvCxnSpPr>
          <p:cNvPr id="1506" name="Google Shape;1506;p24"/>
          <p:cNvCxnSpPr/>
          <p:nvPr/>
        </p:nvCxnSpPr>
        <p:spPr>
          <a:xfrm>
            <a:off x="4426782" y="4027001"/>
            <a:ext cx="8858100" cy="600"/>
          </a:xfrm>
          <a:prstGeom prst="straightConnector1">
            <a:avLst/>
          </a:prstGeom>
          <a:noFill/>
          <a:ln cap="flat" cmpd="sng" w="9525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507" name="Google Shape;1507;p24"/>
          <p:cNvGrpSpPr/>
          <p:nvPr/>
        </p:nvGrpSpPr>
        <p:grpSpPr>
          <a:xfrm>
            <a:off x="4340597" y="932880"/>
            <a:ext cx="9050971" cy="6797125"/>
            <a:chOff x="4340597" y="932880"/>
            <a:chExt cx="9050971" cy="6797125"/>
          </a:xfrm>
        </p:grpSpPr>
        <p:grpSp>
          <p:nvGrpSpPr>
            <p:cNvPr id="1508" name="Google Shape;1508;p24"/>
            <p:cNvGrpSpPr/>
            <p:nvPr/>
          </p:nvGrpSpPr>
          <p:grpSpPr>
            <a:xfrm>
              <a:off x="4340597" y="7083175"/>
              <a:ext cx="4557232" cy="618331"/>
              <a:chOff x="4268193" y="552116"/>
              <a:chExt cx="6213843" cy="697025"/>
            </a:xfrm>
          </p:grpSpPr>
          <p:sp>
            <p:nvSpPr>
              <p:cNvPr id="1509" name="Google Shape;1509;p24"/>
              <p:cNvSpPr/>
              <p:nvPr/>
            </p:nvSpPr>
            <p:spPr>
              <a:xfrm>
                <a:off x="6760562" y="609015"/>
                <a:ext cx="3546300" cy="255600"/>
              </a:xfrm>
              <a:prstGeom prst="roundRect">
                <a:avLst>
                  <a:gd fmla="val 16667" name="adj"/>
                </a:avLst>
              </a:prstGeom>
              <a:solidFill>
                <a:schemeClr val="lt2"/>
              </a:solidFill>
              <a:ln cap="flat" cmpd="sng" w="84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1100" lIns="81100" spcFirstLastPara="1" rIns="81100" wrap="square" tIns="811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41"/>
              </a:p>
            </p:txBody>
          </p:sp>
          <p:sp>
            <p:nvSpPr>
              <p:cNvPr id="1510" name="Google Shape;1510;p24"/>
              <p:cNvSpPr txBox="1"/>
              <p:nvPr/>
            </p:nvSpPr>
            <p:spPr>
              <a:xfrm>
                <a:off x="4268193" y="552116"/>
                <a:ext cx="2855100" cy="28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1100" lIns="81100" spcFirstLastPara="1" rIns="81100" wrap="square" tIns="811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86">
                    <a:solidFill>
                      <a:srgbClr val="B7B7B7"/>
                    </a:solidFill>
                  </a:rPr>
                  <a:t>CONSTRUCTION YEAR</a:t>
                </a:r>
                <a:endParaRPr b="1" sz="1186">
                  <a:solidFill>
                    <a:srgbClr val="B7B7B7"/>
                  </a:solidFill>
                </a:endParaRPr>
              </a:p>
            </p:txBody>
          </p:sp>
          <p:sp>
            <p:nvSpPr>
              <p:cNvPr id="1511" name="Google Shape;1511;p24"/>
              <p:cNvSpPr txBox="1"/>
              <p:nvPr/>
            </p:nvSpPr>
            <p:spPr>
              <a:xfrm>
                <a:off x="6732035" y="810841"/>
                <a:ext cx="37500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1100" lIns="81100" spcFirstLastPara="1" rIns="81100" wrap="square" tIns="811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20">
                    <a:solidFill>
                      <a:schemeClr val="dk2"/>
                    </a:solidFill>
                  </a:rPr>
                  <a:t>2020	2030	2040	2050	2060	2070</a:t>
                </a:r>
                <a:endParaRPr sz="620">
                  <a:solidFill>
                    <a:schemeClr val="dk2"/>
                  </a:solidFill>
                </a:endParaRPr>
              </a:p>
            </p:txBody>
          </p:sp>
          <p:sp>
            <p:nvSpPr>
              <p:cNvPr id="1512" name="Google Shape;1512;p24"/>
              <p:cNvSpPr/>
              <p:nvPr/>
            </p:nvSpPr>
            <p:spPr>
              <a:xfrm>
                <a:off x="6766012" y="605859"/>
                <a:ext cx="1957500" cy="255600"/>
              </a:xfrm>
              <a:prstGeom prst="roundRect">
                <a:avLst>
                  <a:gd fmla="val 16667" name="adj"/>
                </a:avLst>
              </a:prstGeom>
              <a:solidFill>
                <a:srgbClr val="AAD3E0"/>
              </a:solidFill>
              <a:ln cap="flat" cmpd="sng" w="84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1100" lIns="81100" spcFirstLastPara="1" rIns="81100" wrap="square" tIns="811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41"/>
              </a:p>
            </p:txBody>
          </p:sp>
        </p:grpSp>
        <p:grpSp>
          <p:nvGrpSpPr>
            <p:cNvPr id="1513" name="Google Shape;1513;p24"/>
            <p:cNvGrpSpPr/>
            <p:nvPr/>
          </p:nvGrpSpPr>
          <p:grpSpPr>
            <a:xfrm>
              <a:off x="8869612" y="4172248"/>
              <a:ext cx="4405034" cy="2794775"/>
              <a:chOff x="9037729" y="4704523"/>
              <a:chExt cx="4405034" cy="2794775"/>
            </a:xfrm>
          </p:grpSpPr>
          <p:grpSp>
            <p:nvGrpSpPr>
              <p:cNvPr id="1514" name="Google Shape;1514;p24"/>
              <p:cNvGrpSpPr/>
              <p:nvPr/>
            </p:nvGrpSpPr>
            <p:grpSpPr>
              <a:xfrm>
                <a:off x="9037729" y="4704523"/>
                <a:ext cx="4405034" cy="2794775"/>
                <a:chOff x="9079752" y="3946051"/>
                <a:chExt cx="4405034" cy="2794775"/>
              </a:xfrm>
            </p:grpSpPr>
            <p:sp>
              <p:nvSpPr>
                <p:cNvPr id="1515" name="Google Shape;1515;p24"/>
                <p:cNvSpPr txBox="1"/>
                <p:nvPr/>
              </p:nvSpPr>
              <p:spPr>
                <a:xfrm>
                  <a:off x="9079752" y="3946051"/>
                  <a:ext cx="4073400" cy="37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73200" lIns="73200" spcFirstLastPara="1" rIns="73200" wrap="square" tIns="73200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481">
                      <a:solidFill>
                        <a:srgbClr val="666666"/>
                      </a:solidFill>
                    </a:rPr>
                    <a:t>PROJECTED MATERIAL AVAILABILITY</a:t>
                  </a:r>
                  <a:endParaRPr b="1" sz="360">
                    <a:solidFill>
                      <a:srgbClr val="666666"/>
                    </a:solidFill>
                  </a:endParaRPr>
                </a:p>
              </p:txBody>
            </p:sp>
            <p:sp>
              <p:nvSpPr>
                <p:cNvPr id="1516" name="Google Shape;1516;p24"/>
                <p:cNvSpPr/>
                <p:nvPr/>
              </p:nvSpPr>
              <p:spPr>
                <a:xfrm>
                  <a:off x="9148885" y="4259825"/>
                  <a:ext cx="4335900" cy="2481000"/>
                </a:xfrm>
                <a:prstGeom prst="rect">
                  <a:avLst/>
                </a:prstGeom>
                <a:noFill/>
                <a:ln cap="flat" cmpd="sng" w="76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73200" lIns="73200" spcFirstLastPara="1" rIns="73200" wrap="square" tIns="732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120"/>
                </a:p>
              </p:txBody>
            </p:sp>
            <p:pic>
              <p:nvPicPr>
                <p:cNvPr id="1517" name="Google Shape;1517;p24" title="Screenshot 2026-02-19 at 10.15.05 AM.png"/>
                <p:cNvPicPr preferRelativeResize="0"/>
                <p:nvPr/>
              </p:nvPicPr>
              <p:blipFill rotWithShape="1">
                <a:blip r:embed="rId6">
                  <a:alphaModFix/>
                </a:blip>
                <a:srcRect b="0" l="0" r="-281" t="0"/>
                <a:stretch/>
              </p:blipFill>
              <p:spPr>
                <a:xfrm>
                  <a:off x="9286250" y="4386900"/>
                  <a:ext cx="4073401" cy="2226850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99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pic>
          </p:grpSp>
          <p:pic>
            <p:nvPicPr>
              <p:cNvPr id="1518" name="Google Shape;1518;p24" title="expand-icon-symbol-design-illustration-vector.jpg"/>
              <p:cNvPicPr preferRelativeResize="0"/>
              <p:nvPr/>
            </p:nvPicPr>
            <p:blipFill rotWithShape="1">
              <a:blip r:embed="rId7">
                <a:alphaModFix/>
              </a:blip>
              <a:srcRect b="11143" l="12219" r="0" t="0"/>
              <a:stretch/>
            </p:blipFill>
            <p:spPr>
              <a:xfrm>
                <a:off x="13211244" y="5054337"/>
                <a:ext cx="224376" cy="2271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519" name="Google Shape;1519;p24"/>
            <p:cNvGrpSpPr/>
            <p:nvPr/>
          </p:nvGrpSpPr>
          <p:grpSpPr>
            <a:xfrm>
              <a:off x="8869623" y="932880"/>
              <a:ext cx="4405039" cy="2799675"/>
              <a:chOff x="8869623" y="932880"/>
              <a:chExt cx="4405039" cy="2799675"/>
            </a:xfrm>
          </p:grpSpPr>
          <p:sp>
            <p:nvSpPr>
              <p:cNvPr id="1520" name="Google Shape;1520;p24"/>
              <p:cNvSpPr/>
              <p:nvPr/>
            </p:nvSpPr>
            <p:spPr>
              <a:xfrm>
                <a:off x="8938762" y="1239935"/>
                <a:ext cx="4335900" cy="2481000"/>
              </a:xfrm>
              <a:prstGeom prst="rect">
                <a:avLst/>
              </a:prstGeom>
              <a:noFill/>
              <a:ln cap="flat" cmpd="sng" w="7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3200" lIns="73200" spcFirstLastPara="1" rIns="73200" wrap="square" tIns="732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120"/>
              </a:p>
            </p:txBody>
          </p:sp>
          <p:pic>
            <p:nvPicPr>
              <p:cNvPr id="1521" name="Google Shape;1521;p24" title="Chart"/>
              <p:cNvPicPr preferRelativeResize="0"/>
              <p:nvPr/>
            </p:nvPicPr>
            <p:blipFill rotWithShape="1">
              <a:blip r:embed="rId8">
                <a:alphaModFix/>
              </a:blip>
              <a:srcRect b="0" l="0" r="0" t="11174"/>
              <a:stretch/>
            </p:blipFill>
            <p:spPr>
              <a:xfrm>
                <a:off x="9117399" y="1378293"/>
                <a:ext cx="3909465" cy="214728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522" name="Google Shape;1522;p24"/>
              <p:cNvSpPr txBox="1"/>
              <p:nvPr/>
            </p:nvSpPr>
            <p:spPr>
              <a:xfrm>
                <a:off x="10027381" y="3473355"/>
                <a:ext cx="2451300" cy="25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74700" lIns="74700" spcFirstLastPara="1" rIns="74700" wrap="square" tIns="74700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2">
                    <a:solidFill>
                      <a:schemeClr val="dk1"/>
                    </a:solidFill>
                  </a:rPr>
                  <a:t>Material Cost (USD)</a:t>
                </a:r>
                <a:endParaRPr sz="702">
                  <a:solidFill>
                    <a:schemeClr val="dk1"/>
                  </a:solidFill>
                </a:endParaRPr>
              </a:p>
            </p:txBody>
          </p:sp>
          <p:sp>
            <p:nvSpPr>
              <p:cNvPr id="1523" name="Google Shape;1523;p24"/>
              <p:cNvSpPr txBox="1"/>
              <p:nvPr/>
            </p:nvSpPr>
            <p:spPr>
              <a:xfrm>
                <a:off x="8869623" y="932880"/>
                <a:ext cx="35370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73200" lIns="73200" spcFirstLastPara="1" rIns="73200" wrap="square" tIns="732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81">
                    <a:solidFill>
                      <a:srgbClr val="666666"/>
                    </a:solidFill>
                  </a:rPr>
                  <a:t>BASELINE MATERIAL COST</a:t>
                </a:r>
                <a:endParaRPr b="1" sz="360">
                  <a:solidFill>
                    <a:srgbClr val="666666"/>
                  </a:solidFill>
                </a:endParaRPr>
              </a:p>
            </p:txBody>
          </p:sp>
          <p:pic>
            <p:nvPicPr>
              <p:cNvPr id="1524" name="Google Shape;1524;p24" title="download.png"/>
              <p:cNvPicPr preferRelativeResize="0"/>
              <p:nvPr/>
            </p:nvPicPr>
            <p:blipFill>
              <a:blip r:embed="rId9">
                <a:alphaModFix/>
              </a:blip>
              <a:stretch>
                <a:fillRect/>
              </a:stretch>
            </p:blipFill>
            <p:spPr>
              <a:xfrm>
                <a:off x="12975775" y="1284577"/>
                <a:ext cx="259800" cy="259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525" name="Google Shape;1525;p24"/>
            <p:cNvGrpSpPr/>
            <p:nvPr/>
          </p:nvGrpSpPr>
          <p:grpSpPr>
            <a:xfrm>
              <a:off x="4349911" y="934411"/>
              <a:ext cx="4421103" cy="2819555"/>
              <a:chOff x="4043712" y="1229950"/>
              <a:chExt cx="5522238" cy="3521803"/>
            </a:xfrm>
          </p:grpSpPr>
          <p:sp>
            <p:nvSpPr>
              <p:cNvPr id="1526" name="Google Shape;1526;p24"/>
              <p:cNvSpPr/>
              <p:nvPr/>
            </p:nvSpPr>
            <p:spPr>
              <a:xfrm>
                <a:off x="4150050" y="1612488"/>
                <a:ext cx="5415900" cy="3099000"/>
              </a:xfrm>
              <a:prstGeom prst="rect">
                <a:avLst/>
              </a:prstGeom>
              <a:noFill/>
              <a:ln cap="flat" cmpd="sng" w="7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3200" lIns="73200" spcFirstLastPara="1" rIns="73200" wrap="square" tIns="732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120"/>
              </a:p>
            </p:txBody>
          </p:sp>
          <p:sp>
            <p:nvSpPr>
              <p:cNvPr id="1527" name="Google Shape;1527;p24"/>
              <p:cNvSpPr txBox="1"/>
              <p:nvPr/>
            </p:nvSpPr>
            <p:spPr>
              <a:xfrm>
                <a:off x="4043712" y="1229950"/>
                <a:ext cx="4417800" cy="469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73200" lIns="73200" spcFirstLastPara="1" rIns="73200" wrap="square" tIns="732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81">
                    <a:solidFill>
                      <a:srgbClr val="666666"/>
                    </a:solidFill>
                  </a:rPr>
                  <a:t>BASELINE MATERIAL DEMAND</a:t>
                </a:r>
                <a:endParaRPr b="1" sz="360">
                  <a:solidFill>
                    <a:srgbClr val="666666"/>
                  </a:solidFill>
                </a:endParaRPr>
              </a:p>
            </p:txBody>
          </p:sp>
          <p:grpSp>
            <p:nvGrpSpPr>
              <p:cNvPr id="1528" name="Google Shape;1528;p24"/>
              <p:cNvGrpSpPr/>
              <p:nvPr/>
            </p:nvGrpSpPr>
            <p:grpSpPr>
              <a:xfrm>
                <a:off x="4056895" y="4214633"/>
                <a:ext cx="1923164" cy="537120"/>
                <a:chOff x="4257757" y="4214633"/>
                <a:chExt cx="1923164" cy="537120"/>
              </a:xfrm>
            </p:grpSpPr>
            <p:sp>
              <p:nvSpPr>
                <p:cNvPr id="1529" name="Google Shape;1529;p24"/>
                <p:cNvSpPr txBox="1"/>
                <p:nvPr/>
              </p:nvSpPr>
              <p:spPr>
                <a:xfrm>
                  <a:off x="4257757" y="4241453"/>
                  <a:ext cx="1269300" cy="510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56000" lIns="156000" spcFirstLastPara="1" rIns="156000" wrap="square" tIns="1560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761">
                      <a:solidFill>
                        <a:srgbClr val="999999"/>
                      </a:solidFill>
                    </a:rPr>
                    <a:t>Sankey diagram</a:t>
                  </a:r>
                  <a:endParaRPr sz="761">
                    <a:solidFill>
                      <a:srgbClr val="999999"/>
                    </a:solidFill>
                  </a:endParaRPr>
                </a:p>
              </p:txBody>
            </p:sp>
            <p:grpSp>
              <p:nvGrpSpPr>
                <p:cNvPr id="1530" name="Google Shape;1530;p24"/>
                <p:cNvGrpSpPr/>
                <p:nvPr/>
              </p:nvGrpSpPr>
              <p:grpSpPr>
                <a:xfrm>
                  <a:off x="5387374" y="4214633"/>
                  <a:ext cx="793547" cy="433200"/>
                  <a:chOff x="5387374" y="4214633"/>
                  <a:chExt cx="793547" cy="433200"/>
                </a:xfrm>
              </p:grpSpPr>
              <p:grpSp>
                <p:nvGrpSpPr>
                  <p:cNvPr id="1531" name="Google Shape;1531;p24"/>
                  <p:cNvGrpSpPr/>
                  <p:nvPr/>
                </p:nvGrpSpPr>
                <p:grpSpPr>
                  <a:xfrm>
                    <a:off x="5387374" y="4365780"/>
                    <a:ext cx="761210" cy="261650"/>
                    <a:chOff x="5509499" y="4365730"/>
                    <a:chExt cx="761210" cy="261650"/>
                  </a:xfrm>
                </p:grpSpPr>
                <p:sp>
                  <p:nvSpPr>
                    <p:cNvPr id="1532" name="Google Shape;1532;p24"/>
                    <p:cNvSpPr/>
                    <p:nvPr/>
                  </p:nvSpPr>
                  <p:spPr>
                    <a:xfrm rot="-10800000">
                      <a:off x="5513034" y="4365730"/>
                      <a:ext cx="757675" cy="261650"/>
                    </a:xfrm>
                    <a:prstGeom prst="flowChartMagneticDrum">
                      <a:avLst/>
                    </a:prstGeom>
                    <a:solidFill>
                      <a:srgbClr val="CCCCCC"/>
                    </a:solidFill>
                    <a:ln cap="flat" cmpd="sng" w="106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156000" lIns="156000" spcFirstLastPara="1" rIns="156000" wrap="square" tIns="156000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36"/>
                    </a:p>
                  </p:txBody>
                </p:sp>
                <p:sp>
                  <p:nvSpPr>
                    <p:cNvPr id="1533" name="Google Shape;1533;p24"/>
                    <p:cNvSpPr/>
                    <p:nvPr/>
                  </p:nvSpPr>
                  <p:spPr>
                    <a:xfrm>
                      <a:off x="5509499" y="4370260"/>
                      <a:ext cx="259500" cy="252600"/>
                    </a:xfrm>
                    <a:prstGeom prst="ellipse">
                      <a:avLst/>
                    </a:prstGeom>
                    <a:solidFill>
                      <a:schemeClr val="lt1"/>
                    </a:solidFill>
                    <a:ln cap="flat" cmpd="sng" w="106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156000" lIns="156000" spcFirstLastPara="1" rIns="156000" wrap="square" tIns="156000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36"/>
                    </a:p>
                  </p:txBody>
                </p:sp>
              </p:grpSp>
              <p:sp>
                <p:nvSpPr>
                  <p:cNvPr id="1534" name="Google Shape;1534;p24"/>
                  <p:cNvSpPr txBox="1"/>
                  <p:nvPr/>
                </p:nvSpPr>
                <p:spPr>
                  <a:xfrm>
                    <a:off x="5508621" y="4214633"/>
                    <a:ext cx="672300" cy="433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156000" lIns="156000" spcFirstLastPara="1" rIns="156000" wrap="square" tIns="1560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1001">
                        <a:solidFill>
                          <a:schemeClr val="lt1"/>
                        </a:solidFill>
                      </a:rPr>
                      <a:t>Off</a:t>
                    </a:r>
                    <a:endParaRPr sz="1001">
                      <a:solidFill>
                        <a:schemeClr val="lt1"/>
                      </a:solidFill>
                    </a:endParaRPr>
                  </a:p>
                </p:txBody>
              </p:sp>
            </p:grpSp>
          </p:grpSp>
        </p:grpSp>
        <p:grpSp>
          <p:nvGrpSpPr>
            <p:cNvPr id="1535" name="Google Shape;1535;p24"/>
            <p:cNvGrpSpPr/>
            <p:nvPr/>
          </p:nvGrpSpPr>
          <p:grpSpPr>
            <a:xfrm>
              <a:off x="4349911" y="4181419"/>
              <a:ext cx="5208207" cy="2819555"/>
              <a:chOff x="4349911" y="4181419"/>
              <a:chExt cx="5208207" cy="2819555"/>
            </a:xfrm>
          </p:grpSpPr>
          <p:grpSp>
            <p:nvGrpSpPr>
              <p:cNvPr id="1536" name="Google Shape;1536;p24"/>
              <p:cNvGrpSpPr/>
              <p:nvPr/>
            </p:nvGrpSpPr>
            <p:grpSpPr>
              <a:xfrm>
                <a:off x="4349911" y="4181419"/>
                <a:ext cx="4421103" cy="2819555"/>
                <a:chOff x="4349911" y="4181419"/>
                <a:chExt cx="4421103" cy="2819555"/>
              </a:xfrm>
            </p:grpSpPr>
            <p:grpSp>
              <p:nvGrpSpPr>
                <p:cNvPr id="1537" name="Google Shape;1537;p24"/>
                <p:cNvGrpSpPr/>
                <p:nvPr/>
              </p:nvGrpSpPr>
              <p:grpSpPr>
                <a:xfrm>
                  <a:off x="4349911" y="4181419"/>
                  <a:ext cx="4421103" cy="2819555"/>
                  <a:chOff x="4043712" y="1229950"/>
                  <a:chExt cx="5522238" cy="3521803"/>
                </a:xfrm>
              </p:grpSpPr>
              <p:sp>
                <p:nvSpPr>
                  <p:cNvPr id="1538" name="Google Shape;1538;p24"/>
                  <p:cNvSpPr/>
                  <p:nvPr/>
                </p:nvSpPr>
                <p:spPr>
                  <a:xfrm>
                    <a:off x="4150050" y="1612488"/>
                    <a:ext cx="5415900" cy="3099000"/>
                  </a:xfrm>
                  <a:prstGeom prst="rect">
                    <a:avLst/>
                  </a:prstGeom>
                  <a:noFill/>
                  <a:ln cap="flat" cmpd="sng" w="7650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73200" lIns="73200" spcFirstLastPara="1" rIns="73200" wrap="square" tIns="73200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120"/>
                  </a:p>
                </p:txBody>
              </p:sp>
              <p:sp>
                <p:nvSpPr>
                  <p:cNvPr id="1539" name="Google Shape;1539;p24"/>
                  <p:cNvSpPr txBox="1"/>
                  <p:nvPr/>
                </p:nvSpPr>
                <p:spPr>
                  <a:xfrm>
                    <a:off x="4043712" y="1229950"/>
                    <a:ext cx="4417800" cy="469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73200" lIns="73200" spcFirstLastPara="1" rIns="73200" wrap="square" tIns="73200">
                    <a:sp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lang="en" sz="1481">
                        <a:solidFill>
                          <a:srgbClr val="666666"/>
                        </a:solidFill>
                      </a:rPr>
                      <a:t>PROJECTED MATERIAL DEMAND</a:t>
                    </a:r>
                    <a:endParaRPr b="1" sz="360">
                      <a:solidFill>
                        <a:srgbClr val="666666"/>
                      </a:solidFill>
                    </a:endParaRPr>
                  </a:p>
                </p:txBody>
              </p:sp>
              <p:grpSp>
                <p:nvGrpSpPr>
                  <p:cNvPr id="1540" name="Google Shape;1540;p24"/>
                  <p:cNvGrpSpPr/>
                  <p:nvPr/>
                </p:nvGrpSpPr>
                <p:grpSpPr>
                  <a:xfrm>
                    <a:off x="4056895" y="4208337"/>
                    <a:ext cx="1928164" cy="543415"/>
                    <a:chOff x="4257757" y="4208337"/>
                    <a:chExt cx="1928164" cy="543415"/>
                  </a:xfrm>
                </p:grpSpPr>
                <p:sp>
                  <p:nvSpPr>
                    <p:cNvPr id="1541" name="Google Shape;1541;p24"/>
                    <p:cNvSpPr txBox="1"/>
                    <p:nvPr/>
                  </p:nvSpPr>
                  <p:spPr>
                    <a:xfrm>
                      <a:off x="4257757" y="4241453"/>
                      <a:ext cx="1269300" cy="5103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156000" lIns="156000" spcFirstLastPara="1" rIns="156000" wrap="square" tIns="1560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61">
                          <a:solidFill>
                            <a:srgbClr val="999999"/>
                          </a:solidFill>
                        </a:rPr>
                        <a:t>Sankey diagram</a:t>
                      </a:r>
                      <a:endParaRPr sz="761">
                        <a:solidFill>
                          <a:srgbClr val="999999"/>
                        </a:solidFill>
                      </a:endParaRPr>
                    </a:p>
                  </p:txBody>
                </p:sp>
                <p:grpSp>
                  <p:nvGrpSpPr>
                    <p:cNvPr id="1542" name="Google Shape;1542;p24"/>
                    <p:cNvGrpSpPr/>
                    <p:nvPr/>
                  </p:nvGrpSpPr>
                  <p:grpSpPr>
                    <a:xfrm>
                      <a:off x="5383729" y="4208337"/>
                      <a:ext cx="802192" cy="433200"/>
                      <a:chOff x="5383729" y="4208337"/>
                      <a:chExt cx="802192" cy="433200"/>
                    </a:xfrm>
                  </p:grpSpPr>
                  <p:grpSp>
                    <p:nvGrpSpPr>
                      <p:cNvPr id="1543" name="Google Shape;1543;p24"/>
                      <p:cNvGrpSpPr/>
                      <p:nvPr/>
                    </p:nvGrpSpPr>
                    <p:grpSpPr>
                      <a:xfrm>
                        <a:off x="5383729" y="4365780"/>
                        <a:ext cx="764855" cy="261650"/>
                        <a:chOff x="5505854" y="4365730"/>
                        <a:chExt cx="764855" cy="261650"/>
                      </a:xfrm>
                    </p:grpSpPr>
                    <p:sp>
                      <p:nvSpPr>
                        <p:cNvPr id="1544" name="Google Shape;1544;p24"/>
                        <p:cNvSpPr/>
                        <p:nvPr/>
                      </p:nvSpPr>
                      <p:spPr>
                        <a:xfrm rot="-10800000">
                          <a:off x="5513034" y="4365730"/>
                          <a:ext cx="757675" cy="261650"/>
                        </a:xfrm>
                        <a:prstGeom prst="flowChartMagneticDrum">
                          <a:avLst/>
                        </a:prstGeom>
                        <a:solidFill>
                          <a:srgbClr val="CCCCCC"/>
                        </a:solidFill>
                        <a:ln cap="flat" cmpd="sng" w="10600">
                          <a:solidFill>
                            <a:schemeClr val="dk2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t" bIns="156000" lIns="156000" spcFirstLastPara="1" rIns="156000" wrap="square" tIns="156000">
                          <a:noAutofit/>
                        </a:bodyPr>
                        <a:lstStyle/>
                        <a:p>
                          <a:pPr indent="0" lvl="0" marL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2336"/>
                        </a:p>
                      </p:txBody>
                    </p:sp>
                    <p:sp>
                      <p:nvSpPr>
                        <p:cNvPr id="1545" name="Google Shape;1545;p24"/>
                        <p:cNvSpPr/>
                        <p:nvPr/>
                      </p:nvSpPr>
                      <p:spPr>
                        <a:xfrm>
                          <a:off x="5505854" y="4370260"/>
                          <a:ext cx="259500" cy="252600"/>
                        </a:xfrm>
                        <a:prstGeom prst="ellipse">
                          <a:avLst/>
                        </a:prstGeom>
                        <a:solidFill>
                          <a:schemeClr val="lt1"/>
                        </a:solidFill>
                        <a:ln cap="flat" cmpd="sng" w="10600">
                          <a:solidFill>
                            <a:schemeClr val="dk2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t" bIns="156000" lIns="156000" spcFirstLastPara="1" rIns="156000" wrap="square" tIns="156000">
                          <a:noAutofit/>
                        </a:bodyPr>
                        <a:lstStyle/>
                        <a:p>
                          <a:pPr indent="0" lvl="0" marL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2336"/>
                        </a:p>
                      </p:txBody>
                    </p:sp>
                  </p:grpSp>
                  <p:sp>
                    <p:nvSpPr>
                      <p:cNvPr id="1546" name="Google Shape;1546;p24"/>
                      <p:cNvSpPr txBox="1"/>
                      <p:nvPr/>
                    </p:nvSpPr>
                    <p:spPr>
                      <a:xfrm>
                        <a:off x="5513621" y="4208337"/>
                        <a:ext cx="672300" cy="43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t" bIns="156000" lIns="156000" spcFirstLastPara="1" rIns="156000" wrap="square" tIns="156000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001">
                            <a:solidFill>
                              <a:schemeClr val="lt1"/>
                            </a:solidFill>
                          </a:rPr>
                          <a:t>Off</a:t>
                        </a:r>
                        <a:endParaRPr sz="1001">
                          <a:solidFill>
                            <a:schemeClr val="lt1"/>
                          </a:solidFill>
                        </a:endParaRPr>
                      </a:p>
                    </p:txBody>
                  </p:sp>
                </p:grpSp>
              </p:grpSp>
            </p:grpSp>
            <p:pic>
              <p:nvPicPr>
                <p:cNvPr id="1547" name="Google Shape;1547;p24" title="download.png"/>
                <p:cNvPicPr preferRelativeResize="0"/>
                <p:nvPr/>
              </p:nvPicPr>
              <p:blipFill>
                <a:blip r:embed="rId9">
                  <a:alphaModFix/>
                </a:blip>
                <a:stretch>
                  <a:fillRect/>
                </a:stretch>
              </p:blipFill>
              <p:spPr>
                <a:xfrm>
                  <a:off x="8474425" y="4518577"/>
                  <a:ext cx="259800" cy="2598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1548" name="Google Shape;1548;p24" title="Chart"/>
              <p:cNvPicPr preferRelativeResize="0"/>
              <p:nvPr/>
            </p:nvPicPr>
            <p:blipFill rotWithShape="1">
              <a:blip r:embed="rId10">
                <a:alphaModFix/>
              </a:blip>
              <a:srcRect b="0" l="0" r="0" t="11143"/>
              <a:stretch/>
            </p:blipFill>
            <p:spPr>
              <a:xfrm>
                <a:off x="4681700" y="4636018"/>
                <a:ext cx="3723375" cy="204505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549" name="Google Shape;1549;p24"/>
              <p:cNvGrpSpPr/>
              <p:nvPr/>
            </p:nvGrpSpPr>
            <p:grpSpPr>
              <a:xfrm rot="-7747678">
                <a:off x="6713808" y="5451802"/>
                <a:ext cx="917135" cy="927853"/>
                <a:chOff x="5893568" y="3081812"/>
                <a:chExt cx="1184774" cy="1198522"/>
              </a:xfrm>
            </p:grpSpPr>
            <p:grpSp>
              <p:nvGrpSpPr>
                <p:cNvPr id="1550" name="Google Shape;1550;p24"/>
                <p:cNvGrpSpPr/>
                <p:nvPr/>
              </p:nvGrpSpPr>
              <p:grpSpPr>
                <a:xfrm rot="-2553858">
                  <a:off x="6121452" y="3202192"/>
                  <a:ext cx="729006" cy="957763"/>
                  <a:chOff x="6057691" y="2542624"/>
                  <a:chExt cx="729025" cy="957787"/>
                </a:xfrm>
              </p:grpSpPr>
              <p:cxnSp>
                <p:nvCxnSpPr>
                  <p:cNvPr id="1551" name="Google Shape;1551;p24"/>
                  <p:cNvCxnSpPr/>
                  <p:nvPr/>
                </p:nvCxnSpPr>
                <p:spPr>
                  <a:xfrm flipH="1" rot="-8246357">
                    <a:off x="6228918" y="2725045"/>
                    <a:ext cx="588139" cy="125058"/>
                  </a:xfrm>
                  <a:prstGeom prst="straightConnector1">
                    <a:avLst/>
                  </a:prstGeom>
                  <a:noFill/>
                  <a:ln cap="flat" cmpd="sng" w="22125">
                    <a:solidFill>
                      <a:srgbClr val="B6D7A8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552" name="Google Shape;1552;p24"/>
                  <p:cNvCxnSpPr/>
                  <p:nvPr/>
                </p:nvCxnSpPr>
                <p:spPr>
                  <a:xfrm flipH="1" rot="10800000">
                    <a:off x="6097647" y="3383711"/>
                    <a:ext cx="594300" cy="116700"/>
                  </a:xfrm>
                  <a:prstGeom prst="straightConnector1">
                    <a:avLst/>
                  </a:prstGeom>
                  <a:noFill/>
                  <a:ln cap="flat" cmpd="sng" w="22125">
                    <a:solidFill>
                      <a:srgbClr val="B6D7A8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1553" name="Google Shape;1553;p24"/>
                  <p:cNvSpPr/>
                  <p:nvPr/>
                </p:nvSpPr>
                <p:spPr>
                  <a:xfrm>
                    <a:off x="6057691" y="2616591"/>
                    <a:ext cx="202398" cy="870834"/>
                  </a:xfrm>
                  <a:custGeom>
                    <a:rect b="b" l="l" r="r" t="t"/>
                    <a:pathLst>
                      <a:path extrusionOk="0" h="29905" w="4740">
                        <a:moveTo>
                          <a:pt x="1229" y="29905"/>
                        </a:moveTo>
                        <a:cubicBezTo>
                          <a:pt x="-1533" y="20256"/>
                          <a:pt x="780" y="9222"/>
                          <a:pt x="4741" y="0"/>
                        </a:cubicBezTo>
                      </a:path>
                    </a:pathLst>
                  </a:custGeom>
                  <a:noFill/>
                  <a:ln cap="flat" cmpd="sng" w="22125">
                    <a:solidFill>
                      <a:srgbClr val="B6D7A8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sp>
              <p:sp>
                <p:nvSpPr>
                  <p:cNvPr id="1554" name="Google Shape;1554;p24"/>
                  <p:cNvSpPr/>
                  <p:nvPr/>
                </p:nvSpPr>
                <p:spPr>
                  <a:xfrm>
                    <a:off x="6679189" y="2926345"/>
                    <a:ext cx="107527" cy="463154"/>
                  </a:xfrm>
                  <a:custGeom>
                    <a:rect b="b" l="l" r="r" t="t"/>
                    <a:pathLst>
                      <a:path extrusionOk="0" h="29905" w="4740">
                        <a:moveTo>
                          <a:pt x="1229" y="29905"/>
                        </a:moveTo>
                        <a:cubicBezTo>
                          <a:pt x="-1533" y="20256"/>
                          <a:pt x="780" y="9222"/>
                          <a:pt x="4741" y="0"/>
                        </a:cubicBezTo>
                      </a:path>
                    </a:pathLst>
                  </a:custGeom>
                  <a:noFill/>
                  <a:ln cap="flat" cmpd="sng" w="22125">
                    <a:solidFill>
                      <a:srgbClr val="B6D7A8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sp>
            </p:grpSp>
            <p:cxnSp>
              <p:nvCxnSpPr>
                <p:cNvPr id="1555" name="Google Shape;1555;p24"/>
                <p:cNvCxnSpPr/>
                <p:nvPr/>
              </p:nvCxnSpPr>
              <p:spPr>
                <a:xfrm flipH="1" rot="10800000">
                  <a:off x="6147225" y="3487550"/>
                  <a:ext cx="109200" cy="174600"/>
                </a:xfrm>
                <a:prstGeom prst="straightConnector1">
                  <a:avLst/>
                </a:prstGeom>
                <a:noFill/>
                <a:ln cap="flat" cmpd="sng" w="7350">
                  <a:solidFill>
                    <a:srgbClr val="B6D7A8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556" name="Google Shape;1556;p24"/>
                <p:cNvCxnSpPr/>
                <p:nvPr/>
              </p:nvCxnSpPr>
              <p:spPr>
                <a:xfrm flipH="1" rot="10800000">
                  <a:off x="6173600" y="3466000"/>
                  <a:ext cx="183000" cy="285600"/>
                </a:xfrm>
                <a:prstGeom prst="straightConnector1">
                  <a:avLst/>
                </a:prstGeom>
                <a:noFill/>
                <a:ln cap="flat" cmpd="sng" w="7350">
                  <a:solidFill>
                    <a:srgbClr val="B6D7A8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557" name="Google Shape;1557;p24"/>
                <p:cNvCxnSpPr/>
                <p:nvPr/>
              </p:nvCxnSpPr>
              <p:spPr>
                <a:xfrm flipH="1" rot="10800000">
                  <a:off x="6209650" y="3456063"/>
                  <a:ext cx="228600" cy="361800"/>
                </a:xfrm>
                <a:prstGeom prst="straightConnector1">
                  <a:avLst/>
                </a:prstGeom>
                <a:noFill/>
                <a:ln cap="flat" cmpd="sng" w="7350">
                  <a:solidFill>
                    <a:srgbClr val="B6D7A8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558" name="Google Shape;1558;p24"/>
                <p:cNvCxnSpPr/>
                <p:nvPr/>
              </p:nvCxnSpPr>
              <p:spPr>
                <a:xfrm flipH="1" rot="10800000">
                  <a:off x="6241950" y="3433763"/>
                  <a:ext cx="283500" cy="447600"/>
                </a:xfrm>
                <a:prstGeom prst="straightConnector1">
                  <a:avLst/>
                </a:prstGeom>
                <a:noFill/>
                <a:ln cap="flat" cmpd="sng" w="7350">
                  <a:solidFill>
                    <a:srgbClr val="B6D7A8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559" name="Google Shape;1559;p24"/>
                <p:cNvCxnSpPr/>
                <p:nvPr/>
              </p:nvCxnSpPr>
              <p:spPr>
                <a:xfrm flipH="1" rot="10800000">
                  <a:off x="6283850" y="3414388"/>
                  <a:ext cx="331200" cy="538200"/>
                </a:xfrm>
                <a:prstGeom prst="straightConnector1">
                  <a:avLst/>
                </a:prstGeom>
                <a:noFill/>
                <a:ln cap="flat" cmpd="sng" w="7350">
                  <a:solidFill>
                    <a:srgbClr val="B6D7A8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560" name="Google Shape;1560;p24"/>
                <p:cNvCxnSpPr/>
                <p:nvPr/>
              </p:nvCxnSpPr>
              <p:spPr>
                <a:xfrm flipH="1" rot="10800000">
                  <a:off x="6322550" y="3425213"/>
                  <a:ext cx="367500" cy="591000"/>
                </a:xfrm>
                <a:prstGeom prst="straightConnector1">
                  <a:avLst/>
                </a:prstGeom>
                <a:noFill/>
                <a:ln cap="flat" cmpd="sng" w="7350">
                  <a:solidFill>
                    <a:srgbClr val="B6D7A8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561" name="Google Shape;1561;p24"/>
                <p:cNvCxnSpPr/>
                <p:nvPr/>
              </p:nvCxnSpPr>
              <p:spPr>
                <a:xfrm flipH="1" rot="10800000">
                  <a:off x="6367875" y="3522238"/>
                  <a:ext cx="351600" cy="548700"/>
                </a:xfrm>
                <a:prstGeom prst="straightConnector1">
                  <a:avLst/>
                </a:prstGeom>
                <a:noFill/>
                <a:ln cap="flat" cmpd="sng" w="7350">
                  <a:solidFill>
                    <a:srgbClr val="B6D7A8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562" name="Google Shape;1562;p24"/>
                <p:cNvCxnSpPr/>
                <p:nvPr/>
              </p:nvCxnSpPr>
              <p:spPr>
                <a:xfrm flipH="1" rot="10800000">
                  <a:off x="6414850" y="3600463"/>
                  <a:ext cx="346500" cy="522900"/>
                </a:xfrm>
                <a:prstGeom prst="straightConnector1">
                  <a:avLst/>
                </a:prstGeom>
                <a:noFill/>
                <a:ln cap="flat" cmpd="sng" w="7350">
                  <a:solidFill>
                    <a:srgbClr val="B6D7A8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563" name="Google Shape;1563;p24"/>
                <p:cNvCxnSpPr/>
                <p:nvPr/>
              </p:nvCxnSpPr>
              <p:spPr>
                <a:xfrm flipH="1" rot="10800000">
                  <a:off x="6474550" y="3673138"/>
                  <a:ext cx="328800" cy="486300"/>
                </a:xfrm>
                <a:prstGeom prst="straightConnector1">
                  <a:avLst/>
                </a:prstGeom>
                <a:noFill/>
                <a:ln cap="flat" cmpd="sng" w="7350">
                  <a:solidFill>
                    <a:srgbClr val="B6D7A8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564" name="Google Shape;1564;p24"/>
                <p:cNvCxnSpPr/>
                <p:nvPr/>
              </p:nvCxnSpPr>
              <p:spPr>
                <a:xfrm flipH="1" rot="10800000">
                  <a:off x="6525450" y="3712838"/>
                  <a:ext cx="328800" cy="486300"/>
                </a:xfrm>
                <a:prstGeom prst="straightConnector1">
                  <a:avLst/>
                </a:prstGeom>
                <a:noFill/>
                <a:ln cap="flat" cmpd="sng" w="7350">
                  <a:solidFill>
                    <a:srgbClr val="B6D7A8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565" name="Google Shape;1565;p24"/>
              <p:cNvGrpSpPr/>
              <p:nvPr/>
            </p:nvGrpSpPr>
            <p:grpSpPr>
              <a:xfrm>
                <a:off x="7438542" y="5030383"/>
                <a:ext cx="1435621" cy="519947"/>
                <a:chOff x="8548175" y="2668550"/>
                <a:chExt cx="1435621" cy="519947"/>
              </a:xfrm>
            </p:grpSpPr>
            <p:sp>
              <p:nvSpPr>
                <p:cNvPr id="1566" name="Google Shape;1566;p24"/>
                <p:cNvSpPr txBox="1"/>
                <p:nvPr/>
              </p:nvSpPr>
              <p:spPr>
                <a:xfrm>
                  <a:off x="8548175" y="2668550"/>
                  <a:ext cx="672300" cy="294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860">
                      <a:solidFill>
                        <a:schemeClr val="dk2"/>
                      </a:solidFill>
                    </a:rPr>
                    <a:t>Legend</a:t>
                  </a:r>
                  <a:endParaRPr b="1" sz="860">
                    <a:solidFill>
                      <a:schemeClr val="dk2"/>
                    </a:solidFill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860">
                    <a:solidFill>
                      <a:schemeClr val="dk2"/>
                    </a:solidFill>
                  </a:endParaRPr>
                </a:p>
              </p:txBody>
            </p:sp>
            <p:sp>
              <p:nvSpPr>
                <p:cNvPr id="1567" name="Google Shape;1567;p24"/>
                <p:cNvSpPr/>
                <p:nvPr/>
              </p:nvSpPr>
              <p:spPr>
                <a:xfrm>
                  <a:off x="8698150" y="2959475"/>
                  <a:ext cx="146700" cy="141900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93C47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68" name="Google Shape;1568;p24"/>
                <p:cNvSpPr txBox="1"/>
                <p:nvPr/>
              </p:nvSpPr>
              <p:spPr>
                <a:xfrm>
                  <a:off x="8795496" y="2871397"/>
                  <a:ext cx="1188300" cy="317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860">
                      <a:solidFill>
                        <a:schemeClr val="dk2"/>
                      </a:solidFill>
                    </a:rPr>
                    <a:t>Reused material</a:t>
                  </a:r>
                  <a:endParaRPr sz="860">
                    <a:solidFill>
                      <a:schemeClr val="dk2"/>
                    </a:solidFill>
                  </a:endParaRPr>
                </a:p>
              </p:txBody>
            </p:sp>
            <p:cxnSp>
              <p:nvCxnSpPr>
                <p:cNvPr id="1569" name="Google Shape;1569;p24"/>
                <p:cNvCxnSpPr>
                  <a:stCxn id="1567" idx="1"/>
                </p:cNvCxnSpPr>
                <p:nvPr/>
              </p:nvCxnSpPr>
              <p:spPr>
                <a:xfrm flipH="1" rot="10800000">
                  <a:off x="8698150" y="2959625"/>
                  <a:ext cx="73500" cy="708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93C47D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570" name="Google Shape;1570;p24"/>
                <p:cNvCxnSpPr/>
                <p:nvPr/>
              </p:nvCxnSpPr>
              <p:spPr>
                <a:xfrm flipH="1" rot="10800000">
                  <a:off x="8698150" y="2963225"/>
                  <a:ext cx="146400" cy="138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93C47D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571" name="Google Shape;1571;p24"/>
                <p:cNvCxnSpPr/>
                <p:nvPr/>
              </p:nvCxnSpPr>
              <p:spPr>
                <a:xfrm flipH="1" rot="10800000">
                  <a:off x="8771650" y="3030425"/>
                  <a:ext cx="73500" cy="708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93C47D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572" name="Google Shape;1572;p24"/>
              <p:cNvGrpSpPr/>
              <p:nvPr/>
            </p:nvGrpSpPr>
            <p:grpSpPr>
              <a:xfrm>
                <a:off x="7593906" y="5462204"/>
                <a:ext cx="1964213" cy="315600"/>
                <a:chOff x="8698150" y="2879721"/>
                <a:chExt cx="1964213" cy="315600"/>
              </a:xfrm>
            </p:grpSpPr>
            <p:sp>
              <p:nvSpPr>
                <p:cNvPr id="1573" name="Google Shape;1573;p24"/>
                <p:cNvSpPr/>
                <p:nvPr/>
              </p:nvSpPr>
              <p:spPr>
                <a:xfrm>
                  <a:off x="8698150" y="2959475"/>
                  <a:ext cx="146700" cy="141900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FFFF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574" name="Google Shape;1574;p24"/>
                <p:cNvSpPr txBox="1"/>
                <p:nvPr/>
              </p:nvSpPr>
              <p:spPr>
                <a:xfrm>
                  <a:off x="8806563" y="2879721"/>
                  <a:ext cx="1855800" cy="315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850">
                      <a:solidFill>
                        <a:schemeClr val="dk2"/>
                      </a:solidFill>
                    </a:rPr>
                    <a:t>Limited availability</a:t>
                  </a:r>
                  <a:endParaRPr sz="850">
                    <a:solidFill>
                      <a:schemeClr val="dk2"/>
                    </a:solidFill>
                  </a:endParaRPr>
                </a:p>
              </p:txBody>
            </p:sp>
            <p:cxnSp>
              <p:nvCxnSpPr>
                <p:cNvPr id="1575" name="Google Shape;1575;p24"/>
                <p:cNvCxnSpPr>
                  <a:stCxn id="1573" idx="1"/>
                </p:cNvCxnSpPr>
                <p:nvPr/>
              </p:nvCxnSpPr>
              <p:spPr>
                <a:xfrm flipH="1" rot="10800000">
                  <a:off x="8698150" y="2959625"/>
                  <a:ext cx="73500" cy="708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576" name="Google Shape;1576;p24"/>
                <p:cNvCxnSpPr/>
                <p:nvPr/>
              </p:nvCxnSpPr>
              <p:spPr>
                <a:xfrm flipH="1" rot="10800000">
                  <a:off x="8698150" y="2963225"/>
                  <a:ext cx="146400" cy="138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577" name="Google Shape;1577;p24"/>
                <p:cNvCxnSpPr/>
                <p:nvPr/>
              </p:nvCxnSpPr>
              <p:spPr>
                <a:xfrm flipH="1" rot="10800000">
                  <a:off x="8771650" y="3030425"/>
                  <a:ext cx="73500" cy="708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1578" name="Google Shape;1578;p24"/>
            <p:cNvGrpSpPr/>
            <p:nvPr/>
          </p:nvGrpSpPr>
          <p:grpSpPr>
            <a:xfrm>
              <a:off x="8834336" y="7111675"/>
              <a:ext cx="4557232" cy="618331"/>
              <a:chOff x="4268193" y="552116"/>
              <a:chExt cx="6213843" cy="697025"/>
            </a:xfrm>
          </p:grpSpPr>
          <p:sp>
            <p:nvSpPr>
              <p:cNvPr id="1579" name="Google Shape;1579;p24"/>
              <p:cNvSpPr/>
              <p:nvPr/>
            </p:nvSpPr>
            <p:spPr>
              <a:xfrm>
                <a:off x="6760562" y="609015"/>
                <a:ext cx="3546300" cy="255600"/>
              </a:xfrm>
              <a:prstGeom prst="roundRect">
                <a:avLst>
                  <a:gd fmla="val 16667" name="adj"/>
                </a:avLst>
              </a:prstGeom>
              <a:solidFill>
                <a:schemeClr val="lt2"/>
              </a:solidFill>
              <a:ln cap="flat" cmpd="sng" w="84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1100" lIns="81100" spcFirstLastPara="1" rIns="81100" wrap="square" tIns="811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41"/>
              </a:p>
            </p:txBody>
          </p:sp>
          <p:sp>
            <p:nvSpPr>
              <p:cNvPr id="1580" name="Google Shape;1580;p24"/>
              <p:cNvSpPr txBox="1"/>
              <p:nvPr/>
            </p:nvSpPr>
            <p:spPr>
              <a:xfrm>
                <a:off x="4268193" y="552116"/>
                <a:ext cx="2855100" cy="28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1100" lIns="81100" spcFirstLastPara="1" rIns="81100" wrap="square" tIns="811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86">
                    <a:solidFill>
                      <a:srgbClr val="B7B7B7"/>
                    </a:solidFill>
                  </a:rPr>
                  <a:t>CONSTRUCTION YEAR</a:t>
                </a:r>
                <a:endParaRPr b="1" sz="1186">
                  <a:solidFill>
                    <a:srgbClr val="B7B7B7"/>
                  </a:solidFill>
                </a:endParaRPr>
              </a:p>
            </p:txBody>
          </p:sp>
          <p:sp>
            <p:nvSpPr>
              <p:cNvPr id="1581" name="Google Shape;1581;p24"/>
              <p:cNvSpPr txBox="1"/>
              <p:nvPr/>
            </p:nvSpPr>
            <p:spPr>
              <a:xfrm>
                <a:off x="6732035" y="810841"/>
                <a:ext cx="37500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1100" lIns="81100" spcFirstLastPara="1" rIns="81100" wrap="square" tIns="811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20">
                    <a:solidFill>
                      <a:schemeClr val="dk2"/>
                    </a:solidFill>
                  </a:rPr>
                  <a:t>2020	2030	2040	2050	2060	2070</a:t>
                </a:r>
                <a:endParaRPr sz="620">
                  <a:solidFill>
                    <a:schemeClr val="dk2"/>
                  </a:solidFill>
                </a:endParaRPr>
              </a:p>
            </p:txBody>
          </p:sp>
          <p:sp>
            <p:nvSpPr>
              <p:cNvPr id="1582" name="Google Shape;1582;p24"/>
              <p:cNvSpPr/>
              <p:nvPr/>
            </p:nvSpPr>
            <p:spPr>
              <a:xfrm>
                <a:off x="6766012" y="605859"/>
                <a:ext cx="1957500" cy="255600"/>
              </a:xfrm>
              <a:prstGeom prst="roundRect">
                <a:avLst>
                  <a:gd fmla="val 16667" name="adj"/>
                </a:avLst>
              </a:prstGeom>
              <a:solidFill>
                <a:srgbClr val="AAD3E0"/>
              </a:solidFill>
              <a:ln cap="flat" cmpd="sng" w="84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1100" lIns="81100" spcFirstLastPara="1" rIns="81100" wrap="square" tIns="811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41"/>
              </a:p>
            </p:txBody>
          </p:sp>
        </p:grpSp>
        <p:pic>
          <p:nvPicPr>
            <p:cNvPr id="1583" name="Google Shape;1583;p24" title="Chart"/>
            <p:cNvPicPr preferRelativeResize="0"/>
            <p:nvPr/>
          </p:nvPicPr>
          <p:blipFill rotWithShape="1">
            <a:blip r:embed="rId10">
              <a:alphaModFix/>
            </a:blip>
            <a:srcRect b="0" l="0" r="0" t="11143"/>
            <a:stretch/>
          </p:blipFill>
          <p:spPr>
            <a:xfrm>
              <a:off x="4699706" y="1381773"/>
              <a:ext cx="3723375" cy="204505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584" name="Google Shape;1584;p24"/>
            <p:cNvGrpSpPr/>
            <p:nvPr/>
          </p:nvGrpSpPr>
          <p:grpSpPr>
            <a:xfrm rot="-7747678">
              <a:off x="6731768" y="2186915"/>
              <a:ext cx="917135" cy="927853"/>
              <a:chOff x="5893568" y="3081812"/>
              <a:chExt cx="1184774" cy="1198522"/>
            </a:xfrm>
          </p:grpSpPr>
          <p:grpSp>
            <p:nvGrpSpPr>
              <p:cNvPr id="1585" name="Google Shape;1585;p24"/>
              <p:cNvGrpSpPr/>
              <p:nvPr/>
            </p:nvGrpSpPr>
            <p:grpSpPr>
              <a:xfrm rot="-2553858">
                <a:off x="6121452" y="3202192"/>
                <a:ext cx="729006" cy="957763"/>
                <a:chOff x="6057691" y="2542624"/>
                <a:chExt cx="729025" cy="957787"/>
              </a:xfrm>
            </p:grpSpPr>
            <p:cxnSp>
              <p:nvCxnSpPr>
                <p:cNvPr id="1586" name="Google Shape;1586;p24"/>
                <p:cNvCxnSpPr/>
                <p:nvPr/>
              </p:nvCxnSpPr>
              <p:spPr>
                <a:xfrm flipH="1" rot="-8246357">
                  <a:off x="6228918" y="2725045"/>
                  <a:ext cx="588139" cy="125058"/>
                </a:xfrm>
                <a:prstGeom prst="straightConnector1">
                  <a:avLst/>
                </a:prstGeom>
                <a:noFill/>
                <a:ln cap="flat" cmpd="sng" w="22125">
                  <a:solidFill>
                    <a:srgbClr val="B6D7A8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587" name="Google Shape;1587;p24"/>
                <p:cNvCxnSpPr/>
                <p:nvPr/>
              </p:nvCxnSpPr>
              <p:spPr>
                <a:xfrm flipH="1" rot="10800000">
                  <a:off x="6097647" y="3383711"/>
                  <a:ext cx="594300" cy="116700"/>
                </a:xfrm>
                <a:prstGeom prst="straightConnector1">
                  <a:avLst/>
                </a:prstGeom>
                <a:noFill/>
                <a:ln cap="flat" cmpd="sng" w="22125">
                  <a:solidFill>
                    <a:srgbClr val="B6D7A8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588" name="Google Shape;1588;p24"/>
                <p:cNvSpPr/>
                <p:nvPr/>
              </p:nvSpPr>
              <p:spPr>
                <a:xfrm>
                  <a:off x="6057691" y="2616591"/>
                  <a:ext cx="202398" cy="870834"/>
                </a:xfrm>
                <a:custGeom>
                  <a:rect b="b" l="l" r="r" t="t"/>
                  <a:pathLst>
                    <a:path extrusionOk="0" h="29905" w="4740">
                      <a:moveTo>
                        <a:pt x="1229" y="29905"/>
                      </a:moveTo>
                      <a:cubicBezTo>
                        <a:pt x="-1533" y="20256"/>
                        <a:pt x="780" y="9222"/>
                        <a:pt x="4741" y="0"/>
                      </a:cubicBezTo>
                    </a:path>
                  </a:pathLst>
                </a:custGeom>
                <a:noFill/>
                <a:ln cap="flat" cmpd="sng" w="22125">
                  <a:solidFill>
                    <a:srgbClr val="B6D7A8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1589" name="Google Shape;1589;p24"/>
                <p:cNvSpPr/>
                <p:nvPr/>
              </p:nvSpPr>
              <p:spPr>
                <a:xfrm>
                  <a:off x="6679189" y="2926345"/>
                  <a:ext cx="107527" cy="463154"/>
                </a:xfrm>
                <a:custGeom>
                  <a:rect b="b" l="l" r="r" t="t"/>
                  <a:pathLst>
                    <a:path extrusionOk="0" h="29905" w="4740">
                      <a:moveTo>
                        <a:pt x="1229" y="29905"/>
                      </a:moveTo>
                      <a:cubicBezTo>
                        <a:pt x="-1533" y="20256"/>
                        <a:pt x="780" y="9222"/>
                        <a:pt x="4741" y="0"/>
                      </a:cubicBezTo>
                    </a:path>
                  </a:pathLst>
                </a:custGeom>
                <a:noFill/>
                <a:ln cap="flat" cmpd="sng" w="22125">
                  <a:solidFill>
                    <a:srgbClr val="B6D7A8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</p:grpSp>
          <p:cxnSp>
            <p:nvCxnSpPr>
              <p:cNvPr id="1590" name="Google Shape;1590;p24"/>
              <p:cNvCxnSpPr/>
              <p:nvPr/>
            </p:nvCxnSpPr>
            <p:spPr>
              <a:xfrm flipH="1" rot="10800000">
                <a:off x="6147225" y="3487550"/>
                <a:ext cx="109200" cy="174600"/>
              </a:xfrm>
              <a:prstGeom prst="straightConnector1">
                <a:avLst/>
              </a:prstGeom>
              <a:noFill/>
              <a:ln cap="flat" cmpd="sng" w="7350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91" name="Google Shape;1591;p24"/>
              <p:cNvCxnSpPr/>
              <p:nvPr/>
            </p:nvCxnSpPr>
            <p:spPr>
              <a:xfrm flipH="1" rot="10800000">
                <a:off x="6173600" y="3466000"/>
                <a:ext cx="183000" cy="285600"/>
              </a:xfrm>
              <a:prstGeom prst="straightConnector1">
                <a:avLst/>
              </a:prstGeom>
              <a:noFill/>
              <a:ln cap="flat" cmpd="sng" w="7350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92" name="Google Shape;1592;p24"/>
              <p:cNvCxnSpPr/>
              <p:nvPr/>
            </p:nvCxnSpPr>
            <p:spPr>
              <a:xfrm flipH="1" rot="10800000">
                <a:off x="6209650" y="3456063"/>
                <a:ext cx="228600" cy="361800"/>
              </a:xfrm>
              <a:prstGeom prst="straightConnector1">
                <a:avLst/>
              </a:prstGeom>
              <a:noFill/>
              <a:ln cap="flat" cmpd="sng" w="7350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93" name="Google Shape;1593;p24"/>
              <p:cNvCxnSpPr/>
              <p:nvPr/>
            </p:nvCxnSpPr>
            <p:spPr>
              <a:xfrm flipH="1" rot="10800000">
                <a:off x="6241950" y="3433763"/>
                <a:ext cx="283500" cy="447600"/>
              </a:xfrm>
              <a:prstGeom prst="straightConnector1">
                <a:avLst/>
              </a:prstGeom>
              <a:noFill/>
              <a:ln cap="flat" cmpd="sng" w="7350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94" name="Google Shape;1594;p24"/>
              <p:cNvCxnSpPr/>
              <p:nvPr/>
            </p:nvCxnSpPr>
            <p:spPr>
              <a:xfrm flipH="1" rot="10800000">
                <a:off x="6283850" y="3414388"/>
                <a:ext cx="331200" cy="538200"/>
              </a:xfrm>
              <a:prstGeom prst="straightConnector1">
                <a:avLst/>
              </a:prstGeom>
              <a:noFill/>
              <a:ln cap="flat" cmpd="sng" w="7350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95" name="Google Shape;1595;p24"/>
              <p:cNvCxnSpPr/>
              <p:nvPr/>
            </p:nvCxnSpPr>
            <p:spPr>
              <a:xfrm flipH="1" rot="10800000">
                <a:off x="6322550" y="3425213"/>
                <a:ext cx="367500" cy="591000"/>
              </a:xfrm>
              <a:prstGeom prst="straightConnector1">
                <a:avLst/>
              </a:prstGeom>
              <a:noFill/>
              <a:ln cap="flat" cmpd="sng" w="7350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96" name="Google Shape;1596;p24"/>
              <p:cNvCxnSpPr/>
              <p:nvPr/>
            </p:nvCxnSpPr>
            <p:spPr>
              <a:xfrm flipH="1" rot="10800000">
                <a:off x="6367875" y="3522238"/>
                <a:ext cx="351600" cy="548700"/>
              </a:xfrm>
              <a:prstGeom prst="straightConnector1">
                <a:avLst/>
              </a:prstGeom>
              <a:noFill/>
              <a:ln cap="flat" cmpd="sng" w="7350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97" name="Google Shape;1597;p24"/>
              <p:cNvCxnSpPr/>
              <p:nvPr/>
            </p:nvCxnSpPr>
            <p:spPr>
              <a:xfrm flipH="1" rot="10800000">
                <a:off x="6414850" y="3600463"/>
                <a:ext cx="346500" cy="522900"/>
              </a:xfrm>
              <a:prstGeom prst="straightConnector1">
                <a:avLst/>
              </a:prstGeom>
              <a:noFill/>
              <a:ln cap="flat" cmpd="sng" w="7350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98" name="Google Shape;1598;p24"/>
              <p:cNvCxnSpPr/>
              <p:nvPr/>
            </p:nvCxnSpPr>
            <p:spPr>
              <a:xfrm flipH="1" rot="10800000">
                <a:off x="6474550" y="3673138"/>
                <a:ext cx="328800" cy="486300"/>
              </a:xfrm>
              <a:prstGeom prst="straightConnector1">
                <a:avLst/>
              </a:prstGeom>
              <a:noFill/>
              <a:ln cap="flat" cmpd="sng" w="7350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599" name="Google Shape;1599;p24"/>
              <p:cNvCxnSpPr/>
              <p:nvPr/>
            </p:nvCxnSpPr>
            <p:spPr>
              <a:xfrm flipH="1" rot="10800000">
                <a:off x="6525450" y="3712838"/>
                <a:ext cx="328800" cy="486300"/>
              </a:xfrm>
              <a:prstGeom prst="straightConnector1">
                <a:avLst/>
              </a:prstGeom>
              <a:noFill/>
              <a:ln cap="flat" cmpd="sng" w="7350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600" name="Google Shape;1600;p24"/>
            <p:cNvGrpSpPr/>
            <p:nvPr/>
          </p:nvGrpSpPr>
          <p:grpSpPr>
            <a:xfrm>
              <a:off x="7438542" y="1717906"/>
              <a:ext cx="1435621" cy="519947"/>
              <a:chOff x="8548175" y="2668550"/>
              <a:chExt cx="1435621" cy="519947"/>
            </a:xfrm>
          </p:grpSpPr>
          <p:sp>
            <p:nvSpPr>
              <p:cNvPr id="1601" name="Google Shape;1601;p24"/>
              <p:cNvSpPr txBox="1"/>
              <p:nvPr/>
            </p:nvSpPr>
            <p:spPr>
              <a:xfrm>
                <a:off x="8548175" y="2668550"/>
                <a:ext cx="672300" cy="29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60">
                    <a:solidFill>
                      <a:schemeClr val="dk2"/>
                    </a:solidFill>
                  </a:rPr>
                  <a:t>Legend</a:t>
                </a:r>
                <a:endParaRPr b="1" sz="860">
                  <a:solidFill>
                    <a:schemeClr val="dk2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60">
                  <a:solidFill>
                    <a:schemeClr val="dk2"/>
                  </a:solidFill>
                </a:endParaRPr>
              </a:p>
            </p:txBody>
          </p:sp>
          <p:sp>
            <p:nvSpPr>
              <p:cNvPr id="1602" name="Google Shape;1602;p24"/>
              <p:cNvSpPr/>
              <p:nvPr/>
            </p:nvSpPr>
            <p:spPr>
              <a:xfrm>
                <a:off x="8698150" y="2959475"/>
                <a:ext cx="146700" cy="141900"/>
              </a:xfrm>
              <a:prstGeom prst="rect">
                <a:avLst/>
              </a:prstGeom>
              <a:noFill/>
              <a:ln cap="flat" cmpd="sng" w="9525">
                <a:solidFill>
                  <a:srgbClr val="93C47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3" name="Google Shape;1603;p24"/>
              <p:cNvSpPr txBox="1"/>
              <p:nvPr/>
            </p:nvSpPr>
            <p:spPr>
              <a:xfrm>
                <a:off x="8795496" y="2871397"/>
                <a:ext cx="1188300" cy="31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60">
                    <a:solidFill>
                      <a:schemeClr val="dk2"/>
                    </a:solidFill>
                  </a:rPr>
                  <a:t>Reused material</a:t>
                </a:r>
                <a:endParaRPr sz="860">
                  <a:solidFill>
                    <a:schemeClr val="dk2"/>
                  </a:solidFill>
                </a:endParaRPr>
              </a:p>
            </p:txBody>
          </p:sp>
          <p:cxnSp>
            <p:nvCxnSpPr>
              <p:cNvPr id="1604" name="Google Shape;1604;p24"/>
              <p:cNvCxnSpPr>
                <a:stCxn id="1602" idx="1"/>
              </p:cNvCxnSpPr>
              <p:nvPr/>
            </p:nvCxnSpPr>
            <p:spPr>
              <a:xfrm flipH="1" rot="10800000">
                <a:off x="8698150" y="2959625"/>
                <a:ext cx="73500" cy="708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93C47D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05" name="Google Shape;1605;p24"/>
              <p:cNvCxnSpPr/>
              <p:nvPr/>
            </p:nvCxnSpPr>
            <p:spPr>
              <a:xfrm flipH="1" rot="10800000">
                <a:off x="8698150" y="2963225"/>
                <a:ext cx="146400" cy="13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93C47D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06" name="Google Shape;1606;p24"/>
              <p:cNvCxnSpPr/>
              <p:nvPr/>
            </p:nvCxnSpPr>
            <p:spPr>
              <a:xfrm flipH="1" rot="10800000">
                <a:off x="8771650" y="3030425"/>
                <a:ext cx="73500" cy="708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93C47D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id="1607" name="Google Shape;1607;p24" title="download.png"/>
            <p:cNvPicPr preferRelativeResize="0"/>
            <p:nvPr/>
          </p:nvPicPr>
          <p:blipFill>
            <a:blip r:embed="rId9">
              <a:alphaModFix/>
            </a:blip>
            <a:stretch>
              <a:fillRect/>
            </a:stretch>
          </p:blipFill>
          <p:spPr>
            <a:xfrm>
              <a:off x="8516450" y="1234027"/>
              <a:ext cx="259800" cy="259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08" name="Google Shape;1608;p24"/>
          <p:cNvGrpSpPr/>
          <p:nvPr/>
        </p:nvGrpSpPr>
        <p:grpSpPr>
          <a:xfrm rot="6466707">
            <a:off x="5814315" y="4528678"/>
            <a:ext cx="984756" cy="912842"/>
            <a:chOff x="5971561" y="3175271"/>
            <a:chExt cx="1209504" cy="1223549"/>
          </a:xfrm>
        </p:grpSpPr>
        <p:grpSp>
          <p:nvGrpSpPr>
            <p:cNvPr id="1609" name="Google Shape;1609;p24"/>
            <p:cNvGrpSpPr/>
            <p:nvPr/>
          </p:nvGrpSpPr>
          <p:grpSpPr>
            <a:xfrm rot="-2553858">
              <a:off x="6204240" y="3298126"/>
              <a:ext cx="744146" cy="977838"/>
              <a:chOff x="6044991" y="2671759"/>
              <a:chExt cx="744165" cy="977863"/>
            </a:xfrm>
          </p:grpSpPr>
          <p:cxnSp>
            <p:nvCxnSpPr>
              <p:cNvPr id="1610" name="Google Shape;1610;p24"/>
              <p:cNvCxnSpPr/>
              <p:nvPr/>
            </p:nvCxnSpPr>
            <p:spPr>
              <a:xfrm flipH="1" rot="-3778148">
                <a:off x="6491854" y="2506298"/>
                <a:ext cx="16503" cy="617403"/>
              </a:xfrm>
              <a:prstGeom prst="straightConnector1">
                <a:avLst/>
              </a:prstGeom>
              <a:noFill/>
              <a:ln cap="flat" cmpd="sng" w="24325">
                <a:solidFill>
                  <a:srgbClr val="FFFF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611" name="Google Shape;1611;p24"/>
              <p:cNvCxnSpPr/>
              <p:nvPr/>
            </p:nvCxnSpPr>
            <p:spPr>
              <a:xfrm rot="-3787876">
                <a:off x="6196996" y="3097494"/>
                <a:ext cx="379690" cy="554057"/>
              </a:xfrm>
              <a:prstGeom prst="straightConnector1">
                <a:avLst/>
              </a:prstGeom>
              <a:noFill/>
              <a:ln cap="flat" cmpd="sng" w="24325">
                <a:solidFill>
                  <a:srgbClr val="FFFF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612" name="Google Shape;1612;p24"/>
              <p:cNvSpPr/>
              <p:nvPr/>
            </p:nvSpPr>
            <p:spPr>
              <a:xfrm rot="143870">
                <a:off x="6063203" y="2674379"/>
                <a:ext cx="140202" cy="763728"/>
              </a:xfrm>
              <a:custGeom>
                <a:rect b="b" l="l" r="r" t="t"/>
                <a:pathLst>
                  <a:path extrusionOk="0" h="29905" w="4740">
                    <a:moveTo>
                      <a:pt x="1229" y="29905"/>
                    </a:moveTo>
                    <a:cubicBezTo>
                      <a:pt x="-1533" y="20256"/>
                      <a:pt x="780" y="9222"/>
                      <a:pt x="4741" y="0"/>
                    </a:cubicBezTo>
                  </a:path>
                </a:pathLst>
              </a:custGeom>
              <a:noFill/>
              <a:ln cap="flat" cmpd="sng" w="24325">
                <a:solidFill>
                  <a:srgbClr val="FFFF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613" name="Google Shape;1613;p24"/>
              <p:cNvSpPr/>
              <p:nvPr/>
            </p:nvSpPr>
            <p:spPr>
              <a:xfrm>
                <a:off x="6704190" y="2926332"/>
                <a:ext cx="82523" cy="396989"/>
              </a:xfrm>
              <a:custGeom>
                <a:rect b="b" l="l" r="r" t="t"/>
                <a:pathLst>
                  <a:path extrusionOk="0" h="29905" w="4740">
                    <a:moveTo>
                      <a:pt x="1229" y="29905"/>
                    </a:moveTo>
                    <a:cubicBezTo>
                      <a:pt x="-1533" y="20256"/>
                      <a:pt x="780" y="9222"/>
                      <a:pt x="4741" y="0"/>
                    </a:cubicBezTo>
                  </a:path>
                </a:pathLst>
              </a:custGeom>
              <a:noFill/>
              <a:ln cap="flat" cmpd="sng" w="24325">
                <a:solidFill>
                  <a:srgbClr val="FFFF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cxnSp>
          <p:nvCxnSpPr>
            <p:cNvPr id="1614" name="Google Shape;1614;p24"/>
            <p:cNvCxnSpPr/>
            <p:nvPr/>
          </p:nvCxnSpPr>
          <p:spPr>
            <a:xfrm rot="-6338134">
              <a:off x="6145992" y="3526121"/>
              <a:ext cx="99066" cy="131358"/>
            </a:xfrm>
            <a:prstGeom prst="straightConnector1">
              <a:avLst/>
            </a:prstGeom>
            <a:noFill/>
            <a:ln cap="flat" cmpd="sng" w="8125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15" name="Google Shape;1615;p24"/>
            <p:cNvCxnSpPr/>
            <p:nvPr/>
          </p:nvCxnSpPr>
          <p:spPr>
            <a:xfrm rot="-6341519">
              <a:off x="6163077" y="3507611"/>
              <a:ext cx="186345" cy="229677"/>
            </a:xfrm>
            <a:prstGeom prst="straightConnector1">
              <a:avLst/>
            </a:prstGeom>
            <a:noFill/>
            <a:ln cap="flat" cmpd="sng" w="8125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16" name="Google Shape;1616;p24"/>
            <p:cNvCxnSpPr/>
            <p:nvPr/>
          </p:nvCxnSpPr>
          <p:spPr>
            <a:xfrm flipH="1" rot="10800000">
              <a:off x="6209650" y="3456063"/>
              <a:ext cx="228600" cy="361800"/>
            </a:xfrm>
            <a:prstGeom prst="straightConnector1">
              <a:avLst/>
            </a:prstGeom>
            <a:noFill/>
            <a:ln cap="flat" cmpd="sng" w="8125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17" name="Google Shape;1617;p24"/>
            <p:cNvCxnSpPr/>
            <p:nvPr/>
          </p:nvCxnSpPr>
          <p:spPr>
            <a:xfrm flipH="1" rot="10800000">
              <a:off x="6241950" y="3433763"/>
              <a:ext cx="283500" cy="447600"/>
            </a:xfrm>
            <a:prstGeom prst="straightConnector1">
              <a:avLst/>
            </a:prstGeom>
            <a:noFill/>
            <a:ln cap="flat" cmpd="sng" w="8125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18" name="Google Shape;1618;p24"/>
            <p:cNvCxnSpPr/>
            <p:nvPr/>
          </p:nvCxnSpPr>
          <p:spPr>
            <a:xfrm flipH="1" rot="10800000">
              <a:off x="6283850" y="3414388"/>
              <a:ext cx="331200" cy="538200"/>
            </a:xfrm>
            <a:prstGeom prst="straightConnector1">
              <a:avLst/>
            </a:prstGeom>
            <a:noFill/>
            <a:ln cap="flat" cmpd="sng" w="8125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19" name="Google Shape;1619;p24"/>
            <p:cNvCxnSpPr/>
            <p:nvPr/>
          </p:nvCxnSpPr>
          <p:spPr>
            <a:xfrm rot="-6341247">
              <a:off x="6292767" y="3448055"/>
              <a:ext cx="439366" cy="530916"/>
            </a:xfrm>
            <a:prstGeom prst="straightConnector1">
              <a:avLst/>
            </a:prstGeom>
            <a:noFill/>
            <a:ln cap="flat" cmpd="sng" w="8125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20" name="Google Shape;1620;p24"/>
            <p:cNvCxnSpPr/>
            <p:nvPr/>
          </p:nvCxnSpPr>
          <p:spPr>
            <a:xfrm rot="-6340423">
              <a:off x="6351293" y="3538944"/>
              <a:ext cx="399765" cy="505388"/>
            </a:xfrm>
            <a:prstGeom prst="straightConnector1">
              <a:avLst/>
            </a:prstGeom>
            <a:noFill/>
            <a:ln cap="flat" cmpd="sng" w="8125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21" name="Google Shape;1621;p24"/>
            <p:cNvCxnSpPr/>
            <p:nvPr/>
          </p:nvCxnSpPr>
          <p:spPr>
            <a:xfrm rot="-6340407">
              <a:off x="6404298" y="3607469"/>
              <a:ext cx="382004" cy="494187"/>
            </a:xfrm>
            <a:prstGeom prst="straightConnector1">
              <a:avLst/>
            </a:prstGeom>
            <a:noFill/>
            <a:ln cap="flat" cmpd="sng" w="8125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22" name="Google Shape;1622;p24"/>
            <p:cNvCxnSpPr/>
            <p:nvPr/>
          </p:nvCxnSpPr>
          <p:spPr>
            <a:xfrm rot="-6341762">
              <a:off x="6466915" y="3656902"/>
              <a:ext cx="369270" cy="483371"/>
            </a:xfrm>
            <a:prstGeom prst="straightConnector1">
              <a:avLst/>
            </a:prstGeom>
            <a:noFill/>
            <a:ln cap="flat" cmpd="sng" w="8125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1623" name="Google Shape;1623;p24" title="Chart"/>
          <p:cNvPicPr preferRelativeResize="0"/>
          <p:nvPr/>
        </p:nvPicPr>
        <p:blipFill rotWithShape="1">
          <a:blip r:embed="rId11">
            <a:alphaModFix/>
          </a:blip>
          <a:srcRect b="0" l="17945" r="0" t="0"/>
          <a:stretch/>
        </p:blipFill>
        <p:spPr>
          <a:xfrm>
            <a:off x="7521449" y="6050600"/>
            <a:ext cx="1076499" cy="811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4" name="Google Shape;1624;p24" title="Chart"/>
          <p:cNvPicPr preferRelativeResize="0"/>
          <p:nvPr/>
        </p:nvPicPr>
        <p:blipFill rotWithShape="1">
          <a:blip r:embed="rId11">
            <a:alphaModFix/>
          </a:blip>
          <a:srcRect b="0" l="17945" r="0" t="0"/>
          <a:stretch/>
        </p:blipFill>
        <p:spPr>
          <a:xfrm>
            <a:off x="7521449" y="2836275"/>
            <a:ext cx="1076499" cy="811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8" name="Shape 1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9" name="Google Shape;1629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400" y="211996"/>
            <a:ext cx="672433" cy="51024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30" name="Google Shape;1630;p25"/>
          <p:cNvCxnSpPr>
            <a:stCxn id="1631" idx="1"/>
          </p:cNvCxnSpPr>
          <p:nvPr/>
        </p:nvCxnSpPr>
        <p:spPr>
          <a:xfrm>
            <a:off x="1921100" y="232040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32" name="Google Shape;1632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68600" y="6233680"/>
            <a:ext cx="259800" cy="3888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3" name="Google Shape;1633;p25"/>
          <p:cNvSpPr/>
          <p:nvPr/>
        </p:nvSpPr>
        <p:spPr>
          <a:xfrm>
            <a:off x="322450" y="1045650"/>
            <a:ext cx="3608700" cy="43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0175" lIns="140175" spcFirstLastPara="1" rIns="140175" wrap="square" tIns="140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999999"/>
                </a:solidFill>
              </a:rPr>
              <a:t>       Ventura County, CA</a:t>
            </a:r>
            <a:endParaRPr sz="1500">
              <a:solidFill>
                <a:srgbClr val="999999"/>
              </a:solidFill>
            </a:endParaRPr>
          </a:p>
        </p:txBody>
      </p:sp>
      <p:pic>
        <p:nvPicPr>
          <p:cNvPr id="1634" name="Google Shape;1634;p2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70625" y="1067100"/>
            <a:ext cx="388875" cy="38887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635" name="Google Shape;1635;p25"/>
          <p:cNvSpPr/>
          <p:nvPr/>
        </p:nvSpPr>
        <p:spPr>
          <a:xfrm>
            <a:off x="338450" y="4750157"/>
            <a:ext cx="3609000" cy="2056200"/>
          </a:xfrm>
          <a:prstGeom prst="rect">
            <a:avLst/>
          </a:prstGeom>
          <a:solidFill>
            <a:srgbClr val="FFF2CC"/>
          </a:solidFill>
          <a:ln cap="flat" cmpd="sng" w="19050">
            <a:solidFill>
              <a:srgbClr val="66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Supply Chain Vulnerability Explanation</a:t>
            </a:r>
            <a:r>
              <a:rPr lang="en"/>
              <a:t>: Reducing import ability primarily affects Gypsum, a raw material necessary for concrete production. Added cost is due is primarily associated with shifting to domestic production. Possible mitigation strategies include substitution with example alternative material…</a:t>
            </a:r>
            <a:endParaRPr/>
          </a:p>
        </p:txBody>
      </p:sp>
      <p:grpSp>
        <p:nvGrpSpPr>
          <p:cNvPr id="1636" name="Google Shape;1636;p25"/>
          <p:cNvGrpSpPr/>
          <p:nvPr/>
        </p:nvGrpSpPr>
        <p:grpSpPr>
          <a:xfrm>
            <a:off x="313743" y="1737435"/>
            <a:ext cx="3608871" cy="488553"/>
            <a:chOff x="313750" y="1747448"/>
            <a:chExt cx="3505800" cy="474600"/>
          </a:xfrm>
        </p:grpSpPr>
        <p:sp>
          <p:nvSpPr>
            <p:cNvPr id="1637" name="Google Shape;1637;p25"/>
            <p:cNvSpPr/>
            <p:nvPr/>
          </p:nvSpPr>
          <p:spPr>
            <a:xfrm>
              <a:off x="313750" y="1747448"/>
              <a:ext cx="3505800" cy="474600"/>
            </a:xfrm>
            <a:prstGeom prst="rect">
              <a:avLst/>
            </a:prstGeom>
            <a:solidFill>
              <a:schemeClr val="lt1"/>
            </a:solidFill>
            <a:ln cap="flat" cmpd="sng" w="980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44300" lIns="144300" spcFirstLastPara="1" rIns="144300" wrap="square" tIns="1443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41"/>
                <a:t>Building Specifications</a:t>
              </a:r>
              <a:endParaRPr b="1" sz="1441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26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26">
                <a:solidFill>
                  <a:srgbClr val="666666"/>
                </a:solidFill>
              </a:endParaRPr>
            </a:p>
            <a:p>
              <a:pPr indent="0" lvl="0" marL="719051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26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26"/>
            </a:p>
          </p:txBody>
        </p:sp>
        <p:sp>
          <p:nvSpPr>
            <p:cNvPr id="1638" name="Google Shape;1638;p25"/>
            <p:cNvSpPr/>
            <p:nvPr/>
          </p:nvSpPr>
          <p:spPr>
            <a:xfrm rot="10800000">
              <a:off x="2469500" y="1961425"/>
              <a:ext cx="167100" cy="101400"/>
            </a:xfrm>
            <a:prstGeom prst="triangle">
              <a:avLst>
                <a:gd fmla="val 50000" name="adj"/>
              </a:avLst>
            </a:prstGeom>
            <a:solidFill>
              <a:srgbClr val="B7B7B7"/>
            </a:solidFill>
            <a:ln cap="flat" cmpd="sng" w="9800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44300" lIns="144300" spcFirstLastPara="1" rIns="144300" wrap="square" tIns="1443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61"/>
            </a:p>
          </p:txBody>
        </p:sp>
      </p:grpSp>
      <p:pic>
        <p:nvPicPr>
          <p:cNvPr id="1639" name="Google Shape;1639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71521" y="6529569"/>
            <a:ext cx="259800" cy="38889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40" name="Google Shape;1640;p25"/>
          <p:cNvGrpSpPr/>
          <p:nvPr/>
        </p:nvGrpSpPr>
        <p:grpSpPr>
          <a:xfrm>
            <a:off x="340163" y="7015363"/>
            <a:ext cx="4170545" cy="534623"/>
            <a:chOff x="313750" y="2353562"/>
            <a:chExt cx="4170545" cy="534623"/>
          </a:xfrm>
        </p:grpSpPr>
        <p:grpSp>
          <p:nvGrpSpPr>
            <p:cNvPr id="1641" name="Google Shape;1641;p25"/>
            <p:cNvGrpSpPr/>
            <p:nvPr/>
          </p:nvGrpSpPr>
          <p:grpSpPr>
            <a:xfrm>
              <a:off x="313775" y="2353562"/>
              <a:ext cx="4170520" cy="534623"/>
              <a:chOff x="314627" y="1488838"/>
              <a:chExt cx="2467325" cy="384649"/>
            </a:xfrm>
          </p:grpSpPr>
          <p:sp>
            <p:nvSpPr>
              <p:cNvPr id="1642" name="Google Shape;1642;p25"/>
              <p:cNvSpPr/>
              <p:nvPr/>
            </p:nvSpPr>
            <p:spPr>
              <a:xfrm>
                <a:off x="314627" y="1532087"/>
                <a:ext cx="2135100" cy="3414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194825" lIns="194825" spcFirstLastPara="1" rIns="194825" wrap="square" tIns="1948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50">
                  <a:solidFill>
                    <a:schemeClr val="dk1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50">
                  <a:solidFill>
                    <a:schemeClr val="dk1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50">
                  <a:solidFill>
                    <a:schemeClr val="dk1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50">
                  <a:solidFill>
                    <a:schemeClr val="dk1"/>
                  </a:solidFill>
                </a:endParaRPr>
              </a:p>
            </p:txBody>
          </p:sp>
          <p:grpSp>
            <p:nvGrpSpPr>
              <p:cNvPr id="1643" name="Google Shape;1643;p25"/>
              <p:cNvGrpSpPr/>
              <p:nvPr/>
            </p:nvGrpSpPr>
            <p:grpSpPr>
              <a:xfrm>
                <a:off x="1905750" y="1488838"/>
                <a:ext cx="876202" cy="317400"/>
                <a:chOff x="1905813" y="1488988"/>
                <a:chExt cx="876202" cy="317400"/>
              </a:xfrm>
            </p:grpSpPr>
            <p:sp>
              <p:nvSpPr>
                <p:cNvPr id="1644" name="Google Shape;1644;p25"/>
                <p:cNvSpPr/>
                <p:nvPr/>
              </p:nvSpPr>
              <p:spPr>
                <a:xfrm rot="-10800000">
                  <a:off x="1905813" y="1608215"/>
                  <a:ext cx="421893" cy="181722"/>
                </a:xfrm>
                <a:prstGeom prst="flowChartMagneticDrum">
                  <a:avLst/>
                </a:prstGeom>
                <a:solidFill>
                  <a:srgbClr val="CCCCCC"/>
                </a:solidFill>
                <a:ln cap="flat" cmpd="sng" w="132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194825" lIns="194825" spcFirstLastPara="1" rIns="194825" wrap="square" tIns="1948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918"/>
                </a:p>
              </p:txBody>
            </p:sp>
            <p:sp>
              <p:nvSpPr>
                <p:cNvPr id="1645" name="Google Shape;1645;p25"/>
                <p:cNvSpPr/>
                <p:nvPr/>
              </p:nvSpPr>
              <p:spPr>
                <a:xfrm>
                  <a:off x="1905813" y="1605800"/>
                  <a:ext cx="153600" cy="181800"/>
                </a:xfrm>
                <a:prstGeom prst="ellipse">
                  <a:avLst/>
                </a:prstGeom>
                <a:solidFill>
                  <a:schemeClr val="lt1"/>
                </a:solidFill>
                <a:ln cap="flat" cmpd="sng" w="132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194825" lIns="194825" spcFirstLastPara="1" rIns="194825" wrap="square" tIns="1948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918"/>
                </a:p>
              </p:txBody>
            </p:sp>
            <p:sp>
              <p:nvSpPr>
                <p:cNvPr id="1646" name="Google Shape;1646;p25"/>
                <p:cNvSpPr txBox="1"/>
                <p:nvPr/>
              </p:nvSpPr>
              <p:spPr>
                <a:xfrm>
                  <a:off x="1966015" y="1488988"/>
                  <a:ext cx="816000" cy="317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94825" lIns="194825" spcFirstLastPara="1" rIns="194825" wrap="square" tIns="1948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250">
                      <a:solidFill>
                        <a:schemeClr val="lt1"/>
                      </a:solidFill>
                    </a:rPr>
                    <a:t>Off</a:t>
                  </a:r>
                  <a:endParaRPr sz="1250">
                    <a:solidFill>
                      <a:schemeClr val="lt1"/>
                    </a:solidFill>
                  </a:endParaRPr>
                </a:p>
              </p:txBody>
            </p:sp>
          </p:grpSp>
        </p:grpSp>
        <p:sp>
          <p:nvSpPr>
            <p:cNvPr id="1647" name="Google Shape;1647;p25"/>
            <p:cNvSpPr txBox="1"/>
            <p:nvPr/>
          </p:nvSpPr>
          <p:spPr>
            <a:xfrm>
              <a:off x="313750" y="2449250"/>
              <a:ext cx="30000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solidFill>
                    <a:schemeClr val="dk1"/>
                  </a:solidFill>
                </a:rPr>
                <a:t>Alternative Materials</a:t>
              </a:r>
              <a:endParaRPr b="1">
                <a:solidFill>
                  <a:schemeClr val="dk1"/>
                </a:solidFill>
              </a:endParaRPr>
            </a:p>
          </p:txBody>
        </p:sp>
      </p:grpSp>
      <p:grpSp>
        <p:nvGrpSpPr>
          <p:cNvPr id="1648" name="Google Shape;1648;p25"/>
          <p:cNvGrpSpPr/>
          <p:nvPr/>
        </p:nvGrpSpPr>
        <p:grpSpPr>
          <a:xfrm>
            <a:off x="322326" y="2458301"/>
            <a:ext cx="3609000" cy="2060808"/>
            <a:chOff x="313788" y="2413670"/>
            <a:chExt cx="3609000" cy="474600"/>
          </a:xfrm>
        </p:grpSpPr>
        <p:sp>
          <p:nvSpPr>
            <p:cNvPr id="1649" name="Google Shape;1649;p25"/>
            <p:cNvSpPr/>
            <p:nvPr/>
          </p:nvSpPr>
          <p:spPr>
            <a:xfrm>
              <a:off x="313788" y="2413670"/>
              <a:ext cx="3609000" cy="474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94825" lIns="194825" spcFirstLastPara="1" rIns="194825" wrap="square" tIns="19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5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5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50">
                <a:solidFill>
                  <a:schemeClr val="dk1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50">
                <a:solidFill>
                  <a:schemeClr val="dk1"/>
                </a:solidFill>
              </a:endParaRPr>
            </a:p>
          </p:txBody>
        </p:sp>
        <p:sp>
          <p:nvSpPr>
            <p:cNvPr id="1650" name="Google Shape;1650;p25"/>
            <p:cNvSpPr txBox="1"/>
            <p:nvPr/>
          </p:nvSpPr>
          <p:spPr>
            <a:xfrm>
              <a:off x="370611" y="2426226"/>
              <a:ext cx="2579100" cy="8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chemeClr val="dk1"/>
                  </a:solidFill>
                </a:rPr>
                <a:t>Material Availability Scenarios</a:t>
              </a:r>
              <a:endParaRPr b="1" sz="1300">
                <a:solidFill>
                  <a:schemeClr val="dk1"/>
                </a:solidFill>
              </a:endParaRPr>
            </a:p>
          </p:txBody>
        </p:sp>
      </p:grpSp>
      <p:grpSp>
        <p:nvGrpSpPr>
          <p:cNvPr id="1651" name="Google Shape;1651;p25"/>
          <p:cNvGrpSpPr/>
          <p:nvPr/>
        </p:nvGrpSpPr>
        <p:grpSpPr>
          <a:xfrm>
            <a:off x="3041845" y="2408454"/>
            <a:ext cx="1379400" cy="441300"/>
            <a:chOff x="2288643" y="3791740"/>
            <a:chExt cx="1379400" cy="441300"/>
          </a:xfrm>
        </p:grpSpPr>
        <p:grpSp>
          <p:nvGrpSpPr>
            <p:cNvPr id="1652" name="Google Shape;1652;p25"/>
            <p:cNvGrpSpPr/>
            <p:nvPr/>
          </p:nvGrpSpPr>
          <p:grpSpPr>
            <a:xfrm>
              <a:off x="2366608" y="3951165"/>
              <a:ext cx="721768" cy="252684"/>
              <a:chOff x="1477442" y="1270191"/>
              <a:chExt cx="427006" cy="181800"/>
            </a:xfrm>
          </p:grpSpPr>
          <p:sp>
            <p:nvSpPr>
              <p:cNvPr id="1653" name="Google Shape;1653;p25"/>
              <p:cNvSpPr/>
              <p:nvPr/>
            </p:nvSpPr>
            <p:spPr>
              <a:xfrm>
                <a:off x="1477442" y="1270233"/>
                <a:ext cx="421893" cy="181722"/>
              </a:xfrm>
              <a:prstGeom prst="flowChartMagneticDrum">
                <a:avLst/>
              </a:prstGeom>
              <a:solidFill>
                <a:srgbClr val="AAD3E0"/>
              </a:solidFill>
              <a:ln cap="flat" cmpd="sng" w="132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194825" lIns="194825" spcFirstLastPara="1" rIns="194825" wrap="square" tIns="1948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918"/>
              </a:p>
            </p:txBody>
          </p:sp>
          <p:sp>
            <p:nvSpPr>
              <p:cNvPr id="1654" name="Google Shape;1654;p25"/>
              <p:cNvSpPr/>
              <p:nvPr/>
            </p:nvSpPr>
            <p:spPr>
              <a:xfrm>
                <a:off x="1750848" y="1270191"/>
                <a:ext cx="153600" cy="181800"/>
              </a:xfrm>
              <a:prstGeom prst="ellipse">
                <a:avLst/>
              </a:prstGeom>
              <a:solidFill>
                <a:schemeClr val="lt1"/>
              </a:solidFill>
              <a:ln cap="flat" cmpd="sng" w="132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194825" lIns="194825" spcFirstLastPara="1" rIns="194825" wrap="square" tIns="1948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918"/>
              </a:p>
            </p:txBody>
          </p:sp>
        </p:grpSp>
        <p:sp>
          <p:nvSpPr>
            <p:cNvPr id="1655" name="Google Shape;1655;p25"/>
            <p:cNvSpPr txBox="1"/>
            <p:nvPr/>
          </p:nvSpPr>
          <p:spPr>
            <a:xfrm>
              <a:off x="2288643" y="3791740"/>
              <a:ext cx="1379400" cy="44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4825" lIns="194825" spcFirstLastPara="1" rIns="194825" wrap="square" tIns="19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50">
                  <a:solidFill>
                    <a:schemeClr val="lt1"/>
                  </a:solidFill>
                </a:rPr>
                <a:t>On</a:t>
              </a:r>
              <a:endParaRPr sz="1250">
                <a:solidFill>
                  <a:schemeClr val="lt1"/>
                </a:solidFill>
              </a:endParaRPr>
            </a:p>
          </p:txBody>
        </p:sp>
      </p:grpSp>
      <p:sp>
        <p:nvSpPr>
          <p:cNvPr id="1656" name="Google Shape;1656;p25"/>
          <p:cNvSpPr txBox="1"/>
          <p:nvPr/>
        </p:nvSpPr>
        <p:spPr>
          <a:xfrm>
            <a:off x="414200" y="2864475"/>
            <a:ext cx="3090900" cy="11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❏"/>
            </a:pPr>
            <a:r>
              <a:rPr lang="en" sz="1300">
                <a:solidFill>
                  <a:srgbClr val="666666"/>
                </a:solidFill>
              </a:rPr>
              <a:t>High domestic import reliance</a:t>
            </a:r>
            <a:endParaRPr sz="1300">
              <a:solidFill>
                <a:srgbClr val="666666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❏"/>
            </a:pPr>
            <a:r>
              <a:rPr lang="en" sz="1300">
                <a:solidFill>
                  <a:srgbClr val="666666"/>
                </a:solidFill>
              </a:rPr>
              <a:t>Regional resource scarcity</a:t>
            </a:r>
            <a:endParaRPr sz="1300">
              <a:solidFill>
                <a:srgbClr val="666666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❏"/>
            </a:pPr>
            <a:r>
              <a:rPr lang="en" sz="1300">
                <a:solidFill>
                  <a:srgbClr val="666666"/>
                </a:solidFill>
              </a:rPr>
              <a:t>Reduced circularity opportunities</a:t>
            </a:r>
            <a:endParaRPr sz="1300">
              <a:solidFill>
                <a:srgbClr val="666666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❏"/>
            </a:pPr>
            <a:r>
              <a:rPr lang="en" sz="1300">
                <a:solidFill>
                  <a:srgbClr val="666666"/>
                </a:solidFill>
              </a:rPr>
              <a:t>…</a:t>
            </a:r>
            <a:endParaRPr sz="1300">
              <a:solidFill>
                <a:srgbClr val="666666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300"/>
              <a:buChar char="❏"/>
            </a:pPr>
            <a:r>
              <a:rPr lang="en" sz="1300">
                <a:solidFill>
                  <a:srgbClr val="666666"/>
                </a:solidFill>
              </a:rPr>
              <a:t>Increased dependence on coal</a:t>
            </a:r>
            <a:endParaRPr sz="1300">
              <a:solidFill>
                <a:srgbClr val="666666"/>
              </a:solidFill>
            </a:endParaRPr>
          </a:p>
        </p:txBody>
      </p:sp>
      <p:sp>
        <p:nvSpPr>
          <p:cNvPr id="1657" name="Google Shape;1657;p25"/>
          <p:cNvSpPr/>
          <p:nvPr/>
        </p:nvSpPr>
        <p:spPr>
          <a:xfrm>
            <a:off x="469388" y="4050532"/>
            <a:ext cx="3297600" cy="310200"/>
          </a:xfrm>
          <a:prstGeom prst="roundRect">
            <a:avLst>
              <a:gd fmla="val 16667" name="adj"/>
            </a:avLst>
          </a:prstGeom>
          <a:solidFill>
            <a:srgbClr val="AAD3E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>
              <a:solidFill>
                <a:srgbClr val="666666"/>
              </a:solidFill>
            </a:endParaRPr>
          </a:p>
        </p:txBody>
      </p:sp>
      <p:sp>
        <p:nvSpPr>
          <p:cNvPr id="1658" name="Google Shape;1658;p25"/>
          <p:cNvSpPr txBox="1"/>
          <p:nvPr/>
        </p:nvSpPr>
        <p:spPr>
          <a:xfrm>
            <a:off x="365139" y="3813998"/>
            <a:ext cx="3506100" cy="6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666666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>
                <a:solidFill>
                  <a:srgbClr val="666666"/>
                </a:solidFill>
              </a:rPr>
              <a:t>Estimate impact of scenario</a:t>
            </a:r>
            <a:endParaRPr sz="1300">
              <a:solidFill>
                <a:srgbClr val="666666"/>
              </a:solidFill>
            </a:endParaRPr>
          </a:p>
        </p:txBody>
      </p:sp>
      <p:sp>
        <p:nvSpPr>
          <p:cNvPr id="1659" name="Google Shape;1659;p25"/>
          <p:cNvSpPr/>
          <p:nvPr/>
        </p:nvSpPr>
        <p:spPr>
          <a:xfrm>
            <a:off x="634583" y="2934260"/>
            <a:ext cx="167099" cy="134204"/>
          </a:xfrm>
          <a:custGeom>
            <a:rect b="b" l="l" r="r" t="t"/>
            <a:pathLst>
              <a:path extrusionOk="0" h="4557" w="7125">
                <a:moveTo>
                  <a:pt x="0" y="4027"/>
                </a:moveTo>
                <a:cubicBezTo>
                  <a:pt x="1930" y="5955"/>
                  <a:pt x="5196" y="1929"/>
                  <a:pt x="7125" y="0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sp>
      <p:sp>
        <p:nvSpPr>
          <p:cNvPr id="1660" name="Google Shape;1660;p25"/>
          <p:cNvSpPr txBox="1"/>
          <p:nvPr>
            <p:ph type="ctrTitle"/>
          </p:nvPr>
        </p:nvSpPr>
        <p:spPr>
          <a:xfrm rot="-5400000">
            <a:off x="-5323225" y="3670161"/>
            <a:ext cx="9671700" cy="916200"/>
          </a:xfrm>
          <a:prstGeom prst="rect">
            <a:avLst/>
          </a:prstGeom>
        </p:spPr>
        <p:txBody>
          <a:bodyPr anchorCtr="0" anchor="b" bIns="140175" lIns="140175" spcFirstLastPara="1" rIns="140175" wrap="square" tIns="14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300"/>
              <a:t>MATERIAL </a:t>
            </a:r>
            <a:r>
              <a:rPr lang="en" sz="3300"/>
              <a:t>AVAILABILITY</a:t>
            </a:r>
            <a:r>
              <a:rPr lang="en" sz="3300"/>
              <a:t> SCENARIOS</a:t>
            </a:r>
            <a:endParaRPr sz="3300"/>
          </a:p>
        </p:txBody>
      </p:sp>
      <p:sp>
        <p:nvSpPr>
          <p:cNvPr id="1661" name="Google Shape;1661;p25"/>
          <p:cNvSpPr txBox="1"/>
          <p:nvPr>
            <p:ph idx="1" type="subTitle"/>
          </p:nvPr>
        </p:nvSpPr>
        <p:spPr>
          <a:xfrm>
            <a:off x="761825" y="211975"/>
            <a:ext cx="12825300" cy="510300"/>
          </a:xfrm>
          <a:prstGeom prst="rect">
            <a:avLst/>
          </a:prstGeom>
          <a:ln>
            <a:noFill/>
          </a:ln>
        </p:spPr>
        <p:txBody>
          <a:bodyPr anchorCtr="0" anchor="t" bIns="140175" lIns="140175" spcFirstLastPara="1" rIns="140175" wrap="square" tIns="140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Merriweather"/>
                <a:ea typeface="Merriweather"/>
                <a:cs typeface="Merriweather"/>
                <a:sym typeface="Merriweather"/>
              </a:rPr>
              <a:t>Building Supply chain Material Analysis and Risk Trade-off Tool (BuildSMART v1)</a:t>
            </a:r>
            <a:r>
              <a:rPr b="1" lang="en" sz="1700"/>
              <a:t>           </a:t>
            </a:r>
            <a:r>
              <a:rPr b="1" lang="en" sz="1700">
                <a:solidFill>
                  <a:srgbClr val="999999"/>
                </a:solidFill>
              </a:rPr>
              <a:t>Main Page         About          Contact</a:t>
            </a:r>
            <a:endParaRPr b="1" sz="1700">
              <a:solidFill>
                <a:srgbClr val="999999"/>
              </a:solidFill>
            </a:endParaRPr>
          </a:p>
        </p:txBody>
      </p:sp>
      <p:sp>
        <p:nvSpPr>
          <p:cNvPr id="1662" name="Google Shape;1662;p25"/>
          <p:cNvSpPr/>
          <p:nvPr/>
        </p:nvSpPr>
        <p:spPr>
          <a:xfrm>
            <a:off x="-3678" y="-1570"/>
            <a:ext cx="13725900" cy="811200"/>
          </a:xfrm>
          <a:prstGeom prst="rect">
            <a:avLst/>
          </a:prstGeom>
          <a:solidFill>
            <a:srgbClr val="EDF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63" name="Google Shape;166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1400" y="140109"/>
            <a:ext cx="672433" cy="510249"/>
          </a:xfrm>
          <a:prstGeom prst="rect">
            <a:avLst/>
          </a:prstGeom>
          <a:noFill/>
          <a:ln>
            <a:noFill/>
          </a:ln>
        </p:spPr>
      </p:pic>
      <p:sp>
        <p:nvSpPr>
          <p:cNvPr id="1664" name="Google Shape;1664;p25"/>
          <p:cNvSpPr txBox="1"/>
          <p:nvPr>
            <p:ph idx="1" type="subTitle"/>
          </p:nvPr>
        </p:nvSpPr>
        <p:spPr>
          <a:xfrm>
            <a:off x="761825" y="140088"/>
            <a:ext cx="12825300" cy="510300"/>
          </a:xfrm>
          <a:prstGeom prst="rect">
            <a:avLst/>
          </a:prstGeom>
          <a:ln>
            <a:noFill/>
          </a:ln>
        </p:spPr>
        <p:txBody>
          <a:bodyPr anchorCtr="0" anchor="t" bIns="140175" lIns="140175" spcFirstLastPara="1" rIns="140175" wrap="square" tIns="140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Merriweather"/>
                <a:ea typeface="Merriweather"/>
                <a:cs typeface="Merriweather"/>
                <a:sym typeface="Merriweather"/>
              </a:rPr>
              <a:t>Building Supply chain Material Analysis and Risk Trade-off Tool (BuildSMART v1)</a:t>
            </a:r>
            <a:r>
              <a:rPr b="1" lang="en" sz="1700"/>
              <a:t>           </a:t>
            </a:r>
            <a:r>
              <a:rPr b="1" lang="en" sz="1700">
                <a:solidFill>
                  <a:srgbClr val="999999"/>
                </a:solidFill>
              </a:rPr>
              <a:t>Main Page         </a:t>
            </a:r>
            <a:r>
              <a:rPr b="1" lang="en" sz="1700">
                <a:solidFill>
                  <a:srgbClr val="999999"/>
                </a:solidFill>
              </a:rPr>
              <a:t>About</a:t>
            </a:r>
            <a:r>
              <a:rPr b="1" lang="en" sz="1700">
                <a:solidFill>
                  <a:srgbClr val="999999"/>
                </a:solidFill>
              </a:rPr>
              <a:t>          Contact</a:t>
            </a:r>
            <a:endParaRPr b="1" sz="1700">
              <a:solidFill>
                <a:srgbClr val="999999"/>
              </a:solidFill>
            </a:endParaRPr>
          </a:p>
        </p:txBody>
      </p:sp>
      <p:grpSp>
        <p:nvGrpSpPr>
          <p:cNvPr id="1665" name="Google Shape;1665;p25"/>
          <p:cNvGrpSpPr/>
          <p:nvPr/>
        </p:nvGrpSpPr>
        <p:grpSpPr>
          <a:xfrm>
            <a:off x="4340597" y="7083175"/>
            <a:ext cx="4557232" cy="618331"/>
            <a:chOff x="4268193" y="552116"/>
            <a:chExt cx="6213843" cy="697025"/>
          </a:xfrm>
        </p:grpSpPr>
        <p:sp>
          <p:nvSpPr>
            <p:cNvPr id="1666" name="Google Shape;1666;p25"/>
            <p:cNvSpPr/>
            <p:nvPr/>
          </p:nvSpPr>
          <p:spPr>
            <a:xfrm>
              <a:off x="6760562" y="609015"/>
              <a:ext cx="3546300" cy="255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8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1100" lIns="81100" spcFirstLastPara="1" rIns="81100" wrap="square" tIns="811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41"/>
            </a:p>
          </p:txBody>
        </p:sp>
        <p:sp>
          <p:nvSpPr>
            <p:cNvPr id="1667" name="Google Shape;1667;p25"/>
            <p:cNvSpPr txBox="1"/>
            <p:nvPr/>
          </p:nvSpPr>
          <p:spPr>
            <a:xfrm>
              <a:off x="4268193" y="552116"/>
              <a:ext cx="28551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100" lIns="81100" spcFirstLastPara="1" rIns="81100" wrap="square" tIns="8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86">
                  <a:solidFill>
                    <a:srgbClr val="B7B7B7"/>
                  </a:solidFill>
                </a:rPr>
                <a:t>CONSTRUCTION YEAR</a:t>
              </a:r>
              <a:endParaRPr b="1" sz="1186">
                <a:solidFill>
                  <a:srgbClr val="B7B7B7"/>
                </a:solidFill>
              </a:endParaRPr>
            </a:p>
          </p:txBody>
        </p:sp>
        <p:sp>
          <p:nvSpPr>
            <p:cNvPr id="1668" name="Google Shape;1668;p25"/>
            <p:cNvSpPr txBox="1"/>
            <p:nvPr/>
          </p:nvSpPr>
          <p:spPr>
            <a:xfrm>
              <a:off x="6732035" y="810841"/>
              <a:ext cx="37500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100" lIns="81100" spcFirstLastPara="1" rIns="81100" wrap="square" tIns="8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20">
                  <a:solidFill>
                    <a:schemeClr val="dk2"/>
                  </a:solidFill>
                </a:rPr>
                <a:t>2020	2030	2040	2050	2060	2070</a:t>
              </a:r>
              <a:endParaRPr sz="620">
                <a:solidFill>
                  <a:schemeClr val="dk2"/>
                </a:solidFill>
              </a:endParaRPr>
            </a:p>
          </p:txBody>
        </p:sp>
        <p:sp>
          <p:nvSpPr>
            <p:cNvPr id="1669" name="Google Shape;1669;p25"/>
            <p:cNvSpPr/>
            <p:nvPr/>
          </p:nvSpPr>
          <p:spPr>
            <a:xfrm>
              <a:off x="6766013" y="605859"/>
              <a:ext cx="283200" cy="255900"/>
            </a:xfrm>
            <a:prstGeom prst="roundRect">
              <a:avLst>
                <a:gd fmla="val 16667" name="adj"/>
              </a:avLst>
            </a:prstGeom>
            <a:solidFill>
              <a:srgbClr val="AAD3E0"/>
            </a:solidFill>
            <a:ln cap="flat" cmpd="sng" w="8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1100" lIns="81100" spcFirstLastPara="1" rIns="81100" wrap="square" tIns="811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41"/>
            </a:p>
          </p:txBody>
        </p:sp>
      </p:grpSp>
      <p:grpSp>
        <p:nvGrpSpPr>
          <p:cNvPr id="1670" name="Google Shape;1670;p25"/>
          <p:cNvGrpSpPr/>
          <p:nvPr/>
        </p:nvGrpSpPr>
        <p:grpSpPr>
          <a:xfrm>
            <a:off x="8869612" y="4172248"/>
            <a:ext cx="4405034" cy="2794775"/>
            <a:chOff x="9037729" y="4704523"/>
            <a:chExt cx="4405034" cy="2794775"/>
          </a:xfrm>
        </p:grpSpPr>
        <p:grpSp>
          <p:nvGrpSpPr>
            <p:cNvPr id="1671" name="Google Shape;1671;p25"/>
            <p:cNvGrpSpPr/>
            <p:nvPr/>
          </p:nvGrpSpPr>
          <p:grpSpPr>
            <a:xfrm>
              <a:off x="9037729" y="4704523"/>
              <a:ext cx="4405034" cy="2794775"/>
              <a:chOff x="9079752" y="3946051"/>
              <a:chExt cx="4405034" cy="2794775"/>
            </a:xfrm>
          </p:grpSpPr>
          <p:sp>
            <p:nvSpPr>
              <p:cNvPr id="1672" name="Google Shape;1672;p25"/>
              <p:cNvSpPr txBox="1"/>
              <p:nvPr/>
            </p:nvSpPr>
            <p:spPr>
              <a:xfrm>
                <a:off x="9079752" y="3946051"/>
                <a:ext cx="40734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73200" lIns="73200" spcFirstLastPara="1" rIns="73200" wrap="square" tIns="732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81">
                    <a:solidFill>
                      <a:srgbClr val="666666"/>
                    </a:solidFill>
                  </a:rPr>
                  <a:t>PROJECTED MATERIAL AVAILABILITY</a:t>
                </a:r>
                <a:endParaRPr b="1" sz="360">
                  <a:solidFill>
                    <a:srgbClr val="666666"/>
                  </a:solidFill>
                </a:endParaRPr>
              </a:p>
            </p:txBody>
          </p:sp>
          <p:sp>
            <p:nvSpPr>
              <p:cNvPr id="1673" name="Google Shape;1673;p25"/>
              <p:cNvSpPr/>
              <p:nvPr/>
            </p:nvSpPr>
            <p:spPr>
              <a:xfrm>
                <a:off x="9148885" y="4259825"/>
                <a:ext cx="4335900" cy="2481000"/>
              </a:xfrm>
              <a:prstGeom prst="rect">
                <a:avLst/>
              </a:prstGeom>
              <a:noFill/>
              <a:ln cap="flat" cmpd="sng" w="7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3200" lIns="73200" spcFirstLastPara="1" rIns="73200" wrap="square" tIns="732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120"/>
              </a:p>
            </p:txBody>
          </p:sp>
          <p:pic>
            <p:nvPicPr>
              <p:cNvPr id="1674" name="Google Shape;1674;p25" title="Screenshot 2026-02-19 at 10.15.05 AM.png"/>
              <p:cNvPicPr preferRelativeResize="0"/>
              <p:nvPr/>
            </p:nvPicPr>
            <p:blipFill rotWithShape="1">
              <a:blip r:embed="rId7">
                <a:alphaModFix/>
              </a:blip>
              <a:srcRect b="0" l="0" r="-281" t="0"/>
              <a:stretch/>
            </p:blipFill>
            <p:spPr>
              <a:xfrm>
                <a:off x="9286250" y="4386900"/>
                <a:ext cx="4073401" cy="2226850"/>
              </a:xfrm>
              <a:prstGeom prst="rect">
                <a:avLst/>
              </a:prstGeom>
              <a:noFill/>
              <a:ln cap="flat" cmpd="sng" w="9525">
                <a:solidFill>
                  <a:srgbClr val="999999"/>
                </a:solidFill>
                <a:prstDash val="solid"/>
                <a:round/>
                <a:headEnd len="sm" w="sm" type="none"/>
                <a:tailEnd len="sm" w="sm" type="none"/>
              </a:ln>
            </p:spPr>
          </p:pic>
        </p:grpSp>
        <p:pic>
          <p:nvPicPr>
            <p:cNvPr id="1675" name="Google Shape;1675;p25" title="expand-icon-symbol-design-illustration-vector.jpg"/>
            <p:cNvPicPr preferRelativeResize="0"/>
            <p:nvPr/>
          </p:nvPicPr>
          <p:blipFill rotWithShape="1">
            <a:blip r:embed="rId8">
              <a:alphaModFix/>
            </a:blip>
            <a:srcRect b="11143" l="12219" r="0" t="0"/>
            <a:stretch/>
          </p:blipFill>
          <p:spPr>
            <a:xfrm>
              <a:off x="13211244" y="5054337"/>
              <a:ext cx="224376" cy="227125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76" name="Google Shape;1676;p25"/>
          <p:cNvGrpSpPr/>
          <p:nvPr/>
        </p:nvGrpSpPr>
        <p:grpSpPr>
          <a:xfrm>
            <a:off x="8869623" y="932880"/>
            <a:ext cx="4405039" cy="2799675"/>
            <a:chOff x="8869623" y="932880"/>
            <a:chExt cx="4405039" cy="2799675"/>
          </a:xfrm>
        </p:grpSpPr>
        <p:sp>
          <p:nvSpPr>
            <p:cNvPr id="1677" name="Google Shape;1677;p25"/>
            <p:cNvSpPr/>
            <p:nvPr/>
          </p:nvSpPr>
          <p:spPr>
            <a:xfrm>
              <a:off x="8938762" y="1239935"/>
              <a:ext cx="4335900" cy="2481000"/>
            </a:xfrm>
            <a:prstGeom prst="rect">
              <a:avLst/>
            </a:prstGeom>
            <a:noFill/>
            <a:ln cap="flat" cmpd="sng" w="76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200" lIns="73200" spcFirstLastPara="1" rIns="73200" wrap="square" tIns="732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20"/>
            </a:p>
          </p:txBody>
        </p:sp>
        <p:pic>
          <p:nvPicPr>
            <p:cNvPr id="1678" name="Google Shape;1678;p25" title="Chart"/>
            <p:cNvPicPr preferRelativeResize="0"/>
            <p:nvPr/>
          </p:nvPicPr>
          <p:blipFill rotWithShape="1">
            <a:blip r:embed="rId9">
              <a:alphaModFix/>
            </a:blip>
            <a:srcRect b="0" l="0" r="0" t="11174"/>
            <a:stretch/>
          </p:blipFill>
          <p:spPr>
            <a:xfrm>
              <a:off x="9117399" y="1378293"/>
              <a:ext cx="3909465" cy="214728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79" name="Google Shape;1679;p25"/>
            <p:cNvSpPr txBox="1"/>
            <p:nvPr/>
          </p:nvSpPr>
          <p:spPr>
            <a:xfrm>
              <a:off x="10027381" y="3473355"/>
              <a:ext cx="2451300" cy="259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4700" lIns="74700" spcFirstLastPara="1" rIns="74700" wrap="square" tIns="7470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2">
                  <a:solidFill>
                    <a:schemeClr val="dk1"/>
                  </a:solidFill>
                </a:rPr>
                <a:t>Material Cost (USD)</a:t>
              </a:r>
              <a:endParaRPr sz="702">
                <a:solidFill>
                  <a:schemeClr val="dk1"/>
                </a:solidFill>
              </a:endParaRPr>
            </a:p>
          </p:txBody>
        </p:sp>
        <p:sp>
          <p:nvSpPr>
            <p:cNvPr id="1680" name="Google Shape;1680;p25"/>
            <p:cNvSpPr txBox="1"/>
            <p:nvPr/>
          </p:nvSpPr>
          <p:spPr>
            <a:xfrm>
              <a:off x="8869623" y="932880"/>
              <a:ext cx="3537000" cy="37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3200" lIns="73200" spcFirstLastPara="1" rIns="73200" wrap="square" tIns="732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81">
                  <a:solidFill>
                    <a:srgbClr val="666666"/>
                  </a:solidFill>
                </a:rPr>
                <a:t>BASELINE MATERIAL COST</a:t>
              </a:r>
              <a:endParaRPr b="1" sz="360">
                <a:solidFill>
                  <a:srgbClr val="666666"/>
                </a:solidFill>
              </a:endParaRPr>
            </a:p>
          </p:txBody>
        </p:sp>
        <p:pic>
          <p:nvPicPr>
            <p:cNvPr id="1681" name="Google Shape;1681;p25" title="download.png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12975775" y="1284577"/>
              <a:ext cx="259800" cy="2598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682" name="Google Shape;1682;p25"/>
          <p:cNvGrpSpPr/>
          <p:nvPr/>
        </p:nvGrpSpPr>
        <p:grpSpPr>
          <a:xfrm>
            <a:off x="4349911" y="934411"/>
            <a:ext cx="4421103" cy="2819555"/>
            <a:chOff x="4043712" y="1229950"/>
            <a:chExt cx="5522238" cy="3521803"/>
          </a:xfrm>
        </p:grpSpPr>
        <p:sp>
          <p:nvSpPr>
            <p:cNvPr id="1683" name="Google Shape;1683;p25"/>
            <p:cNvSpPr/>
            <p:nvPr/>
          </p:nvSpPr>
          <p:spPr>
            <a:xfrm>
              <a:off x="4150050" y="1612488"/>
              <a:ext cx="5415900" cy="3099000"/>
            </a:xfrm>
            <a:prstGeom prst="rect">
              <a:avLst/>
            </a:prstGeom>
            <a:noFill/>
            <a:ln cap="flat" cmpd="sng" w="76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73200" lIns="73200" spcFirstLastPara="1" rIns="73200" wrap="square" tIns="732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20"/>
            </a:p>
          </p:txBody>
        </p:sp>
        <p:sp>
          <p:nvSpPr>
            <p:cNvPr id="1684" name="Google Shape;1684;p25"/>
            <p:cNvSpPr txBox="1"/>
            <p:nvPr/>
          </p:nvSpPr>
          <p:spPr>
            <a:xfrm>
              <a:off x="4043712" y="1229950"/>
              <a:ext cx="4417800" cy="469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73200" lIns="73200" spcFirstLastPara="1" rIns="73200" wrap="square" tIns="7320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81">
                  <a:solidFill>
                    <a:srgbClr val="666666"/>
                  </a:solidFill>
                </a:rPr>
                <a:t>BASELINE MATERIAL DEMAND</a:t>
              </a:r>
              <a:endParaRPr b="1" sz="360">
                <a:solidFill>
                  <a:srgbClr val="666666"/>
                </a:solidFill>
              </a:endParaRPr>
            </a:p>
          </p:txBody>
        </p:sp>
        <p:grpSp>
          <p:nvGrpSpPr>
            <p:cNvPr id="1685" name="Google Shape;1685;p25"/>
            <p:cNvGrpSpPr/>
            <p:nvPr/>
          </p:nvGrpSpPr>
          <p:grpSpPr>
            <a:xfrm>
              <a:off x="4056895" y="4214633"/>
              <a:ext cx="1923164" cy="537120"/>
              <a:chOff x="4257757" y="4214633"/>
              <a:chExt cx="1923164" cy="537120"/>
            </a:xfrm>
          </p:grpSpPr>
          <p:sp>
            <p:nvSpPr>
              <p:cNvPr id="1686" name="Google Shape;1686;p25"/>
              <p:cNvSpPr txBox="1"/>
              <p:nvPr/>
            </p:nvSpPr>
            <p:spPr>
              <a:xfrm>
                <a:off x="4257757" y="4241453"/>
                <a:ext cx="1269300" cy="510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156000" lIns="156000" spcFirstLastPara="1" rIns="156000" wrap="square" tIns="1560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61">
                    <a:solidFill>
                      <a:srgbClr val="999999"/>
                    </a:solidFill>
                  </a:rPr>
                  <a:t>Sankey diagram</a:t>
                </a:r>
                <a:endParaRPr sz="761">
                  <a:solidFill>
                    <a:srgbClr val="999999"/>
                  </a:solidFill>
                </a:endParaRPr>
              </a:p>
            </p:txBody>
          </p:sp>
          <p:grpSp>
            <p:nvGrpSpPr>
              <p:cNvPr id="1687" name="Google Shape;1687;p25"/>
              <p:cNvGrpSpPr/>
              <p:nvPr/>
            </p:nvGrpSpPr>
            <p:grpSpPr>
              <a:xfrm>
                <a:off x="5387374" y="4214633"/>
                <a:ext cx="793547" cy="433200"/>
                <a:chOff x="5387374" y="4214633"/>
                <a:chExt cx="793547" cy="433200"/>
              </a:xfrm>
            </p:grpSpPr>
            <p:grpSp>
              <p:nvGrpSpPr>
                <p:cNvPr id="1688" name="Google Shape;1688;p25"/>
                <p:cNvGrpSpPr/>
                <p:nvPr/>
              </p:nvGrpSpPr>
              <p:grpSpPr>
                <a:xfrm>
                  <a:off x="5387374" y="4365780"/>
                  <a:ext cx="761210" cy="261650"/>
                  <a:chOff x="5509499" y="4365730"/>
                  <a:chExt cx="761210" cy="261650"/>
                </a:xfrm>
              </p:grpSpPr>
              <p:sp>
                <p:nvSpPr>
                  <p:cNvPr id="1689" name="Google Shape;1689;p25"/>
                  <p:cNvSpPr/>
                  <p:nvPr/>
                </p:nvSpPr>
                <p:spPr>
                  <a:xfrm rot="-10800000">
                    <a:off x="5513034" y="4365730"/>
                    <a:ext cx="757675" cy="261650"/>
                  </a:xfrm>
                  <a:prstGeom prst="flowChartMagneticDrum">
                    <a:avLst/>
                  </a:prstGeom>
                  <a:solidFill>
                    <a:srgbClr val="CCCCCC"/>
                  </a:solidFill>
                  <a:ln cap="flat" cmpd="sng" w="10600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156000" lIns="156000" spcFirstLastPara="1" rIns="156000" wrap="square" tIns="156000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336"/>
                  </a:p>
                </p:txBody>
              </p:sp>
              <p:sp>
                <p:nvSpPr>
                  <p:cNvPr id="1690" name="Google Shape;1690;p25"/>
                  <p:cNvSpPr/>
                  <p:nvPr/>
                </p:nvSpPr>
                <p:spPr>
                  <a:xfrm>
                    <a:off x="5509499" y="4370260"/>
                    <a:ext cx="259500" cy="252600"/>
                  </a:xfrm>
                  <a:prstGeom prst="ellipse">
                    <a:avLst/>
                  </a:prstGeom>
                  <a:solidFill>
                    <a:schemeClr val="lt1"/>
                  </a:solidFill>
                  <a:ln cap="flat" cmpd="sng" w="10600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t" bIns="156000" lIns="156000" spcFirstLastPara="1" rIns="156000" wrap="square" tIns="156000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2336"/>
                  </a:p>
                </p:txBody>
              </p:sp>
            </p:grpSp>
            <p:sp>
              <p:nvSpPr>
                <p:cNvPr id="1691" name="Google Shape;1691;p25"/>
                <p:cNvSpPr txBox="1"/>
                <p:nvPr/>
              </p:nvSpPr>
              <p:spPr>
                <a:xfrm>
                  <a:off x="5508621" y="4214633"/>
                  <a:ext cx="672300" cy="4332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56000" lIns="156000" spcFirstLastPara="1" rIns="156000" wrap="square" tIns="1560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001">
                      <a:solidFill>
                        <a:schemeClr val="lt1"/>
                      </a:solidFill>
                    </a:rPr>
                    <a:t>Off</a:t>
                  </a:r>
                  <a:endParaRPr sz="1001">
                    <a:solidFill>
                      <a:schemeClr val="lt1"/>
                    </a:solidFill>
                  </a:endParaRPr>
                </a:p>
              </p:txBody>
            </p:sp>
          </p:grpSp>
        </p:grpSp>
      </p:grpSp>
      <p:grpSp>
        <p:nvGrpSpPr>
          <p:cNvPr id="1692" name="Google Shape;1692;p25"/>
          <p:cNvGrpSpPr/>
          <p:nvPr/>
        </p:nvGrpSpPr>
        <p:grpSpPr>
          <a:xfrm>
            <a:off x="4349911" y="4181419"/>
            <a:ext cx="4421103" cy="2819555"/>
            <a:chOff x="4349911" y="4181419"/>
            <a:chExt cx="4421103" cy="2819555"/>
          </a:xfrm>
        </p:grpSpPr>
        <p:grpSp>
          <p:nvGrpSpPr>
            <p:cNvPr id="1693" name="Google Shape;1693;p25"/>
            <p:cNvGrpSpPr/>
            <p:nvPr/>
          </p:nvGrpSpPr>
          <p:grpSpPr>
            <a:xfrm>
              <a:off x="4349911" y="4181419"/>
              <a:ext cx="4421103" cy="2819555"/>
              <a:chOff x="4043712" y="1229950"/>
              <a:chExt cx="5522238" cy="3521803"/>
            </a:xfrm>
          </p:grpSpPr>
          <p:sp>
            <p:nvSpPr>
              <p:cNvPr id="1694" name="Google Shape;1694;p25"/>
              <p:cNvSpPr/>
              <p:nvPr/>
            </p:nvSpPr>
            <p:spPr>
              <a:xfrm>
                <a:off x="4150050" y="1612488"/>
                <a:ext cx="5415900" cy="3099000"/>
              </a:xfrm>
              <a:prstGeom prst="rect">
                <a:avLst/>
              </a:prstGeom>
              <a:noFill/>
              <a:ln cap="flat" cmpd="sng" w="7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3200" lIns="73200" spcFirstLastPara="1" rIns="73200" wrap="square" tIns="732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120"/>
              </a:p>
            </p:txBody>
          </p:sp>
          <p:sp>
            <p:nvSpPr>
              <p:cNvPr id="1695" name="Google Shape;1695;p25"/>
              <p:cNvSpPr txBox="1"/>
              <p:nvPr/>
            </p:nvSpPr>
            <p:spPr>
              <a:xfrm>
                <a:off x="4043712" y="1229950"/>
                <a:ext cx="4417800" cy="469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73200" lIns="73200" spcFirstLastPara="1" rIns="73200" wrap="square" tIns="732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81">
                    <a:solidFill>
                      <a:srgbClr val="666666"/>
                    </a:solidFill>
                  </a:rPr>
                  <a:t>PROJECTED MATERIAL DEMAND</a:t>
                </a:r>
                <a:endParaRPr b="1" sz="360">
                  <a:solidFill>
                    <a:srgbClr val="666666"/>
                  </a:solidFill>
                </a:endParaRPr>
              </a:p>
            </p:txBody>
          </p:sp>
          <p:grpSp>
            <p:nvGrpSpPr>
              <p:cNvPr id="1696" name="Google Shape;1696;p25"/>
              <p:cNvGrpSpPr/>
              <p:nvPr/>
            </p:nvGrpSpPr>
            <p:grpSpPr>
              <a:xfrm>
                <a:off x="4056895" y="4208337"/>
                <a:ext cx="1928164" cy="543415"/>
                <a:chOff x="4257757" y="4208337"/>
                <a:chExt cx="1928164" cy="543415"/>
              </a:xfrm>
            </p:grpSpPr>
            <p:sp>
              <p:nvSpPr>
                <p:cNvPr id="1697" name="Google Shape;1697;p25"/>
                <p:cNvSpPr txBox="1"/>
                <p:nvPr/>
              </p:nvSpPr>
              <p:spPr>
                <a:xfrm>
                  <a:off x="4257757" y="4241453"/>
                  <a:ext cx="1269300" cy="510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56000" lIns="156000" spcFirstLastPara="1" rIns="156000" wrap="square" tIns="1560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761">
                      <a:solidFill>
                        <a:srgbClr val="999999"/>
                      </a:solidFill>
                    </a:rPr>
                    <a:t>Sankey diagram</a:t>
                  </a:r>
                  <a:endParaRPr sz="761">
                    <a:solidFill>
                      <a:srgbClr val="999999"/>
                    </a:solidFill>
                  </a:endParaRPr>
                </a:p>
              </p:txBody>
            </p:sp>
            <p:grpSp>
              <p:nvGrpSpPr>
                <p:cNvPr id="1698" name="Google Shape;1698;p25"/>
                <p:cNvGrpSpPr/>
                <p:nvPr/>
              </p:nvGrpSpPr>
              <p:grpSpPr>
                <a:xfrm>
                  <a:off x="5383729" y="4208337"/>
                  <a:ext cx="802192" cy="433200"/>
                  <a:chOff x="5383729" y="4208337"/>
                  <a:chExt cx="802192" cy="433200"/>
                </a:xfrm>
              </p:grpSpPr>
              <p:grpSp>
                <p:nvGrpSpPr>
                  <p:cNvPr id="1699" name="Google Shape;1699;p25"/>
                  <p:cNvGrpSpPr/>
                  <p:nvPr/>
                </p:nvGrpSpPr>
                <p:grpSpPr>
                  <a:xfrm>
                    <a:off x="5383729" y="4365780"/>
                    <a:ext cx="764855" cy="261650"/>
                    <a:chOff x="5505854" y="4365730"/>
                    <a:chExt cx="764855" cy="261650"/>
                  </a:xfrm>
                </p:grpSpPr>
                <p:sp>
                  <p:nvSpPr>
                    <p:cNvPr id="1700" name="Google Shape;1700;p25"/>
                    <p:cNvSpPr/>
                    <p:nvPr/>
                  </p:nvSpPr>
                  <p:spPr>
                    <a:xfrm rot="-10800000">
                      <a:off x="5513034" y="4365730"/>
                      <a:ext cx="757675" cy="261650"/>
                    </a:xfrm>
                    <a:prstGeom prst="flowChartMagneticDrum">
                      <a:avLst/>
                    </a:prstGeom>
                    <a:solidFill>
                      <a:srgbClr val="CCCCCC"/>
                    </a:solidFill>
                    <a:ln cap="flat" cmpd="sng" w="106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156000" lIns="156000" spcFirstLastPara="1" rIns="156000" wrap="square" tIns="156000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36"/>
                    </a:p>
                  </p:txBody>
                </p:sp>
                <p:sp>
                  <p:nvSpPr>
                    <p:cNvPr id="1701" name="Google Shape;1701;p25"/>
                    <p:cNvSpPr/>
                    <p:nvPr/>
                  </p:nvSpPr>
                  <p:spPr>
                    <a:xfrm>
                      <a:off x="5505854" y="4370260"/>
                      <a:ext cx="259500" cy="252600"/>
                    </a:xfrm>
                    <a:prstGeom prst="ellipse">
                      <a:avLst/>
                    </a:prstGeom>
                    <a:solidFill>
                      <a:schemeClr val="lt1"/>
                    </a:solidFill>
                    <a:ln cap="flat" cmpd="sng" w="106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156000" lIns="156000" spcFirstLastPara="1" rIns="156000" wrap="square" tIns="156000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36"/>
                    </a:p>
                  </p:txBody>
                </p:sp>
              </p:grpSp>
              <p:sp>
                <p:nvSpPr>
                  <p:cNvPr id="1702" name="Google Shape;1702;p25"/>
                  <p:cNvSpPr txBox="1"/>
                  <p:nvPr/>
                </p:nvSpPr>
                <p:spPr>
                  <a:xfrm>
                    <a:off x="5513621" y="4208337"/>
                    <a:ext cx="672300" cy="433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156000" lIns="156000" spcFirstLastPara="1" rIns="156000" wrap="square" tIns="1560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1001">
                        <a:solidFill>
                          <a:schemeClr val="lt1"/>
                        </a:solidFill>
                      </a:rPr>
                      <a:t>Off</a:t>
                    </a:r>
                    <a:endParaRPr sz="1001">
                      <a:solidFill>
                        <a:schemeClr val="lt1"/>
                      </a:solidFill>
                    </a:endParaRPr>
                  </a:p>
                </p:txBody>
              </p:sp>
            </p:grpSp>
          </p:grpSp>
        </p:grpSp>
        <p:pic>
          <p:nvPicPr>
            <p:cNvPr id="1703" name="Google Shape;1703;p25" title="download.png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8474425" y="4518577"/>
              <a:ext cx="259800" cy="2598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704" name="Google Shape;1704;p25" title="Chart"/>
          <p:cNvPicPr preferRelativeResize="0"/>
          <p:nvPr/>
        </p:nvPicPr>
        <p:blipFill rotWithShape="1">
          <a:blip r:embed="rId11">
            <a:alphaModFix/>
          </a:blip>
          <a:srcRect b="0" l="0" r="0" t="11143"/>
          <a:stretch/>
        </p:blipFill>
        <p:spPr>
          <a:xfrm>
            <a:off x="4681700" y="4636443"/>
            <a:ext cx="3723375" cy="20450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5" name="Google Shape;1705;p25"/>
          <p:cNvGrpSpPr/>
          <p:nvPr/>
        </p:nvGrpSpPr>
        <p:grpSpPr>
          <a:xfrm rot="171955">
            <a:off x="5506563" y="5541125"/>
            <a:ext cx="1045009" cy="973772"/>
            <a:chOff x="5975714" y="3175491"/>
            <a:chExt cx="1283766" cy="1305083"/>
          </a:xfrm>
        </p:grpSpPr>
        <p:grpSp>
          <p:nvGrpSpPr>
            <p:cNvPr id="1706" name="Google Shape;1706;p25"/>
            <p:cNvGrpSpPr/>
            <p:nvPr/>
          </p:nvGrpSpPr>
          <p:grpSpPr>
            <a:xfrm rot="-2553858">
              <a:off x="6248205" y="3281300"/>
              <a:ext cx="738783" cy="1093465"/>
              <a:chOff x="6050354" y="2672058"/>
              <a:chExt cx="738802" cy="1093493"/>
            </a:xfrm>
          </p:grpSpPr>
          <p:cxnSp>
            <p:nvCxnSpPr>
              <p:cNvPr id="1707" name="Google Shape;1707;p25"/>
              <p:cNvCxnSpPr/>
              <p:nvPr/>
            </p:nvCxnSpPr>
            <p:spPr>
              <a:xfrm flipH="1" rot="-3778148">
                <a:off x="6491854" y="2506298"/>
                <a:ext cx="16503" cy="617403"/>
              </a:xfrm>
              <a:prstGeom prst="straightConnector1">
                <a:avLst/>
              </a:prstGeom>
              <a:noFill/>
              <a:ln cap="flat" cmpd="sng" w="24325">
                <a:solidFill>
                  <a:srgbClr val="FFFF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08" name="Google Shape;1708;p25"/>
              <p:cNvCxnSpPr/>
              <p:nvPr/>
            </p:nvCxnSpPr>
            <p:spPr>
              <a:xfrm flipH="1" rot="-8435787">
                <a:off x="6199348" y="3209226"/>
                <a:ext cx="328461" cy="511752"/>
              </a:xfrm>
              <a:prstGeom prst="straightConnector1">
                <a:avLst/>
              </a:prstGeom>
              <a:noFill/>
              <a:ln cap="flat" cmpd="sng" w="24325">
                <a:solidFill>
                  <a:srgbClr val="FFFF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09" name="Google Shape;1709;p25"/>
              <p:cNvSpPr/>
              <p:nvPr/>
            </p:nvSpPr>
            <p:spPr>
              <a:xfrm rot="143755">
                <a:off x="6067977" y="2674485"/>
                <a:ext cx="133228" cy="872672"/>
              </a:xfrm>
              <a:custGeom>
                <a:rect b="b" l="l" r="r" t="t"/>
                <a:pathLst>
                  <a:path extrusionOk="0" h="29905" w="4740">
                    <a:moveTo>
                      <a:pt x="1229" y="29905"/>
                    </a:moveTo>
                    <a:cubicBezTo>
                      <a:pt x="-1533" y="20256"/>
                      <a:pt x="780" y="9222"/>
                      <a:pt x="4741" y="0"/>
                    </a:cubicBezTo>
                  </a:path>
                </a:pathLst>
              </a:custGeom>
              <a:noFill/>
              <a:ln cap="flat" cmpd="sng" w="24325">
                <a:solidFill>
                  <a:srgbClr val="FFFF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710" name="Google Shape;1710;p25"/>
              <p:cNvSpPr/>
              <p:nvPr/>
            </p:nvSpPr>
            <p:spPr>
              <a:xfrm>
                <a:off x="6635890" y="2936863"/>
                <a:ext cx="123904" cy="437211"/>
              </a:xfrm>
              <a:custGeom>
                <a:rect b="b" l="l" r="r" t="t"/>
                <a:pathLst>
                  <a:path extrusionOk="0" h="29905" w="4740">
                    <a:moveTo>
                      <a:pt x="1229" y="29905"/>
                    </a:moveTo>
                    <a:cubicBezTo>
                      <a:pt x="-1533" y="20256"/>
                      <a:pt x="780" y="9222"/>
                      <a:pt x="4741" y="0"/>
                    </a:cubicBezTo>
                  </a:path>
                </a:pathLst>
              </a:custGeom>
              <a:noFill/>
              <a:ln cap="flat" cmpd="sng" w="24325">
                <a:solidFill>
                  <a:srgbClr val="FFFF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cxnSp>
          <p:nvCxnSpPr>
            <p:cNvPr id="1711" name="Google Shape;1711;p25"/>
            <p:cNvCxnSpPr/>
            <p:nvPr/>
          </p:nvCxnSpPr>
          <p:spPr>
            <a:xfrm rot="-6338134">
              <a:off x="6145992" y="3526121"/>
              <a:ext cx="99066" cy="131358"/>
            </a:xfrm>
            <a:prstGeom prst="straightConnector1">
              <a:avLst/>
            </a:prstGeom>
            <a:noFill/>
            <a:ln cap="flat" cmpd="sng" w="8125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2" name="Google Shape;1712;p25"/>
            <p:cNvCxnSpPr/>
            <p:nvPr/>
          </p:nvCxnSpPr>
          <p:spPr>
            <a:xfrm rot="-6341519">
              <a:off x="6163077" y="3507611"/>
              <a:ext cx="186345" cy="229677"/>
            </a:xfrm>
            <a:prstGeom prst="straightConnector1">
              <a:avLst/>
            </a:prstGeom>
            <a:noFill/>
            <a:ln cap="flat" cmpd="sng" w="8125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3" name="Google Shape;1713;p25"/>
            <p:cNvCxnSpPr/>
            <p:nvPr/>
          </p:nvCxnSpPr>
          <p:spPr>
            <a:xfrm flipH="1" rot="10800000">
              <a:off x="6209650" y="3456063"/>
              <a:ext cx="228600" cy="361800"/>
            </a:xfrm>
            <a:prstGeom prst="straightConnector1">
              <a:avLst/>
            </a:prstGeom>
            <a:noFill/>
            <a:ln cap="flat" cmpd="sng" w="8125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4" name="Google Shape;1714;p25"/>
            <p:cNvCxnSpPr/>
            <p:nvPr/>
          </p:nvCxnSpPr>
          <p:spPr>
            <a:xfrm flipH="1" rot="10800000">
              <a:off x="6242447" y="3433589"/>
              <a:ext cx="283500" cy="447600"/>
            </a:xfrm>
            <a:prstGeom prst="straightConnector1">
              <a:avLst/>
            </a:prstGeom>
            <a:noFill/>
            <a:ln cap="flat" cmpd="sng" w="8125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5" name="Google Shape;1715;p25"/>
            <p:cNvCxnSpPr/>
            <p:nvPr/>
          </p:nvCxnSpPr>
          <p:spPr>
            <a:xfrm flipH="1" rot="10800000">
              <a:off x="6284347" y="3414214"/>
              <a:ext cx="331200" cy="538200"/>
            </a:xfrm>
            <a:prstGeom prst="straightConnector1">
              <a:avLst/>
            </a:prstGeom>
            <a:noFill/>
            <a:ln cap="flat" cmpd="sng" w="8125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6" name="Google Shape;1716;p25"/>
            <p:cNvCxnSpPr/>
            <p:nvPr/>
          </p:nvCxnSpPr>
          <p:spPr>
            <a:xfrm flipH="1" rot="10611818">
              <a:off x="6310001" y="3453244"/>
              <a:ext cx="394791" cy="552289"/>
            </a:xfrm>
            <a:prstGeom prst="straightConnector1">
              <a:avLst/>
            </a:prstGeom>
            <a:noFill/>
            <a:ln cap="flat" cmpd="sng" w="8125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7" name="Google Shape;1717;p25"/>
            <p:cNvCxnSpPr/>
            <p:nvPr/>
          </p:nvCxnSpPr>
          <p:spPr>
            <a:xfrm flipH="1" rot="10611970">
              <a:off x="6356393" y="3552394"/>
              <a:ext cx="373158" cy="508439"/>
            </a:xfrm>
            <a:prstGeom prst="straightConnector1">
              <a:avLst/>
            </a:prstGeom>
            <a:noFill/>
            <a:ln cap="flat" cmpd="sng" w="8125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8" name="Google Shape;1718;p25"/>
            <p:cNvCxnSpPr/>
            <p:nvPr/>
          </p:nvCxnSpPr>
          <p:spPr>
            <a:xfrm flipH="1" rot="10612881">
              <a:off x="6404132" y="3638586"/>
              <a:ext cx="358431" cy="475105"/>
            </a:xfrm>
            <a:prstGeom prst="straightConnector1">
              <a:avLst/>
            </a:prstGeom>
            <a:noFill/>
            <a:ln cap="flat" cmpd="sng" w="8125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19" name="Google Shape;1719;p25"/>
            <p:cNvCxnSpPr/>
            <p:nvPr/>
          </p:nvCxnSpPr>
          <p:spPr>
            <a:xfrm flipH="1" rot="10610929">
              <a:off x="6464595" y="3708878"/>
              <a:ext cx="332903" cy="441472"/>
            </a:xfrm>
            <a:prstGeom prst="straightConnector1">
              <a:avLst/>
            </a:prstGeom>
            <a:noFill/>
            <a:ln cap="flat" cmpd="sng" w="8125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720" name="Google Shape;1720;p25"/>
          <p:cNvGrpSpPr/>
          <p:nvPr/>
        </p:nvGrpSpPr>
        <p:grpSpPr>
          <a:xfrm rot="-7747678">
            <a:off x="6713808" y="5451802"/>
            <a:ext cx="917135" cy="927853"/>
            <a:chOff x="5893568" y="3081812"/>
            <a:chExt cx="1184774" cy="1198522"/>
          </a:xfrm>
        </p:grpSpPr>
        <p:grpSp>
          <p:nvGrpSpPr>
            <p:cNvPr id="1721" name="Google Shape;1721;p25"/>
            <p:cNvGrpSpPr/>
            <p:nvPr/>
          </p:nvGrpSpPr>
          <p:grpSpPr>
            <a:xfrm rot="-2553858">
              <a:off x="6121452" y="3202192"/>
              <a:ext cx="729006" cy="957763"/>
              <a:chOff x="6057691" y="2542624"/>
              <a:chExt cx="729025" cy="957787"/>
            </a:xfrm>
          </p:grpSpPr>
          <p:cxnSp>
            <p:nvCxnSpPr>
              <p:cNvPr id="1722" name="Google Shape;1722;p25"/>
              <p:cNvCxnSpPr/>
              <p:nvPr/>
            </p:nvCxnSpPr>
            <p:spPr>
              <a:xfrm flipH="1" rot="-8246357">
                <a:off x="6228918" y="2725045"/>
                <a:ext cx="588139" cy="125058"/>
              </a:xfrm>
              <a:prstGeom prst="straightConnector1">
                <a:avLst/>
              </a:prstGeom>
              <a:noFill/>
              <a:ln cap="flat" cmpd="sng" w="22125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23" name="Google Shape;1723;p25"/>
              <p:cNvCxnSpPr/>
              <p:nvPr/>
            </p:nvCxnSpPr>
            <p:spPr>
              <a:xfrm flipH="1" rot="10800000">
                <a:off x="6097647" y="3383711"/>
                <a:ext cx="594300" cy="116700"/>
              </a:xfrm>
              <a:prstGeom prst="straightConnector1">
                <a:avLst/>
              </a:prstGeom>
              <a:noFill/>
              <a:ln cap="flat" cmpd="sng" w="22125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24" name="Google Shape;1724;p25"/>
              <p:cNvSpPr/>
              <p:nvPr/>
            </p:nvSpPr>
            <p:spPr>
              <a:xfrm>
                <a:off x="6057691" y="2616591"/>
                <a:ext cx="202398" cy="870834"/>
              </a:xfrm>
              <a:custGeom>
                <a:rect b="b" l="l" r="r" t="t"/>
                <a:pathLst>
                  <a:path extrusionOk="0" h="29905" w="4740">
                    <a:moveTo>
                      <a:pt x="1229" y="29905"/>
                    </a:moveTo>
                    <a:cubicBezTo>
                      <a:pt x="-1533" y="20256"/>
                      <a:pt x="780" y="9222"/>
                      <a:pt x="4741" y="0"/>
                    </a:cubicBezTo>
                  </a:path>
                </a:pathLst>
              </a:custGeom>
              <a:noFill/>
              <a:ln cap="flat" cmpd="sng" w="22125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725" name="Google Shape;1725;p25"/>
              <p:cNvSpPr/>
              <p:nvPr/>
            </p:nvSpPr>
            <p:spPr>
              <a:xfrm>
                <a:off x="6679189" y="2926345"/>
                <a:ext cx="107527" cy="463154"/>
              </a:xfrm>
              <a:custGeom>
                <a:rect b="b" l="l" r="r" t="t"/>
                <a:pathLst>
                  <a:path extrusionOk="0" h="29905" w="4740">
                    <a:moveTo>
                      <a:pt x="1229" y="29905"/>
                    </a:moveTo>
                    <a:cubicBezTo>
                      <a:pt x="-1533" y="20256"/>
                      <a:pt x="780" y="9222"/>
                      <a:pt x="4741" y="0"/>
                    </a:cubicBezTo>
                  </a:path>
                </a:pathLst>
              </a:custGeom>
              <a:noFill/>
              <a:ln cap="flat" cmpd="sng" w="22125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cxnSp>
          <p:nvCxnSpPr>
            <p:cNvPr id="1726" name="Google Shape;1726;p25"/>
            <p:cNvCxnSpPr/>
            <p:nvPr/>
          </p:nvCxnSpPr>
          <p:spPr>
            <a:xfrm flipH="1" rot="10800000">
              <a:off x="6147225" y="3487550"/>
              <a:ext cx="109200" cy="1746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27" name="Google Shape;1727;p25"/>
            <p:cNvCxnSpPr/>
            <p:nvPr/>
          </p:nvCxnSpPr>
          <p:spPr>
            <a:xfrm flipH="1" rot="10800000">
              <a:off x="6173600" y="3466000"/>
              <a:ext cx="183000" cy="2856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28" name="Google Shape;1728;p25"/>
            <p:cNvCxnSpPr/>
            <p:nvPr/>
          </p:nvCxnSpPr>
          <p:spPr>
            <a:xfrm flipH="1" rot="10800000">
              <a:off x="6209650" y="3456063"/>
              <a:ext cx="228600" cy="3618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29" name="Google Shape;1729;p25"/>
            <p:cNvCxnSpPr/>
            <p:nvPr/>
          </p:nvCxnSpPr>
          <p:spPr>
            <a:xfrm flipH="1" rot="10800000">
              <a:off x="6241950" y="3433763"/>
              <a:ext cx="283500" cy="4476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30" name="Google Shape;1730;p25"/>
            <p:cNvCxnSpPr/>
            <p:nvPr/>
          </p:nvCxnSpPr>
          <p:spPr>
            <a:xfrm flipH="1" rot="10800000">
              <a:off x="6283850" y="3414388"/>
              <a:ext cx="331200" cy="5382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31" name="Google Shape;1731;p25"/>
            <p:cNvCxnSpPr/>
            <p:nvPr/>
          </p:nvCxnSpPr>
          <p:spPr>
            <a:xfrm flipH="1" rot="10800000">
              <a:off x="6322550" y="3425213"/>
              <a:ext cx="367500" cy="5910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32" name="Google Shape;1732;p25"/>
            <p:cNvCxnSpPr/>
            <p:nvPr/>
          </p:nvCxnSpPr>
          <p:spPr>
            <a:xfrm flipH="1" rot="10800000">
              <a:off x="6367875" y="3522238"/>
              <a:ext cx="351600" cy="5487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33" name="Google Shape;1733;p25"/>
            <p:cNvCxnSpPr/>
            <p:nvPr/>
          </p:nvCxnSpPr>
          <p:spPr>
            <a:xfrm flipH="1" rot="10800000">
              <a:off x="6414850" y="3600463"/>
              <a:ext cx="346500" cy="5229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34" name="Google Shape;1734;p25"/>
            <p:cNvCxnSpPr/>
            <p:nvPr/>
          </p:nvCxnSpPr>
          <p:spPr>
            <a:xfrm flipH="1" rot="10800000">
              <a:off x="6474550" y="3673138"/>
              <a:ext cx="328800" cy="4863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35" name="Google Shape;1735;p25"/>
            <p:cNvCxnSpPr/>
            <p:nvPr/>
          </p:nvCxnSpPr>
          <p:spPr>
            <a:xfrm flipH="1" rot="10800000">
              <a:off x="6525450" y="3712838"/>
              <a:ext cx="328800" cy="4863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736" name="Google Shape;1736;p25"/>
          <p:cNvGrpSpPr/>
          <p:nvPr/>
        </p:nvGrpSpPr>
        <p:grpSpPr>
          <a:xfrm>
            <a:off x="7438542" y="5030383"/>
            <a:ext cx="1435621" cy="519947"/>
            <a:chOff x="8548175" y="2668550"/>
            <a:chExt cx="1435621" cy="519947"/>
          </a:xfrm>
        </p:grpSpPr>
        <p:sp>
          <p:nvSpPr>
            <p:cNvPr id="1737" name="Google Shape;1737;p25"/>
            <p:cNvSpPr txBox="1"/>
            <p:nvPr/>
          </p:nvSpPr>
          <p:spPr>
            <a:xfrm>
              <a:off x="8548175" y="2668550"/>
              <a:ext cx="672300" cy="29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60">
                  <a:solidFill>
                    <a:schemeClr val="dk2"/>
                  </a:solidFill>
                </a:rPr>
                <a:t>Legend</a:t>
              </a:r>
              <a:endParaRPr b="1" sz="860">
                <a:solidFill>
                  <a:schemeClr val="dk2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0">
                <a:solidFill>
                  <a:schemeClr val="dk2"/>
                </a:solidFill>
              </a:endParaRPr>
            </a:p>
          </p:txBody>
        </p:sp>
        <p:sp>
          <p:nvSpPr>
            <p:cNvPr id="1738" name="Google Shape;1738;p25"/>
            <p:cNvSpPr/>
            <p:nvPr/>
          </p:nvSpPr>
          <p:spPr>
            <a:xfrm>
              <a:off x="8698150" y="2959475"/>
              <a:ext cx="146700" cy="141900"/>
            </a:xfrm>
            <a:prstGeom prst="rect">
              <a:avLst/>
            </a:prstGeom>
            <a:noFill/>
            <a:ln cap="flat" cmpd="sng" w="9525">
              <a:solidFill>
                <a:srgbClr val="93C4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25"/>
            <p:cNvSpPr txBox="1"/>
            <p:nvPr/>
          </p:nvSpPr>
          <p:spPr>
            <a:xfrm>
              <a:off x="8795496" y="2871397"/>
              <a:ext cx="1188300" cy="3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60">
                  <a:solidFill>
                    <a:schemeClr val="dk2"/>
                  </a:solidFill>
                </a:rPr>
                <a:t>Reused material</a:t>
              </a:r>
              <a:endParaRPr sz="860">
                <a:solidFill>
                  <a:schemeClr val="dk2"/>
                </a:solidFill>
              </a:endParaRPr>
            </a:p>
          </p:txBody>
        </p:sp>
        <p:cxnSp>
          <p:nvCxnSpPr>
            <p:cNvPr id="1740" name="Google Shape;1740;p25"/>
            <p:cNvCxnSpPr>
              <a:stCxn id="1738" idx="1"/>
            </p:cNvCxnSpPr>
            <p:nvPr/>
          </p:nvCxnSpPr>
          <p:spPr>
            <a:xfrm flipH="1" rot="10800000">
              <a:off x="8698150" y="2959625"/>
              <a:ext cx="73500" cy="70800"/>
            </a:xfrm>
            <a:prstGeom prst="straightConnector1">
              <a:avLst/>
            </a:prstGeom>
            <a:noFill/>
            <a:ln cap="flat" cmpd="sng" w="9525">
              <a:solidFill>
                <a:srgbClr val="93C47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41" name="Google Shape;1741;p25"/>
            <p:cNvCxnSpPr/>
            <p:nvPr/>
          </p:nvCxnSpPr>
          <p:spPr>
            <a:xfrm flipH="1" rot="10800000">
              <a:off x="8698150" y="2963225"/>
              <a:ext cx="146400" cy="138000"/>
            </a:xfrm>
            <a:prstGeom prst="straightConnector1">
              <a:avLst/>
            </a:prstGeom>
            <a:noFill/>
            <a:ln cap="flat" cmpd="sng" w="9525">
              <a:solidFill>
                <a:srgbClr val="93C47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42" name="Google Shape;1742;p25"/>
            <p:cNvCxnSpPr/>
            <p:nvPr/>
          </p:nvCxnSpPr>
          <p:spPr>
            <a:xfrm flipH="1" rot="10800000">
              <a:off x="8771650" y="3030425"/>
              <a:ext cx="73500" cy="70800"/>
            </a:xfrm>
            <a:prstGeom prst="straightConnector1">
              <a:avLst/>
            </a:prstGeom>
            <a:noFill/>
            <a:ln cap="flat" cmpd="sng" w="9525">
              <a:solidFill>
                <a:srgbClr val="93C47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743" name="Google Shape;1743;p25"/>
          <p:cNvGrpSpPr/>
          <p:nvPr/>
        </p:nvGrpSpPr>
        <p:grpSpPr>
          <a:xfrm>
            <a:off x="7593906" y="5462204"/>
            <a:ext cx="1964213" cy="315600"/>
            <a:chOff x="8698150" y="2879721"/>
            <a:chExt cx="1964213" cy="315600"/>
          </a:xfrm>
        </p:grpSpPr>
        <p:sp>
          <p:nvSpPr>
            <p:cNvPr id="1744" name="Google Shape;1744;p25"/>
            <p:cNvSpPr/>
            <p:nvPr/>
          </p:nvSpPr>
          <p:spPr>
            <a:xfrm>
              <a:off x="8698150" y="2959475"/>
              <a:ext cx="146700" cy="141900"/>
            </a:xfrm>
            <a:prstGeom prst="rect">
              <a:avLst/>
            </a:prstGeom>
            <a:noFill/>
            <a:ln cap="flat" cmpd="sng" w="9525">
              <a:solidFill>
                <a:srgbClr val="FF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25"/>
            <p:cNvSpPr txBox="1"/>
            <p:nvPr/>
          </p:nvSpPr>
          <p:spPr>
            <a:xfrm>
              <a:off x="8806563" y="2879721"/>
              <a:ext cx="1855800" cy="315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chemeClr val="dk2"/>
                  </a:solidFill>
                </a:rPr>
                <a:t>Limited availability</a:t>
              </a:r>
              <a:endParaRPr sz="850">
                <a:solidFill>
                  <a:schemeClr val="dk2"/>
                </a:solidFill>
              </a:endParaRPr>
            </a:p>
          </p:txBody>
        </p:sp>
        <p:cxnSp>
          <p:nvCxnSpPr>
            <p:cNvPr id="1746" name="Google Shape;1746;p25"/>
            <p:cNvCxnSpPr>
              <a:stCxn id="1744" idx="1"/>
            </p:cNvCxnSpPr>
            <p:nvPr/>
          </p:nvCxnSpPr>
          <p:spPr>
            <a:xfrm flipH="1" rot="10800000">
              <a:off x="8698150" y="2959625"/>
              <a:ext cx="73500" cy="70800"/>
            </a:xfrm>
            <a:prstGeom prst="straightConnector1">
              <a:avLst/>
            </a:prstGeom>
            <a:noFill/>
            <a:ln cap="flat" cmpd="sng" w="9525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47" name="Google Shape;1747;p25"/>
            <p:cNvCxnSpPr/>
            <p:nvPr/>
          </p:nvCxnSpPr>
          <p:spPr>
            <a:xfrm flipH="1" rot="10800000">
              <a:off x="8698150" y="2963225"/>
              <a:ext cx="146400" cy="138000"/>
            </a:xfrm>
            <a:prstGeom prst="straightConnector1">
              <a:avLst/>
            </a:prstGeom>
            <a:noFill/>
            <a:ln cap="flat" cmpd="sng" w="9525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48" name="Google Shape;1748;p25"/>
            <p:cNvCxnSpPr/>
            <p:nvPr/>
          </p:nvCxnSpPr>
          <p:spPr>
            <a:xfrm flipH="1" rot="10800000">
              <a:off x="8771650" y="3030425"/>
              <a:ext cx="73500" cy="70800"/>
            </a:xfrm>
            <a:prstGeom prst="straightConnector1">
              <a:avLst/>
            </a:prstGeom>
            <a:noFill/>
            <a:ln cap="flat" cmpd="sng" w="9525">
              <a:solidFill>
                <a:srgbClr val="FFFF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749" name="Google Shape;1749;p25"/>
          <p:cNvGrpSpPr/>
          <p:nvPr/>
        </p:nvGrpSpPr>
        <p:grpSpPr>
          <a:xfrm>
            <a:off x="8834336" y="7111675"/>
            <a:ext cx="4557232" cy="618331"/>
            <a:chOff x="4268193" y="552116"/>
            <a:chExt cx="6213843" cy="697025"/>
          </a:xfrm>
        </p:grpSpPr>
        <p:sp>
          <p:nvSpPr>
            <p:cNvPr id="1750" name="Google Shape;1750;p25"/>
            <p:cNvSpPr/>
            <p:nvPr/>
          </p:nvSpPr>
          <p:spPr>
            <a:xfrm>
              <a:off x="6760562" y="609015"/>
              <a:ext cx="3546300" cy="255600"/>
            </a:xfrm>
            <a:prstGeom prst="roundRect">
              <a:avLst>
                <a:gd fmla="val 16667" name="adj"/>
              </a:avLst>
            </a:prstGeom>
            <a:solidFill>
              <a:schemeClr val="lt2"/>
            </a:solidFill>
            <a:ln cap="flat" cmpd="sng" w="8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1100" lIns="81100" spcFirstLastPara="1" rIns="81100" wrap="square" tIns="811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41"/>
            </a:p>
          </p:txBody>
        </p:sp>
        <p:sp>
          <p:nvSpPr>
            <p:cNvPr id="1751" name="Google Shape;1751;p25"/>
            <p:cNvSpPr txBox="1"/>
            <p:nvPr/>
          </p:nvSpPr>
          <p:spPr>
            <a:xfrm>
              <a:off x="4268193" y="552116"/>
              <a:ext cx="2855100" cy="28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100" lIns="81100" spcFirstLastPara="1" rIns="81100" wrap="square" tIns="8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86">
                  <a:solidFill>
                    <a:srgbClr val="B7B7B7"/>
                  </a:solidFill>
                </a:rPr>
                <a:t>CONSTRUCTION YEAR</a:t>
              </a:r>
              <a:endParaRPr b="1" sz="1186">
                <a:solidFill>
                  <a:srgbClr val="B7B7B7"/>
                </a:solidFill>
              </a:endParaRPr>
            </a:p>
          </p:txBody>
        </p:sp>
        <p:sp>
          <p:nvSpPr>
            <p:cNvPr id="1752" name="Google Shape;1752;p25"/>
            <p:cNvSpPr txBox="1"/>
            <p:nvPr/>
          </p:nvSpPr>
          <p:spPr>
            <a:xfrm>
              <a:off x="6732035" y="810841"/>
              <a:ext cx="3750000" cy="43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81100" lIns="81100" spcFirstLastPara="1" rIns="81100" wrap="square" tIns="8110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20">
                  <a:solidFill>
                    <a:schemeClr val="dk2"/>
                  </a:solidFill>
                </a:rPr>
                <a:t>2020	2030	2040	2050	2060	2070</a:t>
              </a:r>
              <a:endParaRPr sz="620">
                <a:solidFill>
                  <a:schemeClr val="dk2"/>
                </a:solidFill>
              </a:endParaRPr>
            </a:p>
          </p:txBody>
        </p:sp>
        <p:sp>
          <p:nvSpPr>
            <p:cNvPr id="1753" name="Google Shape;1753;p25"/>
            <p:cNvSpPr/>
            <p:nvPr/>
          </p:nvSpPr>
          <p:spPr>
            <a:xfrm>
              <a:off x="6765997" y="605859"/>
              <a:ext cx="283200" cy="255900"/>
            </a:xfrm>
            <a:prstGeom prst="roundRect">
              <a:avLst>
                <a:gd fmla="val 16667" name="adj"/>
              </a:avLst>
            </a:prstGeom>
            <a:solidFill>
              <a:srgbClr val="AAD3E0"/>
            </a:solidFill>
            <a:ln cap="flat" cmpd="sng" w="84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81100" lIns="81100" spcFirstLastPara="1" rIns="81100" wrap="square" tIns="8110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41"/>
            </a:p>
          </p:txBody>
        </p:sp>
      </p:grpSp>
      <p:pic>
        <p:nvPicPr>
          <p:cNvPr id="1754" name="Google Shape;1754;p25" title="Chart"/>
          <p:cNvPicPr preferRelativeResize="0"/>
          <p:nvPr/>
        </p:nvPicPr>
        <p:blipFill rotWithShape="1">
          <a:blip r:embed="rId11">
            <a:alphaModFix/>
          </a:blip>
          <a:srcRect b="0" l="0" r="0" t="11143"/>
          <a:stretch/>
        </p:blipFill>
        <p:spPr>
          <a:xfrm>
            <a:off x="4699706" y="1381773"/>
            <a:ext cx="3723375" cy="20450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55" name="Google Shape;1755;p25"/>
          <p:cNvGrpSpPr/>
          <p:nvPr/>
        </p:nvGrpSpPr>
        <p:grpSpPr>
          <a:xfrm rot="-7747678">
            <a:off x="6731768" y="2186915"/>
            <a:ext cx="917135" cy="927853"/>
            <a:chOff x="5893568" y="3081812"/>
            <a:chExt cx="1184774" cy="1198522"/>
          </a:xfrm>
        </p:grpSpPr>
        <p:grpSp>
          <p:nvGrpSpPr>
            <p:cNvPr id="1756" name="Google Shape;1756;p25"/>
            <p:cNvGrpSpPr/>
            <p:nvPr/>
          </p:nvGrpSpPr>
          <p:grpSpPr>
            <a:xfrm rot="-2553858">
              <a:off x="6121452" y="3202192"/>
              <a:ext cx="729006" cy="957763"/>
              <a:chOff x="6057691" y="2542624"/>
              <a:chExt cx="729025" cy="957787"/>
            </a:xfrm>
          </p:grpSpPr>
          <p:cxnSp>
            <p:nvCxnSpPr>
              <p:cNvPr id="1757" name="Google Shape;1757;p25"/>
              <p:cNvCxnSpPr/>
              <p:nvPr/>
            </p:nvCxnSpPr>
            <p:spPr>
              <a:xfrm flipH="1" rot="-8246357">
                <a:off x="6228918" y="2725045"/>
                <a:ext cx="588139" cy="125058"/>
              </a:xfrm>
              <a:prstGeom prst="straightConnector1">
                <a:avLst/>
              </a:prstGeom>
              <a:noFill/>
              <a:ln cap="flat" cmpd="sng" w="22125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58" name="Google Shape;1758;p25"/>
              <p:cNvCxnSpPr/>
              <p:nvPr/>
            </p:nvCxnSpPr>
            <p:spPr>
              <a:xfrm flipH="1" rot="10800000">
                <a:off x="6097647" y="3383711"/>
                <a:ext cx="594300" cy="116700"/>
              </a:xfrm>
              <a:prstGeom prst="straightConnector1">
                <a:avLst/>
              </a:prstGeom>
              <a:noFill/>
              <a:ln cap="flat" cmpd="sng" w="22125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1759" name="Google Shape;1759;p25"/>
              <p:cNvSpPr/>
              <p:nvPr/>
            </p:nvSpPr>
            <p:spPr>
              <a:xfrm>
                <a:off x="6057691" y="2616591"/>
                <a:ext cx="202398" cy="870834"/>
              </a:xfrm>
              <a:custGeom>
                <a:rect b="b" l="l" r="r" t="t"/>
                <a:pathLst>
                  <a:path extrusionOk="0" h="29905" w="4740">
                    <a:moveTo>
                      <a:pt x="1229" y="29905"/>
                    </a:moveTo>
                    <a:cubicBezTo>
                      <a:pt x="-1533" y="20256"/>
                      <a:pt x="780" y="9222"/>
                      <a:pt x="4741" y="0"/>
                    </a:cubicBezTo>
                  </a:path>
                </a:pathLst>
              </a:custGeom>
              <a:noFill/>
              <a:ln cap="flat" cmpd="sng" w="22125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  <p:sp>
            <p:nvSpPr>
              <p:cNvPr id="1760" name="Google Shape;1760;p25"/>
              <p:cNvSpPr/>
              <p:nvPr/>
            </p:nvSpPr>
            <p:spPr>
              <a:xfrm>
                <a:off x="6679189" y="2926345"/>
                <a:ext cx="107527" cy="463154"/>
              </a:xfrm>
              <a:custGeom>
                <a:rect b="b" l="l" r="r" t="t"/>
                <a:pathLst>
                  <a:path extrusionOk="0" h="29905" w="4740">
                    <a:moveTo>
                      <a:pt x="1229" y="29905"/>
                    </a:moveTo>
                    <a:cubicBezTo>
                      <a:pt x="-1533" y="20256"/>
                      <a:pt x="780" y="9222"/>
                      <a:pt x="4741" y="0"/>
                    </a:cubicBezTo>
                  </a:path>
                </a:pathLst>
              </a:custGeom>
              <a:noFill/>
              <a:ln cap="flat" cmpd="sng" w="22125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sp>
        </p:grpSp>
        <p:cxnSp>
          <p:nvCxnSpPr>
            <p:cNvPr id="1761" name="Google Shape;1761;p25"/>
            <p:cNvCxnSpPr/>
            <p:nvPr/>
          </p:nvCxnSpPr>
          <p:spPr>
            <a:xfrm flipH="1" rot="10800000">
              <a:off x="6147225" y="3487550"/>
              <a:ext cx="109200" cy="1746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2" name="Google Shape;1762;p25"/>
            <p:cNvCxnSpPr/>
            <p:nvPr/>
          </p:nvCxnSpPr>
          <p:spPr>
            <a:xfrm flipH="1" rot="10800000">
              <a:off x="6173600" y="3466000"/>
              <a:ext cx="183000" cy="2856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3" name="Google Shape;1763;p25"/>
            <p:cNvCxnSpPr/>
            <p:nvPr/>
          </p:nvCxnSpPr>
          <p:spPr>
            <a:xfrm flipH="1" rot="10800000">
              <a:off x="6209650" y="3456063"/>
              <a:ext cx="228600" cy="3618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4" name="Google Shape;1764;p25"/>
            <p:cNvCxnSpPr/>
            <p:nvPr/>
          </p:nvCxnSpPr>
          <p:spPr>
            <a:xfrm flipH="1" rot="10800000">
              <a:off x="6241950" y="3433763"/>
              <a:ext cx="283500" cy="4476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5" name="Google Shape;1765;p25"/>
            <p:cNvCxnSpPr/>
            <p:nvPr/>
          </p:nvCxnSpPr>
          <p:spPr>
            <a:xfrm flipH="1" rot="10800000">
              <a:off x="6283850" y="3414388"/>
              <a:ext cx="331200" cy="5382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6" name="Google Shape;1766;p25"/>
            <p:cNvCxnSpPr/>
            <p:nvPr/>
          </p:nvCxnSpPr>
          <p:spPr>
            <a:xfrm flipH="1" rot="10800000">
              <a:off x="6322550" y="3425213"/>
              <a:ext cx="367500" cy="5910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7" name="Google Shape;1767;p25"/>
            <p:cNvCxnSpPr/>
            <p:nvPr/>
          </p:nvCxnSpPr>
          <p:spPr>
            <a:xfrm flipH="1" rot="10800000">
              <a:off x="6367875" y="3522238"/>
              <a:ext cx="351600" cy="5487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8" name="Google Shape;1768;p25"/>
            <p:cNvCxnSpPr/>
            <p:nvPr/>
          </p:nvCxnSpPr>
          <p:spPr>
            <a:xfrm flipH="1" rot="10800000">
              <a:off x="6414850" y="3600463"/>
              <a:ext cx="346500" cy="5229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9" name="Google Shape;1769;p25"/>
            <p:cNvCxnSpPr/>
            <p:nvPr/>
          </p:nvCxnSpPr>
          <p:spPr>
            <a:xfrm flipH="1" rot="10800000">
              <a:off x="6474550" y="3673138"/>
              <a:ext cx="328800" cy="4863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70" name="Google Shape;1770;p25"/>
            <p:cNvCxnSpPr/>
            <p:nvPr/>
          </p:nvCxnSpPr>
          <p:spPr>
            <a:xfrm flipH="1" rot="10800000">
              <a:off x="6525450" y="3712838"/>
              <a:ext cx="328800" cy="486300"/>
            </a:xfrm>
            <a:prstGeom prst="straightConnector1">
              <a:avLst/>
            </a:prstGeom>
            <a:noFill/>
            <a:ln cap="flat" cmpd="sng" w="7350">
              <a:solidFill>
                <a:srgbClr val="B6D7A8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771" name="Google Shape;1771;p25"/>
          <p:cNvGrpSpPr/>
          <p:nvPr/>
        </p:nvGrpSpPr>
        <p:grpSpPr>
          <a:xfrm>
            <a:off x="7438542" y="1717906"/>
            <a:ext cx="1435621" cy="519947"/>
            <a:chOff x="8548175" y="2668550"/>
            <a:chExt cx="1435621" cy="519947"/>
          </a:xfrm>
        </p:grpSpPr>
        <p:sp>
          <p:nvSpPr>
            <p:cNvPr id="1772" name="Google Shape;1772;p25"/>
            <p:cNvSpPr txBox="1"/>
            <p:nvPr/>
          </p:nvSpPr>
          <p:spPr>
            <a:xfrm>
              <a:off x="8548175" y="2668550"/>
              <a:ext cx="672300" cy="294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60">
                  <a:solidFill>
                    <a:schemeClr val="dk2"/>
                  </a:solidFill>
                </a:rPr>
                <a:t>Legend</a:t>
              </a:r>
              <a:endParaRPr b="1" sz="860">
                <a:solidFill>
                  <a:schemeClr val="dk2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860">
                <a:solidFill>
                  <a:schemeClr val="dk2"/>
                </a:solidFill>
              </a:endParaRPr>
            </a:p>
          </p:txBody>
        </p:sp>
        <p:sp>
          <p:nvSpPr>
            <p:cNvPr id="1773" name="Google Shape;1773;p25"/>
            <p:cNvSpPr/>
            <p:nvPr/>
          </p:nvSpPr>
          <p:spPr>
            <a:xfrm>
              <a:off x="8698150" y="2959475"/>
              <a:ext cx="146700" cy="141900"/>
            </a:xfrm>
            <a:prstGeom prst="rect">
              <a:avLst/>
            </a:prstGeom>
            <a:noFill/>
            <a:ln cap="flat" cmpd="sng" w="9525">
              <a:solidFill>
                <a:srgbClr val="93C47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25"/>
            <p:cNvSpPr txBox="1"/>
            <p:nvPr/>
          </p:nvSpPr>
          <p:spPr>
            <a:xfrm>
              <a:off x="8795496" y="2871397"/>
              <a:ext cx="1188300" cy="317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60">
                  <a:solidFill>
                    <a:schemeClr val="dk2"/>
                  </a:solidFill>
                </a:rPr>
                <a:t>Reused material</a:t>
              </a:r>
              <a:endParaRPr sz="860">
                <a:solidFill>
                  <a:schemeClr val="dk2"/>
                </a:solidFill>
              </a:endParaRPr>
            </a:p>
          </p:txBody>
        </p:sp>
        <p:cxnSp>
          <p:nvCxnSpPr>
            <p:cNvPr id="1775" name="Google Shape;1775;p25"/>
            <p:cNvCxnSpPr>
              <a:stCxn id="1773" idx="1"/>
            </p:cNvCxnSpPr>
            <p:nvPr/>
          </p:nvCxnSpPr>
          <p:spPr>
            <a:xfrm flipH="1" rot="10800000">
              <a:off x="8698150" y="2959625"/>
              <a:ext cx="73500" cy="70800"/>
            </a:xfrm>
            <a:prstGeom prst="straightConnector1">
              <a:avLst/>
            </a:prstGeom>
            <a:noFill/>
            <a:ln cap="flat" cmpd="sng" w="9525">
              <a:solidFill>
                <a:srgbClr val="93C47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76" name="Google Shape;1776;p25"/>
            <p:cNvCxnSpPr/>
            <p:nvPr/>
          </p:nvCxnSpPr>
          <p:spPr>
            <a:xfrm flipH="1" rot="10800000">
              <a:off x="8698150" y="2963225"/>
              <a:ext cx="146400" cy="138000"/>
            </a:xfrm>
            <a:prstGeom prst="straightConnector1">
              <a:avLst/>
            </a:prstGeom>
            <a:noFill/>
            <a:ln cap="flat" cmpd="sng" w="9525">
              <a:solidFill>
                <a:srgbClr val="93C47D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77" name="Google Shape;1777;p25"/>
            <p:cNvCxnSpPr/>
            <p:nvPr/>
          </p:nvCxnSpPr>
          <p:spPr>
            <a:xfrm flipH="1" rot="10800000">
              <a:off x="8771650" y="3030425"/>
              <a:ext cx="73500" cy="70800"/>
            </a:xfrm>
            <a:prstGeom prst="straightConnector1">
              <a:avLst/>
            </a:prstGeom>
            <a:noFill/>
            <a:ln cap="flat" cmpd="sng" w="9525">
              <a:solidFill>
                <a:srgbClr val="93C47D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id="1778" name="Google Shape;1778;p25" title="download.png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516450" y="1234027"/>
            <a:ext cx="259800" cy="2598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79" name="Google Shape;1779;p25"/>
          <p:cNvCxnSpPr>
            <a:stCxn id="1704" idx="1"/>
            <a:endCxn id="1635" idx="3"/>
          </p:cNvCxnSpPr>
          <p:nvPr/>
        </p:nvCxnSpPr>
        <p:spPr>
          <a:xfrm flipH="1">
            <a:off x="3947600" y="5658968"/>
            <a:ext cx="734100" cy="1194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0" name="Google Shape;1780;p25"/>
          <p:cNvCxnSpPr/>
          <p:nvPr/>
        </p:nvCxnSpPr>
        <p:spPr>
          <a:xfrm flipH="1" rot="10800000">
            <a:off x="5938536" y="5973767"/>
            <a:ext cx="287700" cy="347700"/>
          </a:xfrm>
          <a:prstGeom prst="straightConnector1">
            <a:avLst/>
          </a:prstGeom>
          <a:noFill/>
          <a:ln cap="flat" cmpd="sng" w="8125">
            <a:solidFill>
              <a:srgbClr val="FFFF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1" name="Google Shape;1781;p25"/>
          <p:cNvCxnSpPr>
            <a:stCxn id="1704" idx="1"/>
          </p:cNvCxnSpPr>
          <p:nvPr/>
        </p:nvCxnSpPr>
        <p:spPr>
          <a:xfrm>
            <a:off x="4681700" y="5658968"/>
            <a:ext cx="950400" cy="177000"/>
          </a:xfrm>
          <a:prstGeom prst="straightConnector1">
            <a:avLst/>
          </a:prstGeom>
          <a:noFill/>
          <a:ln cap="flat" cmpd="sng" w="19050">
            <a:solidFill>
              <a:srgbClr val="666666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782" name="Google Shape;1782;p25" title="Chart"/>
          <p:cNvPicPr preferRelativeResize="0"/>
          <p:nvPr/>
        </p:nvPicPr>
        <p:blipFill rotWithShape="1">
          <a:blip r:embed="rId12">
            <a:alphaModFix/>
          </a:blip>
          <a:srcRect b="0" l="17945" r="0" t="0"/>
          <a:stretch/>
        </p:blipFill>
        <p:spPr>
          <a:xfrm>
            <a:off x="7521449" y="6050600"/>
            <a:ext cx="1076499" cy="811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3" name="Google Shape;1783;p25" title="Chart"/>
          <p:cNvPicPr preferRelativeResize="0"/>
          <p:nvPr/>
        </p:nvPicPr>
        <p:blipFill rotWithShape="1">
          <a:blip r:embed="rId12">
            <a:alphaModFix/>
          </a:blip>
          <a:srcRect b="0" l="17945" r="0" t="0"/>
          <a:stretch/>
        </p:blipFill>
        <p:spPr>
          <a:xfrm>
            <a:off x="7521449" y="2836275"/>
            <a:ext cx="1076499" cy="811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7" name="Shape 17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88" name="Google Shape;1788;p26"/>
          <p:cNvCxnSpPr>
            <a:stCxn id="1789" idx="1"/>
          </p:cNvCxnSpPr>
          <p:nvPr/>
        </p:nvCxnSpPr>
        <p:spPr>
          <a:xfrm>
            <a:off x="1921100" y="232040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790" name="Google Shape;1790;p26"/>
          <p:cNvGrpSpPr/>
          <p:nvPr/>
        </p:nvGrpSpPr>
        <p:grpSpPr>
          <a:xfrm>
            <a:off x="313765" y="1737475"/>
            <a:ext cx="3608871" cy="474600"/>
            <a:chOff x="313750" y="1747448"/>
            <a:chExt cx="3505800" cy="474600"/>
          </a:xfrm>
        </p:grpSpPr>
        <p:sp>
          <p:nvSpPr>
            <p:cNvPr id="1791" name="Google Shape;1791;p26"/>
            <p:cNvSpPr/>
            <p:nvPr/>
          </p:nvSpPr>
          <p:spPr>
            <a:xfrm>
              <a:off x="313750" y="1747448"/>
              <a:ext cx="3505800" cy="4746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140175" lIns="140175" spcFirstLastPara="1" rIns="140175" wrap="square" tIns="1401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/>
                <a:t>Building Specifications</a:t>
              </a:r>
              <a:endParaRPr b="1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rgbClr val="666666"/>
                </a:solidFill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rgbClr val="666666"/>
                </a:solidFill>
              </a:endParaRPr>
            </a:p>
            <a:p>
              <a:pPr indent="0" lvl="0" marL="6985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/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/>
            </a:p>
          </p:txBody>
        </p:sp>
        <p:sp>
          <p:nvSpPr>
            <p:cNvPr id="1792" name="Google Shape;1792;p26"/>
            <p:cNvSpPr/>
            <p:nvPr/>
          </p:nvSpPr>
          <p:spPr>
            <a:xfrm rot="10800000">
              <a:off x="2469500" y="1961425"/>
              <a:ext cx="167100" cy="101400"/>
            </a:xfrm>
            <a:prstGeom prst="triangle">
              <a:avLst>
                <a:gd fmla="val 50000" name="adj"/>
              </a:avLst>
            </a:prstGeom>
            <a:solidFill>
              <a:srgbClr val="B7B7B7"/>
            </a:solidFill>
            <a:ln cap="flat" cmpd="sng" w="9525">
              <a:solidFill>
                <a:srgbClr val="B7B7B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40175" lIns="140175" spcFirstLastPara="1" rIns="140175" wrap="square" tIns="1401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100"/>
            </a:p>
          </p:txBody>
        </p:sp>
      </p:grpSp>
      <p:sp>
        <p:nvSpPr>
          <p:cNvPr id="1793" name="Google Shape;1793;p26"/>
          <p:cNvSpPr/>
          <p:nvPr/>
        </p:nvSpPr>
        <p:spPr>
          <a:xfrm>
            <a:off x="322450" y="1045650"/>
            <a:ext cx="3608700" cy="4332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40175" lIns="140175" spcFirstLastPara="1" rIns="140175" wrap="square" tIns="140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rgbClr val="999999"/>
                </a:solidFill>
              </a:rPr>
              <a:t>       Ventura County, CA</a:t>
            </a:r>
            <a:endParaRPr sz="1500">
              <a:solidFill>
                <a:srgbClr val="999999"/>
              </a:solidFill>
            </a:endParaRPr>
          </a:p>
        </p:txBody>
      </p:sp>
      <p:pic>
        <p:nvPicPr>
          <p:cNvPr id="1794" name="Google Shape;179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625" y="1067100"/>
            <a:ext cx="388875" cy="388875"/>
          </a:xfrm>
          <a:prstGeom prst="rect">
            <a:avLst/>
          </a:prstGeom>
          <a:solidFill>
            <a:schemeClr val="lt1"/>
          </a:solidFill>
          <a:ln>
            <a:noFill/>
          </a:ln>
        </p:spPr>
      </p:pic>
      <p:sp>
        <p:nvSpPr>
          <p:cNvPr id="1795" name="Google Shape;1795;p26"/>
          <p:cNvSpPr txBox="1"/>
          <p:nvPr>
            <p:ph type="ctrTitle"/>
          </p:nvPr>
        </p:nvSpPr>
        <p:spPr>
          <a:xfrm rot="-5400000">
            <a:off x="-4371000" y="3656700"/>
            <a:ext cx="7825800" cy="916200"/>
          </a:xfrm>
          <a:prstGeom prst="rect">
            <a:avLst/>
          </a:prstGeom>
        </p:spPr>
        <p:txBody>
          <a:bodyPr anchorCtr="0" anchor="b" bIns="140175" lIns="140175" spcFirstLastPara="1" rIns="140175" wrap="square" tIns="1401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4100"/>
              <a:t>ALTERNATIVE MATERIALS</a:t>
            </a:r>
            <a:endParaRPr sz="4100"/>
          </a:p>
        </p:txBody>
      </p:sp>
      <p:grpSp>
        <p:nvGrpSpPr>
          <p:cNvPr id="1796" name="Google Shape;1796;p26"/>
          <p:cNvGrpSpPr/>
          <p:nvPr/>
        </p:nvGrpSpPr>
        <p:grpSpPr>
          <a:xfrm>
            <a:off x="313763" y="2443670"/>
            <a:ext cx="4161881" cy="524131"/>
            <a:chOff x="313750" y="2364051"/>
            <a:chExt cx="4161881" cy="524131"/>
          </a:xfrm>
        </p:grpSpPr>
        <p:grpSp>
          <p:nvGrpSpPr>
            <p:cNvPr id="1797" name="Google Shape;1797;p26"/>
            <p:cNvGrpSpPr/>
            <p:nvPr/>
          </p:nvGrpSpPr>
          <p:grpSpPr>
            <a:xfrm>
              <a:off x="313788" y="2364051"/>
              <a:ext cx="4161843" cy="524131"/>
              <a:chOff x="314635" y="1496385"/>
              <a:chExt cx="2462192" cy="377100"/>
            </a:xfrm>
          </p:grpSpPr>
          <p:sp>
            <p:nvSpPr>
              <p:cNvPr id="1798" name="Google Shape;1798;p26"/>
              <p:cNvSpPr/>
              <p:nvPr/>
            </p:nvSpPr>
            <p:spPr>
              <a:xfrm>
                <a:off x="314635" y="1532085"/>
                <a:ext cx="2135100" cy="341400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194825" lIns="194825" spcFirstLastPara="1" rIns="194825" wrap="square" tIns="1948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50">
                  <a:solidFill>
                    <a:schemeClr val="dk1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50">
                  <a:solidFill>
                    <a:schemeClr val="dk1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50">
                  <a:solidFill>
                    <a:schemeClr val="dk1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1" sz="1250">
                  <a:solidFill>
                    <a:schemeClr val="dk1"/>
                  </a:solidFill>
                </a:endParaRPr>
              </a:p>
            </p:txBody>
          </p:sp>
          <p:grpSp>
            <p:nvGrpSpPr>
              <p:cNvPr id="1799" name="Google Shape;1799;p26"/>
              <p:cNvGrpSpPr/>
              <p:nvPr/>
            </p:nvGrpSpPr>
            <p:grpSpPr>
              <a:xfrm>
                <a:off x="1905750" y="1496385"/>
                <a:ext cx="871077" cy="317400"/>
                <a:chOff x="1905813" y="1496535"/>
                <a:chExt cx="871077" cy="317400"/>
              </a:xfrm>
            </p:grpSpPr>
            <p:sp>
              <p:nvSpPr>
                <p:cNvPr id="1800" name="Google Shape;1800;p26"/>
                <p:cNvSpPr/>
                <p:nvPr/>
              </p:nvSpPr>
              <p:spPr>
                <a:xfrm rot="-10800000">
                  <a:off x="1905813" y="1608215"/>
                  <a:ext cx="421893" cy="181722"/>
                </a:xfrm>
                <a:prstGeom prst="flowChartMagneticDrum">
                  <a:avLst/>
                </a:prstGeom>
                <a:solidFill>
                  <a:srgbClr val="CCCCCC"/>
                </a:solidFill>
                <a:ln cap="flat" cmpd="sng" w="132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194825" lIns="194825" spcFirstLastPara="1" rIns="194825" wrap="square" tIns="1948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918"/>
                </a:p>
              </p:txBody>
            </p:sp>
            <p:sp>
              <p:nvSpPr>
                <p:cNvPr id="1801" name="Google Shape;1801;p26"/>
                <p:cNvSpPr/>
                <p:nvPr/>
              </p:nvSpPr>
              <p:spPr>
                <a:xfrm>
                  <a:off x="1905813" y="1605800"/>
                  <a:ext cx="153600" cy="181800"/>
                </a:xfrm>
                <a:prstGeom prst="ellipse">
                  <a:avLst/>
                </a:prstGeom>
                <a:solidFill>
                  <a:schemeClr val="lt1"/>
                </a:solidFill>
                <a:ln cap="flat" cmpd="sng" w="132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194825" lIns="194825" spcFirstLastPara="1" rIns="194825" wrap="square" tIns="1948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2918"/>
                </a:p>
              </p:txBody>
            </p:sp>
            <p:sp>
              <p:nvSpPr>
                <p:cNvPr id="1802" name="Google Shape;1802;p26"/>
                <p:cNvSpPr txBox="1"/>
                <p:nvPr/>
              </p:nvSpPr>
              <p:spPr>
                <a:xfrm>
                  <a:off x="1960890" y="1496535"/>
                  <a:ext cx="816000" cy="317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94825" lIns="194825" spcFirstLastPara="1" rIns="194825" wrap="square" tIns="1948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1250">
                      <a:solidFill>
                        <a:schemeClr val="lt1"/>
                      </a:solidFill>
                    </a:rPr>
                    <a:t>Off</a:t>
                  </a:r>
                  <a:endParaRPr sz="1250">
                    <a:solidFill>
                      <a:schemeClr val="lt1"/>
                    </a:solidFill>
                  </a:endParaRPr>
                </a:p>
              </p:txBody>
            </p:sp>
          </p:grpSp>
        </p:grpSp>
        <p:sp>
          <p:nvSpPr>
            <p:cNvPr id="1803" name="Google Shape;1803;p26"/>
            <p:cNvSpPr txBox="1"/>
            <p:nvPr/>
          </p:nvSpPr>
          <p:spPr>
            <a:xfrm>
              <a:off x="313750" y="2449250"/>
              <a:ext cx="30000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chemeClr val="dk1"/>
                  </a:solidFill>
                </a:rPr>
                <a:t>Material Availability Scenarios</a:t>
              </a:r>
              <a:endParaRPr b="1">
                <a:solidFill>
                  <a:schemeClr val="dk1"/>
                </a:solidFill>
              </a:endParaRPr>
            </a:p>
          </p:txBody>
        </p:sp>
      </p:grpSp>
      <p:sp>
        <p:nvSpPr>
          <p:cNvPr id="1804" name="Google Shape;1804;p26"/>
          <p:cNvSpPr/>
          <p:nvPr/>
        </p:nvSpPr>
        <p:spPr>
          <a:xfrm>
            <a:off x="309465" y="3259555"/>
            <a:ext cx="3608960" cy="2665475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94825" lIns="194825" spcFirstLastPara="1" rIns="194825" wrap="square" tIns="1948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solidFill>
                  <a:schemeClr val="dk1"/>
                </a:solidFill>
              </a:rPr>
              <a:t>Alternative Materials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300">
                <a:solidFill>
                  <a:srgbClr val="666666"/>
                </a:solidFill>
              </a:rPr>
              <a:t>Recycled timber</a:t>
            </a:r>
            <a:endParaRPr i="1" sz="130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300">
                <a:solidFill>
                  <a:srgbClr val="666666"/>
                </a:solidFill>
              </a:rPr>
              <a:t>Fly ash</a:t>
            </a:r>
            <a:endParaRPr i="1" sz="130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300">
                <a:solidFill>
                  <a:srgbClr val="666666"/>
                </a:solidFill>
              </a:rPr>
              <a:t>Blast furnace </a:t>
            </a:r>
            <a:r>
              <a:rPr i="1" lang="en" sz="1300">
                <a:solidFill>
                  <a:srgbClr val="666666"/>
                </a:solidFill>
              </a:rPr>
              <a:t>slag</a:t>
            </a:r>
            <a:endParaRPr i="1" sz="130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300">
                <a:solidFill>
                  <a:srgbClr val="666666"/>
                </a:solidFill>
              </a:rPr>
              <a:t>Recycled steel</a:t>
            </a:r>
            <a:endParaRPr i="1" sz="1300">
              <a:solidFill>
                <a:srgbClr val="666666"/>
              </a:solidFill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1300">
                <a:solidFill>
                  <a:srgbClr val="666666"/>
                </a:solidFill>
              </a:rPr>
              <a:t>…</a:t>
            </a:r>
            <a:endParaRPr b="1" i="1" sz="12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50">
              <a:solidFill>
                <a:schemeClr val="dk1"/>
              </a:solidFill>
            </a:endParaRPr>
          </a:p>
        </p:txBody>
      </p:sp>
      <p:grpSp>
        <p:nvGrpSpPr>
          <p:cNvPr id="1805" name="Google Shape;1805;p26"/>
          <p:cNvGrpSpPr/>
          <p:nvPr/>
        </p:nvGrpSpPr>
        <p:grpSpPr>
          <a:xfrm>
            <a:off x="2946595" y="3206173"/>
            <a:ext cx="1379400" cy="441300"/>
            <a:chOff x="2288643" y="3791740"/>
            <a:chExt cx="1379400" cy="441300"/>
          </a:xfrm>
        </p:grpSpPr>
        <p:grpSp>
          <p:nvGrpSpPr>
            <p:cNvPr id="1806" name="Google Shape;1806;p26"/>
            <p:cNvGrpSpPr/>
            <p:nvPr/>
          </p:nvGrpSpPr>
          <p:grpSpPr>
            <a:xfrm>
              <a:off x="2366608" y="3951165"/>
              <a:ext cx="721768" cy="252684"/>
              <a:chOff x="1477442" y="1270191"/>
              <a:chExt cx="427006" cy="181800"/>
            </a:xfrm>
          </p:grpSpPr>
          <p:sp>
            <p:nvSpPr>
              <p:cNvPr id="1807" name="Google Shape;1807;p26"/>
              <p:cNvSpPr/>
              <p:nvPr/>
            </p:nvSpPr>
            <p:spPr>
              <a:xfrm>
                <a:off x="1477442" y="1270233"/>
                <a:ext cx="421893" cy="181722"/>
              </a:xfrm>
              <a:prstGeom prst="flowChartMagneticDrum">
                <a:avLst/>
              </a:prstGeom>
              <a:solidFill>
                <a:srgbClr val="AAD3E0"/>
              </a:solidFill>
              <a:ln cap="flat" cmpd="sng" w="132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194825" lIns="194825" spcFirstLastPara="1" rIns="194825" wrap="square" tIns="1948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918"/>
              </a:p>
            </p:txBody>
          </p:sp>
          <p:sp>
            <p:nvSpPr>
              <p:cNvPr id="1808" name="Google Shape;1808;p26"/>
              <p:cNvSpPr/>
              <p:nvPr/>
            </p:nvSpPr>
            <p:spPr>
              <a:xfrm>
                <a:off x="1750848" y="1270191"/>
                <a:ext cx="153600" cy="181800"/>
              </a:xfrm>
              <a:prstGeom prst="ellipse">
                <a:avLst/>
              </a:prstGeom>
              <a:solidFill>
                <a:schemeClr val="lt1"/>
              </a:solidFill>
              <a:ln cap="flat" cmpd="sng" w="132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194825" lIns="194825" spcFirstLastPara="1" rIns="194825" wrap="square" tIns="1948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918"/>
              </a:p>
            </p:txBody>
          </p:sp>
        </p:grpSp>
        <p:sp>
          <p:nvSpPr>
            <p:cNvPr id="1809" name="Google Shape;1809;p26"/>
            <p:cNvSpPr txBox="1"/>
            <p:nvPr/>
          </p:nvSpPr>
          <p:spPr>
            <a:xfrm>
              <a:off x="2288643" y="3791740"/>
              <a:ext cx="1379400" cy="44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94825" lIns="194825" spcFirstLastPara="1" rIns="194825" wrap="square" tIns="1948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50">
                  <a:solidFill>
                    <a:schemeClr val="lt1"/>
                  </a:solidFill>
                </a:rPr>
                <a:t>On</a:t>
              </a:r>
              <a:endParaRPr sz="1250">
                <a:solidFill>
                  <a:schemeClr val="lt1"/>
                </a:solidFill>
              </a:endParaRPr>
            </a:p>
          </p:txBody>
        </p:sp>
      </p:grpSp>
      <p:grpSp>
        <p:nvGrpSpPr>
          <p:cNvPr id="1810" name="Google Shape;1810;p26"/>
          <p:cNvGrpSpPr/>
          <p:nvPr/>
        </p:nvGrpSpPr>
        <p:grpSpPr>
          <a:xfrm>
            <a:off x="2045246" y="3908300"/>
            <a:ext cx="1949382" cy="321557"/>
            <a:chOff x="2045246" y="3908300"/>
            <a:chExt cx="1949382" cy="321557"/>
          </a:xfrm>
        </p:grpSpPr>
        <p:cxnSp>
          <p:nvCxnSpPr>
            <p:cNvPr id="1811" name="Google Shape;1811;p26"/>
            <p:cNvCxnSpPr/>
            <p:nvPr/>
          </p:nvCxnSpPr>
          <p:spPr>
            <a:xfrm>
              <a:off x="2188175" y="3990194"/>
              <a:ext cx="15102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2" name="Google Shape;1812;p26"/>
            <p:cNvCxnSpPr/>
            <p:nvPr/>
          </p:nvCxnSpPr>
          <p:spPr>
            <a:xfrm rot="10800000">
              <a:off x="2188175" y="3908300"/>
              <a:ext cx="2700" cy="163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3" name="Google Shape;1813;p26"/>
            <p:cNvCxnSpPr/>
            <p:nvPr/>
          </p:nvCxnSpPr>
          <p:spPr>
            <a:xfrm rot="10800000">
              <a:off x="3698375" y="3908300"/>
              <a:ext cx="2700" cy="163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14" name="Google Shape;1814;p26"/>
            <p:cNvSpPr txBox="1"/>
            <p:nvPr/>
          </p:nvSpPr>
          <p:spPr>
            <a:xfrm>
              <a:off x="2045246" y="3990457"/>
              <a:ext cx="332100" cy="23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60">
                  <a:solidFill>
                    <a:schemeClr val="dk2"/>
                  </a:solidFill>
                </a:rPr>
                <a:t>0%</a:t>
              </a:r>
              <a:endParaRPr sz="660">
                <a:solidFill>
                  <a:schemeClr val="dk2"/>
                </a:solidFill>
              </a:endParaRPr>
            </a:p>
          </p:txBody>
        </p:sp>
        <p:sp>
          <p:nvSpPr>
            <p:cNvPr id="1815" name="Google Shape;1815;p26"/>
            <p:cNvSpPr txBox="1"/>
            <p:nvPr/>
          </p:nvSpPr>
          <p:spPr>
            <a:xfrm>
              <a:off x="3525128" y="3979561"/>
              <a:ext cx="469500" cy="23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60">
                  <a:solidFill>
                    <a:schemeClr val="dk2"/>
                  </a:solidFill>
                </a:rPr>
                <a:t>10</a:t>
              </a:r>
              <a:r>
                <a:rPr lang="en" sz="660">
                  <a:solidFill>
                    <a:schemeClr val="dk2"/>
                  </a:solidFill>
                </a:rPr>
                <a:t>0%</a:t>
              </a:r>
              <a:endParaRPr sz="660">
                <a:solidFill>
                  <a:schemeClr val="dk2"/>
                </a:solidFill>
              </a:endParaRPr>
            </a:p>
          </p:txBody>
        </p:sp>
        <p:sp>
          <p:nvSpPr>
            <p:cNvPr id="1816" name="Google Shape;1816;p26"/>
            <p:cNvSpPr/>
            <p:nvPr/>
          </p:nvSpPr>
          <p:spPr>
            <a:xfrm>
              <a:off x="3123800" y="3912425"/>
              <a:ext cx="92100" cy="163800"/>
            </a:xfrm>
            <a:prstGeom prst="rect">
              <a:avLst/>
            </a:prstGeom>
            <a:solidFill>
              <a:srgbClr val="AAD3E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17" name="Google Shape;1817;p26"/>
          <p:cNvGrpSpPr/>
          <p:nvPr/>
        </p:nvGrpSpPr>
        <p:grpSpPr>
          <a:xfrm>
            <a:off x="2049912" y="4199954"/>
            <a:ext cx="1949382" cy="321557"/>
            <a:chOff x="2045246" y="3908300"/>
            <a:chExt cx="1949382" cy="321557"/>
          </a:xfrm>
        </p:grpSpPr>
        <p:cxnSp>
          <p:nvCxnSpPr>
            <p:cNvPr id="1818" name="Google Shape;1818;p26"/>
            <p:cNvCxnSpPr/>
            <p:nvPr/>
          </p:nvCxnSpPr>
          <p:spPr>
            <a:xfrm>
              <a:off x="2188175" y="3990194"/>
              <a:ext cx="15102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19" name="Google Shape;1819;p26"/>
            <p:cNvCxnSpPr/>
            <p:nvPr/>
          </p:nvCxnSpPr>
          <p:spPr>
            <a:xfrm rot="10800000">
              <a:off x="2188175" y="3908300"/>
              <a:ext cx="2700" cy="163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20" name="Google Shape;1820;p26"/>
            <p:cNvCxnSpPr/>
            <p:nvPr/>
          </p:nvCxnSpPr>
          <p:spPr>
            <a:xfrm rot="10800000">
              <a:off x="3698375" y="3908300"/>
              <a:ext cx="2700" cy="163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21" name="Google Shape;1821;p26"/>
            <p:cNvSpPr txBox="1"/>
            <p:nvPr/>
          </p:nvSpPr>
          <p:spPr>
            <a:xfrm>
              <a:off x="2045246" y="3990457"/>
              <a:ext cx="332100" cy="23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60">
                  <a:solidFill>
                    <a:schemeClr val="dk2"/>
                  </a:solidFill>
                </a:rPr>
                <a:t>0%</a:t>
              </a:r>
              <a:endParaRPr sz="660">
                <a:solidFill>
                  <a:schemeClr val="dk2"/>
                </a:solidFill>
              </a:endParaRPr>
            </a:p>
          </p:txBody>
        </p:sp>
        <p:sp>
          <p:nvSpPr>
            <p:cNvPr id="1822" name="Google Shape;1822;p26"/>
            <p:cNvSpPr txBox="1"/>
            <p:nvPr/>
          </p:nvSpPr>
          <p:spPr>
            <a:xfrm>
              <a:off x="3525128" y="3979561"/>
              <a:ext cx="469500" cy="23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60">
                  <a:solidFill>
                    <a:schemeClr val="dk2"/>
                  </a:solidFill>
                </a:rPr>
                <a:t>100%</a:t>
              </a:r>
              <a:endParaRPr sz="660">
                <a:solidFill>
                  <a:schemeClr val="dk2"/>
                </a:solidFill>
              </a:endParaRPr>
            </a:p>
          </p:txBody>
        </p:sp>
        <p:sp>
          <p:nvSpPr>
            <p:cNvPr id="1823" name="Google Shape;1823;p26"/>
            <p:cNvSpPr/>
            <p:nvPr/>
          </p:nvSpPr>
          <p:spPr>
            <a:xfrm>
              <a:off x="2477149" y="3912425"/>
              <a:ext cx="92100" cy="163800"/>
            </a:xfrm>
            <a:prstGeom prst="rect">
              <a:avLst/>
            </a:prstGeom>
            <a:solidFill>
              <a:srgbClr val="AAD3E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24" name="Google Shape;1824;p26"/>
          <p:cNvGrpSpPr/>
          <p:nvPr/>
        </p:nvGrpSpPr>
        <p:grpSpPr>
          <a:xfrm>
            <a:off x="2054827" y="4491609"/>
            <a:ext cx="1949382" cy="321557"/>
            <a:chOff x="2045246" y="3908300"/>
            <a:chExt cx="1949382" cy="321557"/>
          </a:xfrm>
        </p:grpSpPr>
        <p:cxnSp>
          <p:nvCxnSpPr>
            <p:cNvPr id="1825" name="Google Shape;1825;p26"/>
            <p:cNvCxnSpPr/>
            <p:nvPr/>
          </p:nvCxnSpPr>
          <p:spPr>
            <a:xfrm>
              <a:off x="2188175" y="3990194"/>
              <a:ext cx="15102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26" name="Google Shape;1826;p26"/>
            <p:cNvCxnSpPr/>
            <p:nvPr/>
          </p:nvCxnSpPr>
          <p:spPr>
            <a:xfrm rot="10800000">
              <a:off x="2188175" y="3908300"/>
              <a:ext cx="2700" cy="163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27" name="Google Shape;1827;p26"/>
            <p:cNvCxnSpPr/>
            <p:nvPr/>
          </p:nvCxnSpPr>
          <p:spPr>
            <a:xfrm rot="10800000">
              <a:off x="3698375" y="3908300"/>
              <a:ext cx="2700" cy="163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28" name="Google Shape;1828;p26"/>
            <p:cNvSpPr txBox="1"/>
            <p:nvPr/>
          </p:nvSpPr>
          <p:spPr>
            <a:xfrm>
              <a:off x="2045246" y="3990457"/>
              <a:ext cx="332100" cy="23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60">
                  <a:solidFill>
                    <a:schemeClr val="dk2"/>
                  </a:solidFill>
                </a:rPr>
                <a:t>0%</a:t>
              </a:r>
              <a:endParaRPr sz="660">
                <a:solidFill>
                  <a:schemeClr val="dk2"/>
                </a:solidFill>
              </a:endParaRPr>
            </a:p>
          </p:txBody>
        </p:sp>
        <p:sp>
          <p:nvSpPr>
            <p:cNvPr id="1829" name="Google Shape;1829;p26"/>
            <p:cNvSpPr txBox="1"/>
            <p:nvPr/>
          </p:nvSpPr>
          <p:spPr>
            <a:xfrm>
              <a:off x="3525128" y="3979561"/>
              <a:ext cx="469500" cy="23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60">
                  <a:solidFill>
                    <a:schemeClr val="dk2"/>
                  </a:solidFill>
                </a:rPr>
                <a:t>100%</a:t>
              </a:r>
              <a:endParaRPr sz="660">
                <a:solidFill>
                  <a:schemeClr val="dk2"/>
                </a:solidFill>
              </a:endParaRPr>
            </a:p>
          </p:txBody>
        </p:sp>
        <p:sp>
          <p:nvSpPr>
            <p:cNvPr id="1830" name="Google Shape;1830;p26"/>
            <p:cNvSpPr/>
            <p:nvPr/>
          </p:nvSpPr>
          <p:spPr>
            <a:xfrm>
              <a:off x="2730566" y="3912425"/>
              <a:ext cx="92100" cy="163800"/>
            </a:xfrm>
            <a:prstGeom prst="rect">
              <a:avLst/>
            </a:prstGeom>
            <a:solidFill>
              <a:srgbClr val="AAD3E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31" name="Google Shape;1831;p26"/>
          <p:cNvGrpSpPr/>
          <p:nvPr/>
        </p:nvGrpSpPr>
        <p:grpSpPr>
          <a:xfrm>
            <a:off x="2056832" y="4783263"/>
            <a:ext cx="1949382" cy="321557"/>
            <a:chOff x="2045246" y="3908300"/>
            <a:chExt cx="1949382" cy="321557"/>
          </a:xfrm>
        </p:grpSpPr>
        <p:cxnSp>
          <p:nvCxnSpPr>
            <p:cNvPr id="1832" name="Google Shape;1832;p26"/>
            <p:cNvCxnSpPr/>
            <p:nvPr/>
          </p:nvCxnSpPr>
          <p:spPr>
            <a:xfrm>
              <a:off x="2188175" y="3990194"/>
              <a:ext cx="15102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33" name="Google Shape;1833;p26"/>
            <p:cNvCxnSpPr/>
            <p:nvPr/>
          </p:nvCxnSpPr>
          <p:spPr>
            <a:xfrm rot="10800000">
              <a:off x="2188175" y="3908300"/>
              <a:ext cx="2700" cy="163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34" name="Google Shape;1834;p26"/>
            <p:cNvCxnSpPr/>
            <p:nvPr/>
          </p:nvCxnSpPr>
          <p:spPr>
            <a:xfrm rot="10800000">
              <a:off x="3698375" y="3908300"/>
              <a:ext cx="2700" cy="1638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35" name="Google Shape;1835;p26"/>
            <p:cNvSpPr txBox="1"/>
            <p:nvPr/>
          </p:nvSpPr>
          <p:spPr>
            <a:xfrm>
              <a:off x="2045246" y="3990457"/>
              <a:ext cx="332100" cy="23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60">
                  <a:solidFill>
                    <a:schemeClr val="dk2"/>
                  </a:solidFill>
                </a:rPr>
                <a:t>0%</a:t>
              </a:r>
              <a:endParaRPr sz="660">
                <a:solidFill>
                  <a:schemeClr val="dk2"/>
                </a:solidFill>
              </a:endParaRPr>
            </a:p>
          </p:txBody>
        </p:sp>
        <p:sp>
          <p:nvSpPr>
            <p:cNvPr id="1836" name="Google Shape;1836;p26"/>
            <p:cNvSpPr txBox="1"/>
            <p:nvPr/>
          </p:nvSpPr>
          <p:spPr>
            <a:xfrm>
              <a:off x="3525128" y="3979561"/>
              <a:ext cx="469500" cy="239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60">
                  <a:solidFill>
                    <a:schemeClr val="dk2"/>
                  </a:solidFill>
                </a:rPr>
                <a:t>100%</a:t>
              </a:r>
              <a:endParaRPr sz="660">
                <a:solidFill>
                  <a:schemeClr val="dk2"/>
                </a:solidFill>
              </a:endParaRPr>
            </a:p>
          </p:txBody>
        </p:sp>
        <p:sp>
          <p:nvSpPr>
            <p:cNvPr id="1837" name="Google Shape;1837;p26"/>
            <p:cNvSpPr/>
            <p:nvPr/>
          </p:nvSpPr>
          <p:spPr>
            <a:xfrm>
              <a:off x="3368479" y="3912425"/>
              <a:ext cx="92100" cy="163800"/>
            </a:xfrm>
            <a:prstGeom prst="rect">
              <a:avLst/>
            </a:prstGeom>
            <a:solidFill>
              <a:srgbClr val="AAD3E0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38" name="Google Shape;1838;p26"/>
          <p:cNvSpPr/>
          <p:nvPr/>
        </p:nvSpPr>
        <p:spPr>
          <a:xfrm>
            <a:off x="450400" y="5405342"/>
            <a:ext cx="3249900" cy="332100"/>
          </a:xfrm>
          <a:prstGeom prst="roundRect">
            <a:avLst>
              <a:gd fmla="val 16667" name="adj"/>
            </a:avLst>
          </a:prstGeom>
          <a:solidFill>
            <a:srgbClr val="AAD3E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1300">
                <a:solidFill>
                  <a:srgbClr val="666666"/>
                </a:solidFill>
              </a:rPr>
              <a:t>Estimate impact of material substitutions</a:t>
            </a:r>
            <a:endParaRPr/>
          </a:p>
        </p:txBody>
      </p:sp>
      <p:pic>
        <p:nvPicPr>
          <p:cNvPr id="1839" name="Google Shape;1839;p2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89896" y="5661719"/>
            <a:ext cx="259800" cy="388892"/>
          </a:xfrm>
          <a:prstGeom prst="rect">
            <a:avLst/>
          </a:prstGeom>
          <a:noFill/>
          <a:ln>
            <a:noFill/>
          </a:ln>
        </p:spPr>
      </p:pic>
      <p:sp>
        <p:nvSpPr>
          <p:cNvPr id="1840" name="Google Shape;1840;p26"/>
          <p:cNvSpPr/>
          <p:nvPr/>
        </p:nvSpPr>
        <p:spPr>
          <a:xfrm>
            <a:off x="-3678" y="-1570"/>
            <a:ext cx="13725900" cy="811200"/>
          </a:xfrm>
          <a:prstGeom prst="rect">
            <a:avLst/>
          </a:prstGeom>
          <a:solidFill>
            <a:srgbClr val="EDF7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41" name="Google Shape;1841;p2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1400" y="140109"/>
            <a:ext cx="672433" cy="510249"/>
          </a:xfrm>
          <a:prstGeom prst="rect">
            <a:avLst/>
          </a:prstGeom>
          <a:noFill/>
          <a:ln>
            <a:noFill/>
          </a:ln>
        </p:spPr>
      </p:pic>
      <p:sp>
        <p:nvSpPr>
          <p:cNvPr id="1842" name="Google Shape;1842;p26"/>
          <p:cNvSpPr txBox="1"/>
          <p:nvPr>
            <p:ph idx="1" type="subTitle"/>
          </p:nvPr>
        </p:nvSpPr>
        <p:spPr>
          <a:xfrm>
            <a:off x="761825" y="140088"/>
            <a:ext cx="12825300" cy="510300"/>
          </a:xfrm>
          <a:prstGeom prst="rect">
            <a:avLst/>
          </a:prstGeom>
          <a:ln>
            <a:noFill/>
          </a:ln>
        </p:spPr>
        <p:txBody>
          <a:bodyPr anchorCtr="0" anchor="t" bIns="140175" lIns="140175" spcFirstLastPara="1" rIns="140175" wrap="square" tIns="1401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>
                <a:latin typeface="Merriweather"/>
                <a:ea typeface="Merriweather"/>
                <a:cs typeface="Merriweather"/>
                <a:sym typeface="Merriweather"/>
              </a:rPr>
              <a:t>Building Supply chain Material Analysis and Risk Trade-off Tool (BuildSMART v1)</a:t>
            </a:r>
            <a:r>
              <a:rPr b="1" lang="en" sz="1700"/>
              <a:t>           </a:t>
            </a:r>
            <a:r>
              <a:rPr b="1" lang="en" sz="1700">
                <a:solidFill>
                  <a:srgbClr val="999999"/>
                </a:solidFill>
              </a:rPr>
              <a:t>Main Page         </a:t>
            </a:r>
            <a:r>
              <a:rPr b="1" lang="en" sz="1700">
                <a:solidFill>
                  <a:srgbClr val="999999"/>
                </a:solidFill>
              </a:rPr>
              <a:t>About</a:t>
            </a:r>
            <a:r>
              <a:rPr b="1" lang="en" sz="1700">
                <a:solidFill>
                  <a:srgbClr val="999999"/>
                </a:solidFill>
              </a:rPr>
              <a:t>          Contact</a:t>
            </a:r>
            <a:endParaRPr b="1" sz="1700">
              <a:solidFill>
                <a:srgbClr val="999999"/>
              </a:solidFill>
            </a:endParaRPr>
          </a:p>
        </p:txBody>
      </p:sp>
      <p:grpSp>
        <p:nvGrpSpPr>
          <p:cNvPr id="1843" name="Google Shape;1843;p26"/>
          <p:cNvGrpSpPr/>
          <p:nvPr/>
        </p:nvGrpSpPr>
        <p:grpSpPr>
          <a:xfrm>
            <a:off x="4340597" y="932880"/>
            <a:ext cx="9050971" cy="6797125"/>
            <a:chOff x="4340597" y="932880"/>
            <a:chExt cx="9050971" cy="6797125"/>
          </a:xfrm>
        </p:grpSpPr>
        <p:grpSp>
          <p:nvGrpSpPr>
            <p:cNvPr id="1844" name="Google Shape;1844;p26"/>
            <p:cNvGrpSpPr/>
            <p:nvPr/>
          </p:nvGrpSpPr>
          <p:grpSpPr>
            <a:xfrm>
              <a:off x="4340597" y="7083175"/>
              <a:ext cx="4557232" cy="618331"/>
              <a:chOff x="4268193" y="552116"/>
              <a:chExt cx="6213843" cy="697025"/>
            </a:xfrm>
          </p:grpSpPr>
          <p:sp>
            <p:nvSpPr>
              <p:cNvPr id="1845" name="Google Shape;1845;p26"/>
              <p:cNvSpPr/>
              <p:nvPr/>
            </p:nvSpPr>
            <p:spPr>
              <a:xfrm>
                <a:off x="6760562" y="609015"/>
                <a:ext cx="3546300" cy="255600"/>
              </a:xfrm>
              <a:prstGeom prst="roundRect">
                <a:avLst>
                  <a:gd fmla="val 16667" name="adj"/>
                </a:avLst>
              </a:prstGeom>
              <a:solidFill>
                <a:schemeClr val="lt2"/>
              </a:solidFill>
              <a:ln cap="flat" cmpd="sng" w="84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1100" lIns="81100" spcFirstLastPara="1" rIns="81100" wrap="square" tIns="811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41"/>
              </a:p>
            </p:txBody>
          </p:sp>
          <p:sp>
            <p:nvSpPr>
              <p:cNvPr id="1846" name="Google Shape;1846;p26"/>
              <p:cNvSpPr txBox="1"/>
              <p:nvPr/>
            </p:nvSpPr>
            <p:spPr>
              <a:xfrm>
                <a:off x="4268193" y="552116"/>
                <a:ext cx="2855100" cy="28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1100" lIns="81100" spcFirstLastPara="1" rIns="81100" wrap="square" tIns="811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86">
                    <a:solidFill>
                      <a:srgbClr val="B7B7B7"/>
                    </a:solidFill>
                  </a:rPr>
                  <a:t>CONSTRUCTION YEAR</a:t>
                </a:r>
                <a:endParaRPr b="1" sz="1186">
                  <a:solidFill>
                    <a:srgbClr val="B7B7B7"/>
                  </a:solidFill>
                </a:endParaRPr>
              </a:p>
            </p:txBody>
          </p:sp>
          <p:sp>
            <p:nvSpPr>
              <p:cNvPr id="1847" name="Google Shape;1847;p26"/>
              <p:cNvSpPr txBox="1"/>
              <p:nvPr/>
            </p:nvSpPr>
            <p:spPr>
              <a:xfrm>
                <a:off x="6732035" y="810841"/>
                <a:ext cx="37500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1100" lIns="81100" spcFirstLastPara="1" rIns="81100" wrap="square" tIns="811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20">
                    <a:solidFill>
                      <a:schemeClr val="dk2"/>
                    </a:solidFill>
                  </a:rPr>
                  <a:t>2020	2030	2040	2050	2060	2070</a:t>
                </a:r>
                <a:endParaRPr sz="620">
                  <a:solidFill>
                    <a:schemeClr val="dk2"/>
                  </a:solidFill>
                </a:endParaRPr>
              </a:p>
            </p:txBody>
          </p:sp>
          <p:sp>
            <p:nvSpPr>
              <p:cNvPr id="1848" name="Google Shape;1848;p26"/>
              <p:cNvSpPr/>
              <p:nvPr/>
            </p:nvSpPr>
            <p:spPr>
              <a:xfrm>
                <a:off x="6766013" y="605859"/>
                <a:ext cx="283200" cy="255900"/>
              </a:xfrm>
              <a:prstGeom prst="roundRect">
                <a:avLst>
                  <a:gd fmla="val 16667" name="adj"/>
                </a:avLst>
              </a:prstGeom>
              <a:solidFill>
                <a:srgbClr val="AAD3E0"/>
              </a:solidFill>
              <a:ln cap="flat" cmpd="sng" w="84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1100" lIns="81100" spcFirstLastPara="1" rIns="81100" wrap="square" tIns="811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41"/>
              </a:p>
            </p:txBody>
          </p:sp>
        </p:grpSp>
        <p:grpSp>
          <p:nvGrpSpPr>
            <p:cNvPr id="1849" name="Google Shape;1849;p26"/>
            <p:cNvGrpSpPr/>
            <p:nvPr/>
          </p:nvGrpSpPr>
          <p:grpSpPr>
            <a:xfrm>
              <a:off x="8869612" y="4172248"/>
              <a:ext cx="4405034" cy="2794775"/>
              <a:chOff x="9037729" y="4704523"/>
              <a:chExt cx="4405034" cy="2794775"/>
            </a:xfrm>
          </p:grpSpPr>
          <p:grpSp>
            <p:nvGrpSpPr>
              <p:cNvPr id="1850" name="Google Shape;1850;p26"/>
              <p:cNvGrpSpPr/>
              <p:nvPr/>
            </p:nvGrpSpPr>
            <p:grpSpPr>
              <a:xfrm>
                <a:off x="9037729" y="4704523"/>
                <a:ext cx="4405034" cy="2794775"/>
                <a:chOff x="9079752" y="3946051"/>
                <a:chExt cx="4405034" cy="2794775"/>
              </a:xfrm>
            </p:grpSpPr>
            <p:sp>
              <p:nvSpPr>
                <p:cNvPr id="1851" name="Google Shape;1851;p26"/>
                <p:cNvSpPr txBox="1"/>
                <p:nvPr/>
              </p:nvSpPr>
              <p:spPr>
                <a:xfrm>
                  <a:off x="9079752" y="3946051"/>
                  <a:ext cx="4073400" cy="37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73200" lIns="73200" spcFirstLastPara="1" rIns="73200" wrap="square" tIns="73200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1481">
                      <a:solidFill>
                        <a:srgbClr val="666666"/>
                      </a:solidFill>
                    </a:rPr>
                    <a:t>PROJECTED MATERIAL AVAILABILITY</a:t>
                  </a:r>
                  <a:endParaRPr b="1" sz="360">
                    <a:solidFill>
                      <a:srgbClr val="666666"/>
                    </a:solidFill>
                  </a:endParaRPr>
                </a:p>
              </p:txBody>
            </p:sp>
            <p:sp>
              <p:nvSpPr>
                <p:cNvPr id="1852" name="Google Shape;1852;p26"/>
                <p:cNvSpPr/>
                <p:nvPr/>
              </p:nvSpPr>
              <p:spPr>
                <a:xfrm>
                  <a:off x="9148885" y="4259825"/>
                  <a:ext cx="4335900" cy="2481000"/>
                </a:xfrm>
                <a:prstGeom prst="rect">
                  <a:avLst/>
                </a:prstGeom>
                <a:noFill/>
                <a:ln cap="flat" cmpd="sng" w="7650">
                  <a:solidFill>
                    <a:schemeClr val="dk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73200" lIns="73200" spcFirstLastPara="1" rIns="73200" wrap="square" tIns="7320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120"/>
                </a:p>
              </p:txBody>
            </p:sp>
            <p:pic>
              <p:nvPicPr>
                <p:cNvPr id="1853" name="Google Shape;1853;p26" title="Screenshot 2026-02-19 at 10.15.05 AM.png"/>
                <p:cNvPicPr preferRelativeResize="0"/>
                <p:nvPr/>
              </p:nvPicPr>
              <p:blipFill rotWithShape="1">
                <a:blip r:embed="rId7">
                  <a:alphaModFix/>
                </a:blip>
                <a:srcRect b="0" l="0" r="-281" t="0"/>
                <a:stretch/>
              </p:blipFill>
              <p:spPr>
                <a:xfrm>
                  <a:off x="9286250" y="4386900"/>
                  <a:ext cx="4073401" cy="2226850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9999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pic>
          </p:grpSp>
          <p:pic>
            <p:nvPicPr>
              <p:cNvPr id="1854" name="Google Shape;1854;p26" title="expand-icon-symbol-design-illustration-vector.jpg"/>
              <p:cNvPicPr preferRelativeResize="0"/>
              <p:nvPr/>
            </p:nvPicPr>
            <p:blipFill rotWithShape="1">
              <a:blip r:embed="rId8">
                <a:alphaModFix/>
              </a:blip>
              <a:srcRect b="11143" l="12219" r="0" t="0"/>
              <a:stretch/>
            </p:blipFill>
            <p:spPr>
              <a:xfrm>
                <a:off x="13211244" y="5054337"/>
                <a:ext cx="224376" cy="227125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855" name="Google Shape;1855;p26"/>
            <p:cNvGrpSpPr/>
            <p:nvPr/>
          </p:nvGrpSpPr>
          <p:grpSpPr>
            <a:xfrm>
              <a:off x="8869623" y="932880"/>
              <a:ext cx="4405039" cy="2799675"/>
              <a:chOff x="8869623" y="932880"/>
              <a:chExt cx="4405039" cy="2799675"/>
            </a:xfrm>
          </p:grpSpPr>
          <p:sp>
            <p:nvSpPr>
              <p:cNvPr id="1856" name="Google Shape;1856;p26"/>
              <p:cNvSpPr/>
              <p:nvPr/>
            </p:nvSpPr>
            <p:spPr>
              <a:xfrm>
                <a:off x="8938762" y="1239935"/>
                <a:ext cx="4335900" cy="2481000"/>
              </a:xfrm>
              <a:prstGeom prst="rect">
                <a:avLst/>
              </a:prstGeom>
              <a:noFill/>
              <a:ln cap="flat" cmpd="sng" w="7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3200" lIns="73200" spcFirstLastPara="1" rIns="73200" wrap="square" tIns="732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120"/>
              </a:p>
            </p:txBody>
          </p:sp>
          <p:pic>
            <p:nvPicPr>
              <p:cNvPr id="1857" name="Google Shape;1857;p26" title="Chart"/>
              <p:cNvPicPr preferRelativeResize="0"/>
              <p:nvPr/>
            </p:nvPicPr>
            <p:blipFill rotWithShape="1">
              <a:blip r:embed="rId9">
                <a:alphaModFix/>
              </a:blip>
              <a:srcRect b="0" l="0" r="0" t="11174"/>
              <a:stretch/>
            </p:blipFill>
            <p:spPr>
              <a:xfrm>
                <a:off x="9117399" y="1378293"/>
                <a:ext cx="3909465" cy="2147287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858" name="Google Shape;1858;p26"/>
              <p:cNvSpPr txBox="1"/>
              <p:nvPr/>
            </p:nvSpPr>
            <p:spPr>
              <a:xfrm>
                <a:off x="10027381" y="3473355"/>
                <a:ext cx="2451300" cy="2592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74700" lIns="74700" spcFirstLastPara="1" rIns="74700" wrap="square" tIns="74700">
                <a:sp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702">
                    <a:solidFill>
                      <a:schemeClr val="dk1"/>
                    </a:solidFill>
                  </a:rPr>
                  <a:t>Material Cost (USD)</a:t>
                </a:r>
                <a:endParaRPr sz="702">
                  <a:solidFill>
                    <a:schemeClr val="dk1"/>
                  </a:solidFill>
                </a:endParaRPr>
              </a:p>
            </p:txBody>
          </p:sp>
          <p:sp>
            <p:nvSpPr>
              <p:cNvPr id="1859" name="Google Shape;1859;p26"/>
              <p:cNvSpPr txBox="1"/>
              <p:nvPr/>
            </p:nvSpPr>
            <p:spPr>
              <a:xfrm>
                <a:off x="8869623" y="932880"/>
                <a:ext cx="3537000" cy="37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73200" lIns="73200" spcFirstLastPara="1" rIns="73200" wrap="square" tIns="732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81">
                    <a:solidFill>
                      <a:srgbClr val="666666"/>
                    </a:solidFill>
                  </a:rPr>
                  <a:t>BASELINE MATERIAL COST</a:t>
                </a:r>
                <a:endParaRPr b="1" sz="360">
                  <a:solidFill>
                    <a:srgbClr val="666666"/>
                  </a:solidFill>
                </a:endParaRPr>
              </a:p>
            </p:txBody>
          </p:sp>
          <p:pic>
            <p:nvPicPr>
              <p:cNvPr id="1860" name="Google Shape;1860;p26" title="download.png"/>
              <p:cNvPicPr preferRelativeResize="0"/>
              <p:nvPr/>
            </p:nvPicPr>
            <p:blipFill>
              <a:blip r:embed="rId10">
                <a:alphaModFix/>
              </a:blip>
              <a:stretch>
                <a:fillRect/>
              </a:stretch>
            </p:blipFill>
            <p:spPr>
              <a:xfrm>
                <a:off x="12975775" y="1284577"/>
                <a:ext cx="259800" cy="25980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grpSp>
          <p:nvGrpSpPr>
            <p:cNvPr id="1861" name="Google Shape;1861;p26"/>
            <p:cNvGrpSpPr/>
            <p:nvPr/>
          </p:nvGrpSpPr>
          <p:grpSpPr>
            <a:xfrm>
              <a:off x="4349911" y="934411"/>
              <a:ext cx="4421103" cy="2819555"/>
              <a:chOff x="4043712" y="1229950"/>
              <a:chExt cx="5522238" cy="3521803"/>
            </a:xfrm>
          </p:grpSpPr>
          <p:sp>
            <p:nvSpPr>
              <p:cNvPr id="1862" name="Google Shape;1862;p26"/>
              <p:cNvSpPr/>
              <p:nvPr/>
            </p:nvSpPr>
            <p:spPr>
              <a:xfrm>
                <a:off x="4150050" y="1612488"/>
                <a:ext cx="5415900" cy="3099000"/>
              </a:xfrm>
              <a:prstGeom prst="rect">
                <a:avLst/>
              </a:prstGeom>
              <a:noFill/>
              <a:ln cap="flat" cmpd="sng" w="76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73200" lIns="73200" spcFirstLastPara="1" rIns="73200" wrap="square" tIns="732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120"/>
              </a:p>
            </p:txBody>
          </p:sp>
          <p:sp>
            <p:nvSpPr>
              <p:cNvPr id="1863" name="Google Shape;1863;p26"/>
              <p:cNvSpPr txBox="1"/>
              <p:nvPr/>
            </p:nvSpPr>
            <p:spPr>
              <a:xfrm>
                <a:off x="4043712" y="1229950"/>
                <a:ext cx="4417800" cy="469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73200" lIns="73200" spcFirstLastPara="1" rIns="73200" wrap="square" tIns="73200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481">
                    <a:solidFill>
                      <a:srgbClr val="666666"/>
                    </a:solidFill>
                  </a:rPr>
                  <a:t>BASELINE MATERIAL DEMAND</a:t>
                </a:r>
                <a:endParaRPr b="1" sz="360">
                  <a:solidFill>
                    <a:srgbClr val="666666"/>
                  </a:solidFill>
                </a:endParaRPr>
              </a:p>
            </p:txBody>
          </p:sp>
          <p:grpSp>
            <p:nvGrpSpPr>
              <p:cNvPr id="1864" name="Google Shape;1864;p26"/>
              <p:cNvGrpSpPr/>
              <p:nvPr/>
            </p:nvGrpSpPr>
            <p:grpSpPr>
              <a:xfrm>
                <a:off x="4056895" y="4214633"/>
                <a:ext cx="1923164" cy="537120"/>
                <a:chOff x="4257757" y="4214633"/>
                <a:chExt cx="1923164" cy="537120"/>
              </a:xfrm>
            </p:grpSpPr>
            <p:sp>
              <p:nvSpPr>
                <p:cNvPr id="1865" name="Google Shape;1865;p26"/>
                <p:cNvSpPr txBox="1"/>
                <p:nvPr/>
              </p:nvSpPr>
              <p:spPr>
                <a:xfrm>
                  <a:off x="4257757" y="4241453"/>
                  <a:ext cx="1269300" cy="510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156000" lIns="156000" spcFirstLastPara="1" rIns="156000" wrap="square" tIns="15600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761">
                      <a:solidFill>
                        <a:srgbClr val="999999"/>
                      </a:solidFill>
                    </a:rPr>
                    <a:t>Sankey diagram</a:t>
                  </a:r>
                  <a:endParaRPr sz="761">
                    <a:solidFill>
                      <a:srgbClr val="999999"/>
                    </a:solidFill>
                  </a:endParaRPr>
                </a:p>
              </p:txBody>
            </p:sp>
            <p:grpSp>
              <p:nvGrpSpPr>
                <p:cNvPr id="1866" name="Google Shape;1866;p26"/>
                <p:cNvGrpSpPr/>
                <p:nvPr/>
              </p:nvGrpSpPr>
              <p:grpSpPr>
                <a:xfrm>
                  <a:off x="5387374" y="4214633"/>
                  <a:ext cx="793547" cy="433200"/>
                  <a:chOff x="5387374" y="4214633"/>
                  <a:chExt cx="793547" cy="433200"/>
                </a:xfrm>
              </p:grpSpPr>
              <p:grpSp>
                <p:nvGrpSpPr>
                  <p:cNvPr id="1867" name="Google Shape;1867;p26"/>
                  <p:cNvGrpSpPr/>
                  <p:nvPr/>
                </p:nvGrpSpPr>
                <p:grpSpPr>
                  <a:xfrm>
                    <a:off x="5387374" y="4365780"/>
                    <a:ext cx="761210" cy="261650"/>
                    <a:chOff x="5509499" y="4365730"/>
                    <a:chExt cx="761210" cy="261650"/>
                  </a:xfrm>
                </p:grpSpPr>
                <p:sp>
                  <p:nvSpPr>
                    <p:cNvPr id="1868" name="Google Shape;1868;p26"/>
                    <p:cNvSpPr/>
                    <p:nvPr/>
                  </p:nvSpPr>
                  <p:spPr>
                    <a:xfrm rot="-10800000">
                      <a:off x="5513034" y="4365730"/>
                      <a:ext cx="757675" cy="261650"/>
                    </a:xfrm>
                    <a:prstGeom prst="flowChartMagneticDrum">
                      <a:avLst/>
                    </a:prstGeom>
                    <a:solidFill>
                      <a:srgbClr val="CCCCCC"/>
                    </a:solidFill>
                    <a:ln cap="flat" cmpd="sng" w="106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156000" lIns="156000" spcFirstLastPara="1" rIns="156000" wrap="square" tIns="156000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36"/>
                    </a:p>
                  </p:txBody>
                </p:sp>
                <p:sp>
                  <p:nvSpPr>
                    <p:cNvPr id="1869" name="Google Shape;1869;p26"/>
                    <p:cNvSpPr/>
                    <p:nvPr/>
                  </p:nvSpPr>
                  <p:spPr>
                    <a:xfrm>
                      <a:off x="5509499" y="4370260"/>
                      <a:ext cx="259500" cy="252600"/>
                    </a:xfrm>
                    <a:prstGeom prst="ellipse">
                      <a:avLst/>
                    </a:prstGeom>
                    <a:solidFill>
                      <a:schemeClr val="lt1"/>
                    </a:solidFill>
                    <a:ln cap="flat" cmpd="sng" w="10600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t" bIns="156000" lIns="156000" spcFirstLastPara="1" rIns="156000" wrap="square" tIns="156000">
                      <a:noAutofit/>
                    </a:bodyPr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336"/>
                    </a:p>
                  </p:txBody>
                </p:sp>
              </p:grpSp>
              <p:sp>
                <p:nvSpPr>
                  <p:cNvPr id="1870" name="Google Shape;1870;p26"/>
                  <p:cNvSpPr txBox="1"/>
                  <p:nvPr/>
                </p:nvSpPr>
                <p:spPr>
                  <a:xfrm>
                    <a:off x="5508621" y="4214633"/>
                    <a:ext cx="672300" cy="4332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156000" lIns="156000" spcFirstLastPara="1" rIns="156000" wrap="square" tIns="156000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" sz="1001">
                        <a:solidFill>
                          <a:schemeClr val="lt1"/>
                        </a:solidFill>
                      </a:rPr>
                      <a:t>Off</a:t>
                    </a:r>
                    <a:endParaRPr sz="1001">
                      <a:solidFill>
                        <a:schemeClr val="lt1"/>
                      </a:solidFill>
                    </a:endParaRPr>
                  </a:p>
                </p:txBody>
              </p:sp>
            </p:grpSp>
          </p:grpSp>
        </p:grpSp>
        <p:grpSp>
          <p:nvGrpSpPr>
            <p:cNvPr id="1871" name="Google Shape;1871;p26"/>
            <p:cNvGrpSpPr/>
            <p:nvPr/>
          </p:nvGrpSpPr>
          <p:grpSpPr>
            <a:xfrm>
              <a:off x="4349911" y="4181419"/>
              <a:ext cx="5208207" cy="2819555"/>
              <a:chOff x="4349911" y="4181419"/>
              <a:chExt cx="5208207" cy="2819555"/>
            </a:xfrm>
          </p:grpSpPr>
          <p:grpSp>
            <p:nvGrpSpPr>
              <p:cNvPr id="1872" name="Google Shape;1872;p26"/>
              <p:cNvGrpSpPr/>
              <p:nvPr/>
            </p:nvGrpSpPr>
            <p:grpSpPr>
              <a:xfrm>
                <a:off x="4349911" y="4181419"/>
                <a:ext cx="4421103" cy="2819555"/>
                <a:chOff x="4349911" y="4181419"/>
                <a:chExt cx="4421103" cy="2819555"/>
              </a:xfrm>
            </p:grpSpPr>
            <p:grpSp>
              <p:nvGrpSpPr>
                <p:cNvPr id="1873" name="Google Shape;1873;p26"/>
                <p:cNvGrpSpPr/>
                <p:nvPr/>
              </p:nvGrpSpPr>
              <p:grpSpPr>
                <a:xfrm>
                  <a:off x="4349911" y="4181419"/>
                  <a:ext cx="4421103" cy="2819555"/>
                  <a:chOff x="4043712" y="1229950"/>
                  <a:chExt cx="5522238" cy="3521803"/>
                </a:xfrm>
              </p:grpSpPr>
              <p:sp>
                <p:nvSpPr>
                  <p:cNvPr id="1874" name="Google Shape;1874;p26"/>
                  <p:cNvSpPr/>
                  <p:nvPr/>
                </p:nvSpPr>
                <p:spPr>
                  <a:xfrm>
                    <a:off x="4150050" y="1612488"/>
                    <a:ext cx="5415900" cy="3099000"/>
                  </a:xfrm>
                  <a:prstGeom prst="rect">
                    <a:avLst/>
                  </a:prstGeom>
                  <a:noFill/>
                  <a:ln cap="flat" cmpd="sng" w="7650">
                    <a:solidFill>
                      <a:schemeClr val="dk2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73200" lIns="73200" spcFirstLastPara="1" rIns="73200" wrap="square" tIns="73200">
                    <a:noAutofit/>
                  </a:bodyPr>
                  <a:lstStyle/>
                  <a:p>
                    <a:pPr indent="0" lvl="0" marL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120"/>
                  </a:p>
                </p:txBody>
              </p:sp>
              <p:sp>
                <p:nvSpPr>
                  <p:cNvPr id="1875" name="Google Shape;1875;p26"/>
                  <p:cNvSpPr txBox="1"/>
                  <p:nvPr/>
                </p:nvSpPr>
                <p:spPr>
                  <a:xfrm>
                    <a:off x="4043712" y="1229950"/>
                    <a:ext cx="4417800" cy="4695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73200" lIns="73200" spcFirstLastPara="1" rIns="73200" wrap="square" tIns="73200">
                    <a:sp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b="1" lang="en" sz="1481">
                        <a:solidFill>
                          <a:srgbClr val="666666"/>
                        </a:solidFill>
                      </a:rPr>
                      <a:t>PROJECTED MATERIAL DEMAND</a:t>
                    </a:r>
                    <a:endParaRPr b="1" sz="360">
                      <a:solidFill>
                        <a:srgbClr val="666666"/>
                      </a:solidFill>
                    </a:endParaRPr>
                  </a:p>
                </p:txBody>
              </p:sp>
              <p:grpSp>
                <p:nvGrpSpPr>
                  <p:cNvPr id="1876" name="Google Shape;1876;p26"/>
                  <p:cNvGrpSpPr/>
                  <p:nvPr/>
                </p:nvGrpSpPr>
                <p:grpSpPr>
                  <a:xfrm>
                    <a:off x="4056895" y="4208337"/>
                    <a:ext cx="1928164" cy="543415"/>
                    <a:chOff x="4257757" y="4208337"/>
                    <a:chExt cx="1928164" cy="543415"/>
                  </a:xfrm>
                </p:grpSpPr>
                <p:sp>
                  <p:nvSpPr>
                    <p:cNvPr id="1877" name="Google Shape;1877;p26"/>
                    <p:cNvSpPr txBox="1"/>
                    <p:nvPr/>
                  </p:nvSpPr>
                  <p:spPr>
                    <a:xfrm>
                      <a:off x="4257757" y="4241453"/>
                      <a:ext cx="1269300" cy="510300"/>
                    </a:xfrm>
                    <a:prstGeom prst="rect">
                      <a:avLst/>
                    </a:prstGeom>
                    <a:noFill/>
                    <a:ln>
                      <a:noFill/>
                    </a:ln>
                  </p:spPr>
                  <p:txBody>
                    <a:bodyPr anchorCtr="0" anchor="t" bIns="156000" lIns="156000" spcFirstLastPara="1" rIns="156000" wrap="square" tIns="156000">
                      <a:noAutofit/>
                    </a:bodyPr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761">
                          <a:solidFill>
                            <a:srgbClr val="999999"/>
                          </a:solidFill>
                        </a:rPr>
                        <a:t>Sankey diagram</a:t>
                      </a:r>
                      <a:endParaRPr sz="761">
                        <a:solidFill>
                          <a:srgbClr val="999999"/>
                        </a:solidFill>
                      </a:endParaRPr>
                    </a:p>
                  </p:txBody>
                </p:sp>
                <p:grpSp>
                  <p:nvGrpSpPr>
                    <p:cNvPr id="1878" name="Google Shape;1878;p26"/>
                    <p:cNvGrpSpPr/>
                    <p:nvPr/>
                  </p:nvGrpSpPr>
                  <p:grpSpPr>
                    <a:xfrm>
                      <a:off x="5383729" y="4208337"/>
                      <a:ext cx="802192" cy="433200"/>
                      <a:chOff x="5383729" y="4208337"/>
                      <a:chExt cx="802192" cy="433200"/>
                    </a:xfrm>
                  </p:grpSpPr>
                  <p:grpSp>
                    <p:nvGrpSpPr>
                      <p:cNvPr id="1879" name="Google Shape;1879;p26"/>
                      <p:cNvGrpSpPr/>
                      <p:nvPr/>
                    </p:nvGrpSpPr>
                    <p:grpSpPr>
                      <a:xfrm>
                        <a:off x="5383729" y="4365780"/>
                        <a:ext cx="764855" cy="261650"/>
                        <a:chOff x="5505854" y="4365730"/>
                        <a:chExt cx="764855" cy="261650"/>
                      </a:xfrm>
                    </p:grpSpPr>
                    <p:sp>
                      <p:nvSpPr>
                        <p:cNvPr id="1880" name="Google Shape;1880;p26"/>
                        <p:cNvSpPr/>
                        <p:nvPr/>
                      </p:nvSpPr>
                      <p:spPr>
                        <a:xfrm rot="-10800000">
                          <a:off x="5513034" y="4365730"/>
                          <a:ext cx="757675" cy="261650"/>
                        </a:xfrm>
                        <a:prstGeom prst="flowChartMagneticDrum">
                          <a:avLst/>
                        </a:prstGeom>
                        <a:solidFill>
                          <a:srgbClr val="CCCCCC"/>
                        </a:solidFill>
                        <a:ln cap="flat" cmpd="sng" w="10600">
                          <a:solidFill>
                            <a:schemeClr val="dk2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t" bIns="156000" lIns="156000" spcFirstLastPara="1" rIns="156000" wrap="square" tIns="156000">
                          <a:noAutofit/>
                        </a:bodyPr>
                        <a:lstStyle/>
                        <a:p>
                          <a:pPr indent="0" lvl="0" marL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2336"/>
                        </a:p>
                      </p:txBody>
                    </p:sp>
                    <p:sp>
                      <p:nvSpPr>
                        <p:cNvPr id="1881" name="Google Shape;1881;p26"/>
                        <p:cNvSpPr/>
                        <p:nvPr/>
                      </p:nvSpPr>
                      <p:spPr>
                        <a:xfrm>
                          <a:off x="5505854" y="4370260"/>
                          <a:ext cx="259500" cy="252600"/>
                        </a:xfrm>
                        <a:prstGeom prst="ellipse">
                          <a:avLst/>
                        </a:prstGeom>
                        <a:solidFill>
                          <a:schemeClr val="lt1"/>
                        </a:solidFill>
                        <a:ln cap="flat" cmpd="sng" w="10600">
                          <a:solidFill>
                            <a:schemeClr val="dk2"/>
                          </a:solidFill>
                          <a:prstDash val="solid"/>
                          <a:round/>
                          <a:headEnd len="sm" w="sm" type="none"/>
                          <a:tailEnd len="sm" w="sm" type="none"/>
                        </a:ln>
                      </p:spPr>
                      <p:txBody>
                        <a:bodyPr anchorCtr="0" anchor="t" bIns="156000" lIns="156000" spcFirstLastPara="1" rIns="156000" wrap="square" tIns="156000">
                          <a:noAutofit/>
                        </a:bodyPr>
                        <a:lstStyle/>
                        <a:p>
                          <a:pPr indent="0" lvl="0" marL="0" rtl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:r>
                            <a:t/>
                          </a:r>
                          <a:endParaRPr sz="2336"/>
                        </a:p>
                      </p:txBody>
                    </p:sp>
                  </p:grpSp>
                  <p:sp>
                    <p:nvSpPr>
                      <p:cNvPr id="1882" name="Google Shape;1882;p26"/>
                      <p:cNvSpPr txBox="1"/>
                      <p:nvPr/>
                    </p:nvSpPr>
                    <p:spPr>
                      <a:xfrm>
                        <a:off x="5513621" y="4208337"/>
                        <a:ext cx="672300" cy="433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  <p:txBody>
                      <a:bodyPr anchorCtr="0" anchor="t" bIns="156000" lIns="156000" spcFirstLastPara="1" rIns="156000" wrap="square" tIns="156000">
                        <a:noAutofit/>
                      </a:bodyPr>
                      <a:lstStyle/>
                      <a:p>
                        <a:pPr indent="0" lvl="0" marL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n" sz="1001">
                            <a:solidFill>
                              <a:schemeClr val="lt1"/>
                            </a:solidFill>
                          </a:rPr>
                          <a:t>Off</a:t>
                        </a:r>
                        <a:endParaRPr sz="1001">
                          <a:solidFill>
                            <a:schemeClr val="lt1"/>
                          </a:solidFill>
                        </a:endParaRPr>
                      </a:p>
                    </p:txBody>
                  </p:sp>
                </p:grpSp>
              </p:grpSp>
            </p:grpSp>
            <p:pic>
              <p:nvPicPr>
                <p:cNvPr id="1883" name="Google Shape;1883;p26" title="download.png"/>
                <p:cNvPicPr preferRelativeResize="0"/>
                <p:nvPr/>
              </p:nvPicPr>
              <p:blipFill>
                <a:blip r:embed="rId10">
                  <a:alphaModFix/>
                </a:blip>
                <a:stretch>
                  <a:fillRect/>
                </a:stretch>
              </p:blipFill>
              <p:spPr>
                <a:xfrm>
                  <a:off x="8474425" y="4518577"/>
                  <a:ext cx="259800" cy="259800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</p:grpSp>
          <p:pic>
            <p:nvPicPr>
              <p:cNvPr id="1884" name="Google Shape;1884;p26" title="Chart"/>
              <p:cNvPicPr preferRelativeResize="0"/>
              <p:nvPr/>
            </p:nvPicPr>
            <p:blipFill rotWithShape="1">
              <a:blip r:embed="rId11">
                <a:alphaModFix/>
              </a:blip>
              <a:srcRect b="0" l="0" r="0" t="11143"/>
              <a:stretch/>
            </p:blipFill>
            <p:spPr>
              <a:xfrm>
                <a:off x="4681700" y="4636018"/>
                <a:ext cx="3723375" cy="2045050"/>
              </a:xfrm>
              <a:prstGeom prst="rect">
                <a:avLst/>
              </a:prstGeom>
              <a:noFill/>
              <a:ln>
                <a:noFill/>
              </a:ln>
            </p:spPr>
          </p:pic>
          <p:grpSp>
            <p:nvGrpSpPr>
              <p:cNvPr id="1885" name="Google Shape;1885;p26"/>
              <p:cNvGrpSpPr/>
              <p:nvPr/>
            </p:nvGrpSpPr>
            <p:grpSpPr>
              <a:xfrm rot="-7747678">
                <a:off x="6713808" y="5451802"/>
                <a:ext cx="917135" cy="927853"/>
                <a:chOff x="5893568" y="3081812"/>
                <a:chExt cx="1184774" cy="1198522"/>
              </a:xfrm>
            </p:grpSpPr>
            <p:grpSp>
              <p:nvGrpSpPr>
                <p:cNvPr id="1886" name="Google Shape;1886;p26"/>
                <p:cNvGrpSpPr/>
                <p:nvPr/>
              </p:nvGrpSpPr>
              <p:grpSpPr>
                <a:xfrm rot="-2553858">
                  <a:off x="6121452" y="3202192"/>
                  <a:ext cx="729006" cy="957763"/>
                  <a:chOff x="6057691" y="2542624"/>
                  <a:chExt cx="729025" cy="957787"/>
                </a:xfrm>
              </p:grpSpPr>
              <p:cxnSp>
                <p:nvCxnSpPr>
                  <p:cNvPr id="1887" name="Google Shape;1887;p26"/>
                  <p:cNvCxnSpPr/>
                  <p:nvPr/>
                </p:nvCxnSpPr>
                <p:spPr>
                  <a:xfrm flipH="1" rot="-8246357">
                    <a:off x="6228918" y="2725045"/>
                    <a:ext cx="588139" cy="125058"/>
                  </a:xfrm>
                  <a:prstGeom prst="straightConnector1">
                    <a:avLst/>
                  </a:prstGeom>
                  <a:noFill/>
                  <a:ln cap="flat" cmpd="sng" w="22125">
                    <a:solidFill>
                      <a:srgbClr val="B6D7A8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cxnSp>
                <p:nvCxnSpPr>
                  <p:cNvPr id="1888" name="Google Shape;1888;p26"/>
                  <p:cNvCxnSpPr/>
                  <p:nvPr/>
                </p:nvCxnSpPr>
                <p:spPr>
                  <a:xfrm flipH="1" rot="10800000">
                    <a:off x="6097647" y="3383711"/>
                    <a:ext cx="594300" cy="116700"/>
                  </a:xfrm>
                  <a:prstGeom prst="straightConnector1">
                    <a:avLst/>
                  </a:prstGeom>
                  <a:noFill/>
                  <a:ln cap="flat" cmpd="sng" w="22125">
                    <a:solidFill>
                      <a:srgbClr val="B6D7A8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cxnSp>
              <p:sp>
                <p:nvSpPr>
                  <p:cNvPr id="1889" name="Google Shape;1889;p26"/>
                  <p:cNvSpPr/>
                  <p:nvPr/>
                </p:nvSpPr>
                <p:spPr>
                  <a:xfrm>
                    <a:off x="6057691" y="2616591"/>
                    <a:ext cx="202398" cy="870834"/>
                  </a:xfrm>
                  <a:custGeom>
                    <a:rect b="b" l="l" r="r" t="t"/>
                    <a:pathLst>
                      <a:path extrusionOk="0" h="29905" w="4740">
                        <a:moveTo>
                          <a:pt x="1229" y="29905"/>
                        </a:moveTo>
                        <a:cubicBezTo>
                          <a:pt x="-1533" y="20256"/>
                          <a:pt x="780" y="9222"/>
                          <a:pt x="4741" y="0"/>
                        </a:cubicBezTo>
                      </a:path>
                    </a:pathLst>
                  </a:custGeom>
                  <a:noFill/>
                  <a:ln cap="flat" cmpd="sng" w="22125">
                    <a:solidFill>
                      <a:srgbClr val="B6D7A8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sp>
              <p:sp>
                <p:nvSpPr>
                  <p:cNvPr id="1890" name="Google Shape;1890;p26"/>
                  <p:cNvSpPr/>
                  <p:nvPr/>
                </p:nvSpPr>
                <p:spPr>
                  <a:xfrm>
                    <a:off x="6679189" y="2926345"/>
                    <a:ext cx="107527" cy="463154"/>
                  </a:xfrm>
                  <a:custGeom>
                    <a:rect b="b" l="l" r="r" t="t"/>
                    <a:pathLst>
                      <a:path extrusionOk="0" h="29905" w="4740">
                        <a:moveTo>
                          <a:pt x="1229" y="29905"/>
                        </a:moveTo>
                        <a:cubicBezTo>
                          <a:pt x="-1533" y="20256"/>
                          <a:pt x="780" y="9222"/>
                          <a:pt x="4741" y="0"/>
                        </a:cubicBezTo>
                      </a:path>
                    </a:pathLst>
                  </a:custGeom>
                  <a:noFill/>
                  <a:ln cap="flat" cmpd="sng" w="22125">
                    <a:solidFill>
                      <a:srgbClr val="B6D7A8"/>
                    </a:solidFill>
                    <a:prstDash val="solid"/>
                    <a:round/>
                    <a:headEnd len="med" w="med" type="none"/>
                    <a:tailEnd len="med" w="med" type="none"/>
                  </a:ln>
                </p:spPr>
              </p:sp>
            </p:grpSp>
            <p:cxnSp>
              <p:nvCxnSpPr>
                <p:cNvPr id="1891" name="Google Shape;1891;p26"/>
                <p:cNvCxnSpPr/>
                <p:nvPr/>
              </p:nvCxnSpPr>
              <p:spPr>
                <a:xfrm flipH="1" rot="10800000">
                  <a:off x="6147225" y="3487550"/>
                  <a:ext cx="109200" cy="174600"/>
                </a:xfrm>
                <a:prstGeom prst="straightConnector1">
                  <a:avLst/>
                </a:prstGeom>
                <a:noFill/>
                <a:ln cap="flat" cmpd="sng" w="7350">
                  <a:solidFill>
                    <a:srgbClr val="B6D7A8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92" name="Google Shape;1892;p26"/>
                <p:cNvCxnSpPr/>
                <p:nvPr/>
              </p:nvCxnSpPr>
              <p:spPr>
                <a:xfrm flipH="1" rot="10800000">
                  <a:off x="6173600" y="3466000"/>
                  <a:ext cx="183000" cy="285600"/>
                </a:xfrm>
                <a:prstGeom prst="straightConnector1">
                  <a:avLst/>
                </a:prstGeom>
                <a:noFill/>
                <a:ln cap="flat" cmpd="sng" w="7350">
                  <a:solidFill>
                    <a:srgbClr val="B6D7A8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93" name="Google Shape;1893;p26"/>
                <p:cNvCxnSpPr/>
                <p:nvPr/>
              </p:nvCxnSpPr>
              <p:spPr>
                <a:xfrm flipH="1" rot="10800000">
                  <a:off x="6209650" y="3456063"/>
                  <a:ext cx="228600" cy="361800"/>
                </a:xfrm>
                <a:prstGeom prst="straightConnector1">
                  <a:avLst/>
                </a:prstGeom>
                <a:noFill/>
                <a:ln cap="flat" cmpd="sng" w="7350">
                  <a:solidFill>
                    <a:srgbClr val="B6D7A8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94" name="Google Shape;1894;p26"/>
                <p:cNvCxnSpPr/>
                <p:nvPr/>
              </p:nvCxnSpPr>
              <p:spPr>
                <a:xfrm flipH="1" rot="10800000">
                  <a:off x="6241950" y="3433763"/>
                  <a:ext cx="283500" cy="447600"/>
                </a:xfrm>
                <a:prstGeom prst="straightConnector1">
                  <a:avLst/>
                </a:prstGeom>
                <a:noFill/>
                <a:ln cap="flat" cmpd="sng" w="7350">
                  <a:solidFill>
                    <a:srgbClr val="B6D7A8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95" name="Google Shape;1895;p26"/>
                <p:cNvCxnSpPr/>
                <p:nvPr/>
              </p:nvCxnSpPr>
              <p:spPr>
                <a:xfrm flipH="1" rot="10800000">
                  <a:off x="6283850" y="3414388"/>
                  <a:ext cx="331200" cy="538200"/>
                </a:xfrm>
                <a:prstGeom prst="straightConnector1">
                  <a:avLst/>
                </a:prstGeom>
                <a:noFill/>
                <a:ln cap="flat" cmpd="sng" w="7350">
                  <a:solidFill>
                    <a:srgbClr val="B6D7A8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96" name="Google Shape;1896;p26"/>
                <p:cNvCxnSpPr/>
                <p:nvPr/>
              </p:nvCxnSpPr>
              <p:spPr>
                <a:xfrm flipH="1" rot="10800000">
                  <a:off x="6322550" y="3425213"/>
                  <a:ext cx="367500" cy="591000"/>
                </a:xfrm>
                <a:prstGeom prst="straightConnector1">
                  <a:avLst/>
                </a:prstGeom>
                <a:noFill/>
                <a:ln cap="flat" cmpd="sng" w="7350">
                  <a:solidFill>
                    <a:srgbClr val="B6D7A8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97" name="Google Shape;1897;p26"/>
                <p:cNvCxnSpPr/>
                <p:nvPr/>
              </p:nvCxnSpPr>
              <p:spPr>
                <a:xfrm flipH="1" rot="10800000">
                  <a:off x="6367875" y="3522238"/>
                  <a:ext cx="351600" cy="548700"/>
                </a:xfrm>
                <a:prstGeom prst="straightConnector1">
                  <a:avLst/>
                </a:prstGeom>
                <a:noFill/>
                <a:ln cap="flat" cmpd="sng" w="7350">
                  <a:solidFill>
                    <a:srgbClr val="B6D7A8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98" name="Google Shape;1898;p26"/>
                <p:cNvCxnSpPr/>
                <p:nvPr/>
              </p:nvCxnSpPr>
              <p:spPr>
                <a:xfrm flipH="1" rot="10800000">
                  <a:off x="6414850" y="3600463"/>
                  <a:ext cx="346500" cy="522900"/>
                </a:xfrm>
                <a:prstGeom prst="straightConnector1">
                  <a:avLst/>
                </a:prstGeom>
                <a:noFill/>
                <a:ln cap="flat" cmpd="sng" w="7350">
                  <a:solidFill>
                    <a:srgbClr val="B6D7A8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899" name="Google Shape;1899;p26"/>
                <p:cNvCxnSpPr/>
                <p:nvPr/>
              </p:nvCxnSpPr>
              <p:spPr>
                <a:xfrm flipH="1" rot="10800000">
                  <a:off x="6474550" y="3673138"/>
                  <a:ext cx="328800" cy="486300"/>
                </a:xfrm>
                <a:prstGeom prst="straightConnector1">
                  <a:avLst/>
                </a:prstGeom>
                <a:noFill/>
                <a:ln cap="flat" cmpd="sng" w="7350">
                  <a:solidFill>
                    <a:srgbClr val="B6D7A8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900" name="Google Shape;1900;p26"/>
                <p:cNvCxnSpPr/>
                <p:nvPr/>
              </p:nvCxnSpPr>
              <p:spPr>
                <a:xfrm flipH="1" rot="10800000">
                  <a:off x="6525450" y="3712838"/>
                  <a:ext cx="328800" cy="486300"/>
                </a:xfrm>
                <a:prstGeom prst="straightConnector1">
                  <a:avLst/>
                </a:prstGeom>
                <a:noFill/>
                <a:ln cap="flat" cmpd="sng" w="7350">
                  <a:solidFill>
                    <a:srgbClr val="B6D7A8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901" name="Google Shape;1901;p26"/>
              <p:cNvGrpSpPr/>
              <p:nvPr/>
            </p:nvGrpSpPr>
            <p:grpSpPr>
              <a:xfrm>
                <a:off x="7438542" y="5030383"/>
                <a:ext cx="1435621" cy="519947"/>
                <a:chOff x="8548175" y="2668550"/>
                <a:chExt cx="1435621" cy="519947"/>
              </a:xfrm>
            </p:grpSpPr>
            <p:sp>
              <p:nvSpPr>
                <p:cNvPr id="1902" name="Google Shape;1902;p26"/>
                <p:cNvSpPr txBox="1"/>
                <p:nvPr/>
              </p:nvSpPr>
              <p:spPr>
                <a:xfrm>
                  <a:off x="8548175" y="2668550"/>
                  <a:ext cx="672300" cy="294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en" sz="860">
                      <a:solidFill>
                        <a:schemeClr val="dk2"/>
                      </a:solidFill>
                    </a:rPr>
                    <a:t>Legend</a:t>
                  </a:r>
                  <a:endParaRPr b="1" sz="860">
                    <a:solidFill>
                      <a:schemeClr val="dk2"/>
                    </a:solidFill>
                  </a:endParaRPr>
                </a:p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860">
                    <a:solidFill>
                      <a:schemeClr val="dk2"/>
                    </a:solidFill>
                  </a:endParaRPr>
                </a:p>
              </p:txBody>
            </p:sp>
            <p:sp>
              <p:nvSpPr>
                <p:cNvPr id="1903" name="Google Shape;1903;p26"/>
                <p:cNvSpPr/>
                <p:nvPr/>
              </p:nvSpPr>
              <p:spPr>
                <a:xfrm>
                  <a:off x="8698150" y="2959475"/>
                  <a:ext cx="146700" cy="141900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93C47D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4" name="Google Shape;1904;p26"/>
                <p:cNvSpPr txBox="1"/>
                <p:nvPr/>
              </p:nvSpPr>
              <p:spPr>
                <a:xfrm>
                  <a:off x="8795496" y="2871397"/>
                  <a:ext cx="1188300" cy="317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860">
                      <a:solidFill>
                        <a:schemeClr val="dk2"/>
                      </a:solidFill>
                    </a:rPr>
                    <a:t>Reused material</a:t>
                  </a:r>
                  <a:endParaRPr sz="860">
                    <a:solidFill>
                      <a:schemeClr val="dk2"/>
                    </a:solidFill>
                  </a:endParaRPr>
                </a:p>
              </p:txBody>
            </p:sp>
            <p:cxnSp>
              <p:nvCxnSpPr>
                <p:cNvPr id="1905" name="Google Shape;1905;p26"/>
                <p:cNvCxnSpPr>
                  <a:stCxn id="1903" idx="1"/>
                </p:cNvCxnSpPr>
                <p:nvPr/>
              </p:nvCxnSpPr>
              <p:spPr>
                <a:xfrm flipH="1" rot="10800000">
                  <a:off x="8698150" y="2959625"/>
                  <a:ext cx="73500" cy="708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93C47D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906" name="Google Shape;1906;p26"/>
                <p:cNvCxnSpPr/>
                <p:nvPr/>
              </p:nvCxnSpPr>
              <p:spPr>
                <a:xfrm flipH="1" rot="10800000">
                  <a:off x="8698150" y="2963225"/>
                  <a:ext cx="146400" cy="138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93C47D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907" name="Google Shape;1907;p26"/>
                <p:cNvCxnSpPr/>
                <p:nvPr/>
              </p:nvCxnSpPr>
              <p:spPr>
                <a:xfrm flipH="1" rot="10800000">
                  <a:off x="8771650" y="3030425"/>
                  <a:ext cx="73500" cy="708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93C47D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  <p:grpSp>
            <p:nvGrpSpPr>
              <p:cNvPr id="1908" name="Google Shape;1908;p26"/>
              <p:cNvGrpSpPr/>
              <p:nvPr/>
            </p:nvGrpSpPr>
            <p:grpSpPr>
              <a:xfrm>
                <a:off x="7593906" y="5462204"/>
                <a:ext cx="1964213" cy="315600"/>
                <a:chOff x="8698150" y="2879721"/>
                <a:chExt cx="1964213" cy="315600"/>
              </a:xfrm>
            </p:grpSpPr>
            <p:sp>
              <p:nvSpPr>
                <p:cNvPr id="1909" name="Google Shape;1909;p26"/>
                <p:cNvSpPr/>
                <p:nvPr/>
              </p:nvSpPr>
              <p:spPr>
                <a:xfrm>
                  <a:off x="8698150" y="2959475"/>
                  <a:ext cx="146700" cy="141900"/>
                </a:xfrm>
                <a:prstGeom prst="rect">
                  <a:avLst/>
                </a:prstGeom>
                <a:noFill/>
                <a:ln cap="flat" cmpd="sng" w="9525">
                  <a:solidFill>
                    <a:srgbClr val="FFFF00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0" name="Google Shape;1910;p26"/>
                <p:cNvSpPr txBox="1"/>
                <p:nvPr/>
              </p:nvSpPr>
              <p:spPr>
                <a:xfrm>
                  <a:off x="8806563" y="2879721"/>
                  <a:ext cx="1855800" cy="315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91425" lIns="91425" spcFirstLastPara="1" rIns="91425" wrap="square" tIns="91425">
                  <a:sp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" sz="850">
                      <a:solidFill>
                        <a:schemeClr val="dk2"/>
                      </a:solidFill>
                    </a:rPr>
                    <a:t>Limited availability</a:t>
                  </a:r>
                  <a:endParaRPr sz="850">
                    <a:solidFill>
                      <a:schemeClr val="dk2"/>
                    </a:solidFill>
                  </a:endParaRPr>
                </a:p>
              </p:txBody>
            </p:sp>
            <p:cxnSp>
              <p:nvCxnSpPr>
                <p:cNvPr id="1911" name="Google Shape;1911;p26"/>
                <p:cNvCxnSpPr>
                  <a:stCxn id="1909" idx="1"/>
                </p:cNvCxnSpPr>
                <p:nvPr/>
              </p:nvCxnSpPr>
              <p:spPr>
                <a:xfrm flipH="1" rot="10800000">
                  <a:off x="8698150" y="2959625"/>
                  <a:ext cx="73500" cy="708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912" name="Google Shape;1912;p26"/>
                <p:cNvCxnSpPr/>
                <p:nvPr/>
              </p:nvCxnSpPr>
              <p:spPr>
                <a:xfrm flipH="1" rot="10800000">
                  <a:off x="8698150" y="2963225"/>
                  <a:ext cx="146400" cy="1380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913" name="Google Shape;1913;p26"/>
                <p:cNvCxnSpPr/>
                <p:nvPr/>
              </p:nvCxnSpPr>
              <p:spPr>
                <a:xfrm flipH="1" rot="10800000">
                  <a:off x="8771650" y="3030425"/>
                  <a:ext cx="73500" cy="70800"/>
                </a:xfrm>
                <a:prstGeom prst="straightConnector1">
                  <a:avLst/>
                </a:prstGeom>
                <a:noFill/>
                <a:ln cap="flat" cmpd="sng" w="9525">
                  <a:solidFill>
                    <a:srgbClr val="FFFF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1914" name="Google Shape;1914;p26"/>
            <p:cNvGrpSpPr/>
            <p:nvPr/>
          </p:nvGrpSpPr>
          <p:grpSpPr>
            <a:xfrm>
              <a:off x="8834336" y="7111675"/>
              <a:ext cx="4557232" cy="618331"/>
              <a:chOff x="4268193" y="552116"/>
              <a:chExt cx="6213843" cy="697025"/>
            </a:xfrm>
          </p:grpSpPr>
          <p:sp>
            <p:nvSpPr>
              <p:cNvPr id="1915" name="Google Shape;1915;p26"/>
              <p:cNvSpPr/>
              <p:nvPr/>
            </p:nvSpPr>
            <p:spPr>
              <a:xfrm>
                <a:off x="6760562" y="609015"/>
                <a:ext cx="3546300" cy="255600"/>
              </a:xfrm>
              <a:prstGeom prst="roundRect">
                <a:avLst>
                  <a:gd fmla="val 16667" name="adj"/>
                </a:avLst>
              </a:prstGeom>
              <a:solidFill>
                <a:schemeClr val="lt2"/>
              </a:solidFill>
              <a:ln cap="flat" cmpd="sng" w="84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1100" lIns="81100" spcFirstLastPara="1" rIns="81100" wrap="square" tIns="811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41"/>
              </a:p>
            </p:txBody>
          </p:sp>
          <p:sp>
            <p:nvSpPr>
              <p:cNvPr id="1916" name="Google Shape;1916;p26"/>
              <p:cNvSpPr txBox="1"/>
              <p:nvPr/>
            </p:nvSpPr>
            <p:spPr>
              <a:xfrm>
                <a:off x="4268193" y="552116"/>
                <a:ext cx="2855100" cy="288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1100" lIns="81100" spcFirstLastPara="1" rIns="81100" wrap="square" tIns="811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186">
                    <a:solidFill>
                      <a:srgbClr val="B7B7B7"/>
                    </a:solidFill>
                  </a:rPr>
                  <a:t>CONSTRUCTION YEAR</a:t>
                </a:r>
                <a:endParaRPr b="1" sz="1186">
                  <a:solidFill>
                    <a:srgbClr val="B7B7B7"/>
                  </a:solidFill>
                </a:endParaRPr>
              </a:p>
            </p:txBody>
          </p:sp>
          <p:sp>
            <p:nvSpPr>
              <p:cNvPr id="1917" name="Google Shape;1917;p26"/>
              <p:cNvSpPr txBox="1"/>
              <p:nvPr/>
            </p:nvSpPr>
            <p:spPr>
              <a:xfrm>
                <a:off x="6732035" y="810841"/>
                <a:ext cx="3750000" cy="438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81100" lIns="81100" spcFirstLastPara="1" rIns="81100" wrap="square" tIns="8110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620">
                    <a:solidFill>
                      <a:schemeClr val="dk2"/>
                    </a:solidFill>
                  </a:rPr>
                  <a:t>2020	2030	2040	2050	2060	2070</a:t>
                </a:r>
                <a:endParaRPr sz="620">
                  <a:solidFill>
                    <a:schemeClr val="dk2"/>
                  </a:solidFill>
                </a:endParaRPr>
              </a:p>
            </p:txBody>
          </p:sp>
          <p:sp>
            <p:nvSpPr>
              <p:cNvPr id="1918" name="Google Shape;1918;p26"/>
              <p:cNvSpPr/>
              <p:nvPr/>
            </p:nvSpPr>
            <p:spPr>
              <a:xfrm>
                <a:off x="6765992" y="605859"/>
                <a:ext cx="283200" cy="255600"/>
              </a:xfrm>
              <a:prstGeom prst="roundRect">
                <a:avLst>
                  <a:gd fmla="val 16667" name="adj"/>
                </a:avLst>
              </a:prstGeom>
              <a:solidFill>
                <a:srgbClr val="AAD3E0"/>
              </a:solidFill>
              <a:ln cap="flat" cmpd="sng" w="8450">
                <a:solidFill>
                  <a:schemeClr val="dk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81100" lIns="81100" spcFirstLastPara="1" rIns="81100" wrap="square" tIns="8110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241"/>
              </a:p>
            </p:txBody>
          </p:sp>
        </p:grpSp>
        <p:pic>
          <p:nvPicPr>
            <p:cNvPr id="1919" name="Google Shape;1919;p26" title="Chart"/>
            <p:cNvPicPr preferRelativeResize="0"/>
            <p:nvPr/>
          </p:nvPicPr>
          <p:blipFill rotWithShape="1">
            <a:blip r:embed="rId11">
              <a:alphaModFix/>
            </a:blip>
            <a:srcRect b="0" l="0" r="0" t="11143"/>
            <a:stretch/>
          </p:blipFill>
          <p:spPr>
            <a:xfrm>
              <a:off x="4699706" y="1381773"/>
              <a:ext cx="3723375" cy="204505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920" name="Google Shape;1920;p26"/>
            <p:cNvGrpSpPr/>
            <p:nvPr/>
          </p:nvGrpSpPr>
          <p:grpSpPr>
            <a:xfrm rot="-7747678">
              <a:off x="6731768" y="2186915"/>
              <a:ext cx="917135" cy="927853"/>
              <a:chOff x="5893568" y="3081812"/>
              <a:chExt cx="1184774" cy="1198522"/>
            </a:xfrm>
          </p:grpSpPr>
          <p:grpSp>
            <p:nvGrpSpPr>
              <p:cNvPr id="1921" name="Google Shape;1921;p26"/>
              <p:cNvGrpSpPr/>
              <p:nvPr/>
            </p:nvGrpSpPr>
            <p:grpSpPr>
              <a:xfrm rot="-2553858">
                <a:off x="6121452" y="3202192"/>
                <a:ext cx="729006" cy="957763"/>
                <a:chOff x="6057691" y="2542624"/>
                <a:chExt cx="729025" cy="957787"/>
              </a:xfrm>
            </p:grpSpPr>
            <p:cxnSp>
              <p:nvCxnSpPr>
                <p:cNvPr id="1922" name="Google Shape;1922;p26"/>
                <p:cNvCxnSpPr/>
                <p:nvPr/>
              </p:nvCxnSpPr>
              <p:spPr>
                <a:xfrm flipH="1" rot="-8246357">
                  <a:off x="6228918" y="2725045"/>
                  <a:ext cx="588139" cy="125058"/>
                </a:xfrm>
                <a:prstGeom prst="straightConnector1">
                  <a:avLst/>
                </a:prstGeom>
                <a:noFill/>
                <a:ln cap="flat" cmpd="sng" w="22125">
                  <a:solidFill>
                    <a:srgbClr val="B6D7A8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1923" name="Google Shape;1923;p26"/>
                <p:cNvCxnSpPr/>
                <p:nvPr/>
              </p:nvCxnSpPr>
              <p:spPr>
                <a:xfrm flipH="1" rot="10800000">
                  <a:off x="6097647" y="3383711"/>
                  <a:ext cx="594300" cy="116700"/>
                </a:xfrm>
                <a:prstGeom prst="straightConnector1">
                  <a:avLst/>
                </a:prstGeom>
                <a:noFill/>
                <a:ln cap="flat" cmpd="sng" w="22125">
                  <a:solidFill>
                    <a:srgbClr val="B6D7A8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1924" name="Google Shape;1924;p26"/>
                <p:cNvSpPr/>
                <p:nvPr/>
              </p:nvSpPr>
              <p:spPr>
                <a:xfrm>
                  <a:off x="6057691" y="2616591"/>
                  <a:ext cx="202398" cy="870834"/>
                </a:xfrm>
                <a:custGeom>
                  <a:rect b="b" l="l" r="r" t="t"/>
                  <a:pathLst>
                    <a:path extrusionOk="0" h="29905" w="4740">
                      <a:moveTo>
                        <a:pt x="1229" y="29905"/>
                      </a:moveTo>
                      <a:cubicBezTo>
                        <a:pt x="-1533" y="20256"/>
                        <a:pt x="780" y="9222"/>
                        <a:pt x="4741" y="0"/>
                      </a:cubicBezTo>
                    </a:path>
                  </a:pathLst>
                </a:custGeom>
                <a:noFill/>
                <a:ln cap="flat" cmpd="sng" w="22125">
                  <a:solidFill>
                    <a:srgbClr val="B6D7A8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  <p:sp>
              <p:nvSpPr>
                <p:cNvPr id="1925" name="Google Shape;1925;p26"/>
                <p:cNvSpPr/>
                <p:nvPr/>
              </p:nvSpPr>
              <p:spPr>
                <a:xfrm>
                  <a:off x="6679189" y="2926345"/>
                  <a:ext cx="107527" cy="463154"/>
                </a:xfrm>
                <a:custGeom>
                  <a:rect b="b" l="l" r="r" t="t"/>
                  <a:pathLst>
                    <a:path extrusionOk="0" h="29905" w="4740">
                      <a:moveTo>
                        <a:pt x="1229" y="29905"/>
                      </a:moveTo>
                      <a:cubicBezTo>
                        <a:pt x="-1533" y="20256"/>
                        <a:pt x="780" y="9222"/>
                        <a:pt x="4741" y="0"/>
                      </a:cubicBezTo>
                    </a:path>
                  </a:pathLst>
                </a:custGeom>
                <a:noFill/>
                <a:ln cap="flat" cmpd="sng" w="22125">
                  <a:solidFill>
                    <a:srgbClr val="B6D7A8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sp>
          </p:grpSp>
          <p:cxnSp>
            <p:nvCxnSpPr>
              <p:cNvPr id="1926" name="Google Shape;1926;p26"/>
              <p:cNvCxnSpPr/>
              <p:nvPr/>
            </p:nvCxnSpPr>
            <p:spPr>
              <a:xfrm flipH="1" rot="10800000">
                <a:off x="6147225" y="3487550"/>
                <a:ext cx="109200" cy="174600"/>
              </a:xfrm>
              <a:prstGeom prst="straightConnector1">
                <a:avLst/>
              </a:prstGeom>
              <a:noFill/>
              <a:ln cap="flat" cmpd="sng" w="7350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27" name="Google Shape;1927;p26"/>
              <p:cNvCxnSpPr/>
              <p:nvPr/>
            </p:nvCxnSpPr>
            <p:spPr>
              <a:xfrm flipH="1" rot="10800000">
                <a:off x="6173600" y="3466000"/>
                <a:ext cx="183000" cy="285600"/>
              </a:xfrm>
              <a:prstGeom prst="straightConnector1">
                <a:avLst/>
              </a:prstGeom>
              <a:noFill/>
              <a:ln cap="flat" cmpd="sng" w="7350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28" name="Google Shape;1928;p26"/>
              <p:cNvCxnSpPr/>
              <p:nvPr/>
            </p:nvCxnSpPr>
            <p:spPr>
              <a:xfrm flipH="1" rot="10800000">
                <a:off x="6209650" y="3456063"/>
                <a:ext cx="228600" cy="361800"/>
              </a:xfrm>
              <a:prstGeom prst="straightConnector1">
                <a:avLst/>
              </a:prstGeom>
              <a:noFill/>
              <a:ln cap="flat" cmpd="sng" w="7350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29" name="Google Shape;1929;p26"/>
              <p:cNvCxnSpPr/>
              <p:nvPr/>
            </p:nvCxnSpPr>
            <p:spPr>
              <a:xfrm flipH="1" rot="10800000">
                <a:off x="6241950" y="3433763"/>
                <a:ext cx="283500" cy="447600"/>
              </a:xfrm>
              <a:prstGeom prst="straightConnector1">
                <a:avLst/>
              </a:prstGeom>
              <a:noFill/>
              <a:ln cap="flat" cmpd="sng" w="7350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30" name="Google Shape;1930;p26"/>
              <p:cNvCxnSpPr/>
              <p:nvPr/>
            </p:nvCxnSpPr>
            <p:spPr>
              <a:xfrm flipH="1" rot="10800000">
                <a:off x="6283850" y="3414388"/>
                <a:ext cx="331200" cy="538200"/>
              </a:xfrm>
              <a:prstGeom prst="straightConnector1">
                <a:avLst/>
              </a:prstGeom>
              <a:noFill/>
              <a:ln cap="flat" cmpd="sng" w="7350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31" name="Google Shape;1931;p26"/>
              <p:cNvCxnSpPr/>
              <p:nvPr/>
            </p:nvCxnSpPr>
            <p:spPr>
              <a:xfrm flipH="1" rot="10800000">
                <a:off x="6322550" y="3425213"/>
                <a:ext cx="367500" cy="591000"/>
              </a:xfrm>
              <a:prstGeom prst="straightConnector1">
                <a:avLst/>
              </a:prstGeom>
              <a:noFill/>
              <a:ln cap="flat" cmpd="sng" w="7350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32" name="Google Shape;1932;p26"/>
              <p:cNvCxnSpPr/>
              <p:nvPr/>
            </p:nvCxnSpPr>
            <p:spPr>
              <a:xfrm flipH="1" rot="10800000">
                <a:off x="6367875" y="3522238"/>
                <a:ext cx="351600" cy="548700"/>
              </a:xfrm>
              <a:prstGeom prst="straightConnector1">
                <a:avLst/>
              </a:prstGeom>
              <a:noFill/>
              <a:ln cap="flat" cmpd="sng" w="7350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33" name="Google Shape;1933;p26"/>
              <p:cNvCxnSpPr/>
              <p:nvPr/>
            </p:nvCxnSpPr>
            <p:spPr>
              <a:xfrm flipH="1" rot="10800000">
                <a:off x="6414850" y="3600463"/>
                <a:ext cx="346500" cy="522900"/>
              </a:xfrm>
              <a:prstGeom prst="straightConnector1">
                <a:avLst/>
              </a:prstGeom>
              <a:noFill/>
              <a:ln cap="flat" cmpd="sng" w="7350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34" name="Google Shape;1934;p26"/>
              <p:cNvCxnSpPr/>
              <p:nvPr/>
            </p:nvCxnSpPr>
            <p:spPr>
              <a:xfrm flipH="1" rot="10800000">
                <a:off x="6474550" y="3673138"/>
                <a:ext cx="328800" cy="486300"/>
              </a:xfrm>
              <a:prstGeom prst="straightConnector1">
                <a:avLst/>
              </a:prstGeom>
              <a:noFill/>
              <a:ln cap="flat" cmpd="sng" w="7350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35" name="Google Shape;1935;p26"/>
              <p:cNvCxnSpPr/>
              <p:nvPr/>
            </p:nvCxnSpPr>
            <p:spPr>
              <a:xfrm flipH="1" rot="10800000">
                <a:off x="6525450" y="3712838"/>
                <a:ext cx="328800" cy="486300"/>
              </a:xfrm>
              <a:prstGeom prst="straightConnector1">
                <a:avLst/>
              </a:prstGeom>
              <a:noFill/>
              <a:ln cap="flat" cmpd="sng" w="7350">
                <a:solidFill>
                  <a:srgbClr val="B6D7A8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grpSp>
          <p:nvGrpSpPr>
            <p:cNvPr id="1936" name="Google Shape;1936;p26"/>
            <p:cNvGrpSpPr/>
            <p:nvPr/>
          </p:nvGrpSpPr>
          <p:grpSpPr>
            <a:xfrm>
              <a:off x="7438542" y="1717906"/>
              <a:ext cx="1435621" cy="519947"/>
              <a:chOff x="8548175" y="2668550"/>
              <a:chExt cx="1435621" cy="519947"/>
            </a:xfrm>
          </p:grpSpPr>
          <p:sp>
            <p:nvSpPr>
              <p:cNvPr id="1937" name="Google Shape;1937;p26"/>
              <p:cNvSpPr txBox="1"/>
              <p:nvPr/>
            </p:nvSpPr>
            <p:spPr>
              <a:xfrm>
                <a:off x="8548175" y="2668550"/>
                <a:ext cx="672300" cy="294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860">
                    <a:solidFill>
                      <a:schemeClr val="dk2"/>
                    </a:solidFill>
                  </a:rPr>
                  <a:t>Legend</a:t>
                </a:r>
                <a:endParaRPr b="1" sz="860">
                  <a:solidFill>
                    <a:schemeClr val="dk2"/>
                  </a:solidFill>
                </a:endParaRPr>
              </a:p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860">
                  <a:solidFill>
                    <a:schemeClr val="dk2"/>
                  </a:solidFill>
                </a:endParaRPr>
              </a:p>
            </p:txBody>
          </p:sp>
          <p:sp>
            <p:nvSpPr>
              <p:cNvPr id="1938" name="Google Shape;1938;p26"/>
              <p:cNvSpPr/>
              <p:nvPr/>
            </p:nvSpPr>
            <p:spPr>
              <a:xfrm>
                <a:off x="8698150" y="2959475"/>
                <a:ext cx="146700" cy="141900"/>
              </a:xfrm>
              <a:prstGeom prst="rect">
                <a:avLst/>
              </a:prstGeom>
              <a:noFill/>
              <a:ln cap="flat" cmpd="sng" w="9525">
                <a:solidFill>
                  <a:srgbClr val="93C47D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9" name="Google Shape;1939;p26"/>
              <p:cNvSpPr txBox="1"/>
              <p:nvPr/>
            </p:nvSpPr>
            <p:spPr>
              <a:xfrm>
                <a:off x="8795496" y="2871397"/>
                <a:ext cx="1188300" cy="31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91425" lIns="91425" spcFirstLastPara="1" rIns="91425" wrap="square" tIns="91425">
                <a:sp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860">
                    <a:solidFill>
                      <a:schemeClr val="dk2"/>
                    </a:solidFill>
                  </a:rPr>
                  <a:t>Reused material</a:t>
                </a:r>
                <a:endParaRPr sz="860">
                  <a:solidFill>
                    <a:schemeClr val="dk2"/>
                  </a:solidFill>
                </a:endParaRPr>
              </a:p>
            </p:txBody>
          </p:sp>
          <p:cxnSp>
            <p:nvCxnSpPr>
              <p:cNvPr id="1940" name="Google Shape;1940;p26"/>
              <p:cNvCxnSpPr>
                <a:stCxn id="1938" idx="1"/>
              </p:cNvCxnSpPr>
              <p:nvPr/>
            </p:nvCxnSpPr>
            <p:spPr>
              <a:xfrm flipH="1" rot="10800000">
                <a:off x="8698150" y="2959625"/>
                <a:ext cx="73500" cy="708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93C47D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41" name="Google Shape;1941;p26"/>
              <p:cNvCxnSpPr/>
              <p:nvPr/>
            </p:nvCxnSpPr>
            <p:spPr>
              <a:xfrm flipH="1" rot="10800000">
                <a:off x="8698150" y="2963225"/>
                <a:ext cx="146400" cy="1380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93C47D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942" name="Google Shape;1942;p26"/>
              <p:cNvCxnSpPr/>
              <p:nvPr/>
            </p:nvCxnSpPr>
            <p:spPr>
              <a:xfrm flipH="1" rot="10800000">
                <a:off x="8771650" y="3030425"/>
                <a:ext cx="73500" cy="70800"/>
              </a:xfrm>
              <a:prstGeom prst="straightConnector1">
                <a:avLst/>
              </a:prstGeom>
              <a:noFill/>
              <a:ln cap="flat" cmpd="sng" w="9525">
                <a:solidFill>
                  <a:srgbClr val="93C47D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pic>
          <p:nvPicPr>
            <p:cNvPr id="1943" name="Google Shape;1943;p26" title="download.png"/>
            <p:cNvPicPr preferRelativeResize="0"/>
            <p:nvPr/>
          </p:nvPicPr>
          <p:blipFill>
            <a:blip r:embed="rId10">
              <a:alphaModFix/>
            </a:blip>
            <a:stretch>
              <a:fillRect/>
            </a:stretch>
          </p:blipFill>
          <p:spPr>
            <a:xfrm>
              <a:off x="8516450" y="1234027"/>
              <a:ext cx="259800" cy="2598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944" name="Google Shape;1944;p26" title="Chart"/>
          <p:cNvPicPr preferRelativeResize="0"/>
          <p:nvPr/>
        </p:nvPicPr>
        <p:blipFill rotWithShape="1">
          <a:blip r:embed="rId12">
            <a:alphaModFix/>
          </a:blip>
          <a:srcRect b="0" l="17945" r="0" t="0"/>
          <a:stretch/>
        </p:blipFill>
        <p:spPr>
          <a:xfrm>
            <a:off x="7521449" y="6050600"/>
            <a:ext cx="1076499" cy="811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5" name="Google Shape;1945;p26" title="Chart"/>
          <p:cNvPicPr preferRelativeResize="0"/>
          <p:nvPr/>
        </p:nvPicPr>
        <p:blipFill rotWithShape="1">
          <a:blip r:embed="rId12">
            <a:alphaModFix/>
          </a:blip>
          <a:srcRect b="0" l="17945" r="0" t="0"/>
          <a:stretch/>
        </p:blipFill>
        <p:spPr>
          <a:xfrm>
            <a:off x="7521449" y="2836275"/>
            <a:ext cx="1076499" cy="811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